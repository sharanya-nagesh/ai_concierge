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slide. Frame the session as a combined view: last week's UI/UX design decisions, and this week's technical documentation progress, in one continuous story. Say plainly this deck merges two weeks so mentors don't need to hold last week's deck in memory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callback if a mentor asks how last week's design connects to this week's work: the interface exists to serve the same five capabilities named in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explainability and user-control thread that this week's backend/ML documentation is built to support — the memory-RAG-agent integration points named in backend docs exist specifically to serve this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recap slide. Tie back to last week's summary: the technical plan and the design principles were presented together, and this week's work is the technical foundation being put in place behind that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executive summary — read it, then let each later slide expand on one part of it. Repository structure finalized and the project is prepared for the move to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backend_docs/ and ml/ out loud as single words — they are literal folders in the repo, not vague labels. This documentation is implementation-oriented, written specifically to guide the code that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this differs from last week's RAG explanation: last week explained RAG conceptually to mentors; this week's ml/ docs specify how it will actually be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final bullet is the single most important line on this slide — pause briefly before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last week's UI/UX chat guidelines — citations, explainability — start getting a real backend to attach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also where last week's memory UX commitment — user can view, edit, or delete memories — needs a corresponding API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phase is what makes last week's citation-display design possible on the backend — the citation UI itself is still a frontend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a checklist, not a wishlist. Anything beyond these lines — multi-agent orchestration, full personalization, production-scale monitoring — is later phases, not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picking one risk to discuss in slightly more depth if the room seems engaged — it signals the risks were seriously thought through, not just listed for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open the floor on — consider ending with a direct question about which of the six feels most urgent to the mentors. Leave real silence after this slide — it's an invitation, not a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the ending — pause after the five-stage flow before opening questions. Read both closing lines: the achievement is a structured foundation spanning design and technical work; the immediate objective is a working prototype, not the complete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457200" y="457200"/>
            <a:ext cx="64008" cy="64008"/>
          </a:xfrm>
          <a:prstGeom prst="rect">
            <a:avLst/>
          </a:prstGeom>
          <a:solidFill>
            <a:srgbClr val="0F9E8E"/>
          </a:solidFill>
          <a:ln/>
        </p:spPr>
      </p:sp>
      <p:sp>
        <p:nvSpPr>
          <p:cNvPr id="3" name="Shape 1"/>
          <p:cNvSpPr/>
          <p:nvPr/>
        </p:nvSpPr>
        <p:spPr>
          <a:xfrm>
            <a:off x="603504" y="457200"/>
            <a:ext cx="64008" cy="64008"/>
          </a:xfrm>
          <a:prstGeom prst="rect">
            <a:avLst/>
          </a:prstGeom>
          <a:solidFill>
            <a:srgbClr val="0F9E8E"/>
          </a:solidFill>
          <a:ln/>
        </p:spPr>
      </p:sp>
      <p:sp>
        <p:nvSpPr>
          <p:cNvPr id="4" name="Shape 2"/>
          <p:cNvSpPr/>
          <p:nvPr/>
        </p:nvSpPr>
        <p:spPr>
          <a:xfrm>
            <a:off x="749808" y="457200"/>
            <a:ext cx="64008" cy="64008"/>
          </a:xfrm>
          <a:prstGeom prst="rect">
            <a:avLst/>
          </a:prstGeom>
          <a:solidFill>
            <a:srgbClr val="0F9E8E"/>
          </a:solidFill>
          <a:ln/>
        </p:spPr>
      </p:sp>
      <p:sp>
        <p:nvSpPr>
          <p:cNvPr id="5" name="Shape 3"/>
          <p:cNvSpPr/>
          <p:nvPr/>
        </p:nvSpPr>
        <p:spPr>
          <a:xfrm>
            <a:off x="896112" y="457200"/>
            <a:ext cx="64008" cy="64008"/>
          </a:xfrm>
          <a:prstGeom prst="rect">
            <a:avLst/>
          </a:prstGeom>
          <a:solidFill>
            <a:srgbClr val="0F9E8E"/>
          </a:solidFill>
          <a:ln/>
        </p:spPr>
      </p:sp>
      <p:sp>
        <p:nvSpPr>
          <p:cNvPr id="6" name="Shape 4"/>
          <p:cNvSpPr/>
          <p:nvPr/>
        </p:nvSpPr>
        <p:spPr>
          <a:xfrm>
            <a:off x="1042416" y="457200"/>
            <a:ext cx="64008" cy="64008"/>
          </a:xfrm>
          <a:prstGeom prst="rect">
            <a:avLst/>
          </a:prstGeom>
          <a:solidFill>
            <a:srgbClr val="0F9E8E"/>
          </a:solidFill>
          <a:ln/>
        </p:spPr>
      </p:sp>
      <p:sp>
        <p:nvSpPr>
          <p:cNvPr id="7" name="Shape 5"/>
          <p:cNvSpPr/>
          <p:nvPr/>
        </p:nvSpPr>
        <p:spPr>
          <a:xfrm>
            <a:off x="1188720" y="457200"/>
            <a:ext cx="64008" cy="64008"/>
          </a:xfrm>
          <a:prstGeom prst="rect">
            <a:avLst/>
          </a:prstGeom>
          <a:solidFill>
            <a:srgbClr val="0F9E8E"/>
          </a:solidFill>
          <a:ln/>
        </p:spPr>
      </p:sp>
      <p:sp>
        <p:nvSpPr>
          <p:cNvPr id="8" name="Shape 6"/>
          <p:cNvSpPr/>
          <p:nvPr/>
        </p:nvSpPr>
        <p:spPr>
          <a:xfrm>
            <a:off x="1335024" y="457200"/>
            <a:ext cx="64008" cy="64008"/>
          </a:xfrm>
          <a:prstGeom prst="rect">
            <a:avLst/>
          </a:prstGeom>
          <a:solidFill>
            <a:srgbClr val="0F9E8E"/>
          </a:solidFill>
          <a:ln/>
        </p:spPr>
      </p:sp>
      <p:sp>
        <p:nvSpPr>
          <p:cNvPr id="9" name="Shape 7"/>
          <p:cNvSpPr/>
          <p:nvPr/>
        </p:nvSpPr>
        <p:spPr>
          <a:xfrm>
            <a:off x="1481328" y="457200"/>
            <a:ext cx="64008" cy="64008"/>
          </a:xfrm>
          <a:prstGeom prst="rect">
            <a:avLst/>
          </a:prstGeom>
          <a:solidFill>
            <a:srgbClr val="0F9E8E"/>
          </a:solidFill>
          <a:ln/>
        </p:spPr>
      </p:sp>
      <p:sp>
        <p:nvSpPr>
          <p:cNvPr id="10" name="Shape 8"/>
          <p:cNvSpPr/>
          <p:nvPr/>
        </p:nvSpPr>
        <p:spPr>
          <a:xfrm>
            <a:off x="457200" y="603504"/>
            <a:ext cx="64008" cy="64008"/>
          </a:xfrm>
          <a:prstGeom prst="rect">
            <a:avLst/>
          </a:prstGeom>
          <a:solidFill>
            <a:srgbClr val="0F9E8E"/>
          </a:solidFill>
          <a:ln/>
        </p:spPr>
      </p:sp>
      <p:sp>
        <p:nvSpPr>
          <p:cNvPr id="11" name="Shape 9"/>
          <p:cNvSpPr/>
          <p:nvPr/>
        </p:nvSpPr>
        <p:spPr>
          <a:xfrm>
            <a:off x="603504" y="603504"/>
            <a:ext cx="64008" cy="64008"/>
          </a:xfrm>
          <a:prstGeom prst="rect">
            <a:avLst/>
          </a:prstGeom>
          <a:solidFill>
            <a:srgbClr val="0F9E8E"/>
          </a:solidFill>
          <a:ln/>
        </p:spPr>
      </p:sp>
      <p:sp>
        <p:nvSpPr>
          <p:cNvPr id="12" name="Shape 10"/>
          <p:cNvSpPr/>
          <p:nvPr/>
        </p:nvSpPr>
        <p:spPr>
          <a:xfrm>
            <a:off x="749808" y="603504"/>
            <a:ext cx="64008" cy="64008"/>
          </a:xfrm>
          <a:prstGeom prst="rect">
            <a:avLst/>
          </a:prstGeom>
          <a:solidFill>
            <a:srgbClr val="0F9E8E"/>
          </a:solidFill>
          <a:ln/>
        </p:spPr>
      </p:sp>
      <p:sp>
        <p:nvSpPr>
          <p:cNvPr id="13" name="Shape 11"/>
          <p:cNvSpPr/>
          <p:nvPr/>
        </p:nvSpPr>
        <p:spPr>
          <a:xfrm>
            <a:off x="896112" y="603504"/>
            <a:ext cx="64008" cy="64008"/>
          </a:xfrm>
          <a:prstGeom prst="rect">
            <a:avLst/>
          </a:prstGeom>
          <a:solidFill>
            <a:srgbClr val="0F9E8E"/>
          </a:solidFill>
          <a:ln/>
        </p:spPr>
      </p:sp>
      <p:sp>
        <p:nvSpPr>
          <p:cNvPr id="14" name="Shape 12"/>
          <p:cNvSpPr/>
          <p:nvPr/>
        </p:nvSpPr>
        <p:spPr>
          <a:xfrm>
            <a:off x="1042416" y="603504"/>
            <a:ext cx="64008" cy="64008"/>
          </a:xfrm>
          <a:prstGeom prst="rect">
            <a:avLst/>
          </a:prstGeom>
          <a:solidFill>
            <a:srgbClr val="0F9E8E"/>
          </a:solidFill>
          <a:ln/>
        </p:spPr>
      </p:sp>
      <p:sp>
        <p:nvSpPr>
          <p:cNvPr id="15" name="Shape 13"/>
          <p:cNvSpPr/>
          <p:nvPr/>
        </p:nvSpPr>
        <p:spPr>
          <a:xfrm>
            <a:off x="1188720" y="603504"/>
            <a:ext cx="64008" cy="64008"/>
          </a:xfrm>
          <a:prstGeom prst="rect">
            <a:avLst/>
          </a:prstGeom>
          <a:solidFill>
            <a:srgbClr val="0F9E8E"/>
          </a:solidFill>
          <a:ln/>
        </p:spPr>
      </p:sp>
      <p:sp>
        <p:nvSpPr>
          <p:cNvPr id="16" name="Shape 14"/>
          <p:cNvSpPr/>
          <p:nvPr/>
        </p:nvSpPr>
        <p:spPr>
          <a:xfrm>
            <a:off x="1335024" y="603504"/>
            <a:ext cx="64008" cy="64008"/>
          </a:xfrm>
          <a:prstGeom prst="rect">
            <a:avLst/>
          </a:prstGeom>
          <a:solidFill>
            <a:srgbClr val="0F9E8E"/>
          </a:solidFill>
          <a:ln/>
        </p:spPr>
      </p:sp>
      <p:sp>
        <p:nvSpPr>
          <p:cNvPr id="17" name="Shape 15"/>
          <p:cNvSpPr/>
          <p:nvPr/>
        </p:nvSpPr>
        <p:spPr>
          <a:xfrm>
            <a:off x="1481328" y="603504"/>
            <a:ext cx="64008" cy="64008"/>
          </a:xfrm>
          <a:prstGeom prst="rect">
            <a:avLst/>
          </a:prstGeom>
          <a:solidFill>
            <a:srgbClr val="0F9E8E"/>
          </a:solidFill>
          <a:ln/>
        </p:spPr>
      </p:sp>
      <p:sp>
        <p:nvSpPr>
          <p:cNvPr id="18" name="Shape 16"/>
          <p:cNvSpPr/>
          <p:nvPr/>
        </p:nvSpPr>
        <p:spPr>
          <a:xfrm>
            <a:off x="457200" y="749808"/>
            <a:ext cx="64008" cy="64008"/>
          </a:xfrm>
          <a:prstGeom prst="rect">
            <a:avLst/>
          </a:prstGeom>
          <a:solidFill>
            <a:srgbClr val="0F9E8E"/>
          </a:solidFill>
          <a:ln/>
        </p:spPr>
      </p:sp>
      <p:sp>
        <p:nvSpPr>
          <p:cNvPr id="19" name="Shape 17"/>
          <p:cNvSpPr/>
          <p:nvPr/>
        </p:nvSpPr>
        <p:spPr>
          <a:xfrm>
            <a:off x="603504" y="749808"/>
            <a:ext cx="64008" cy="64008"/>
          </a:xfrm>
          <a:prstGeom prst="rect">
            <a:avLst/>
          </a:prstGeom>
          <a:solidFill>
            <a:srgbClr val="0F9E8E"/>
          </a:solidFill>
          <a:ln/>
        </p:spPr>
      </p:sp>
      <p:sp>
        <p:nvSpPr>
          <p:cNvPr id="20" name="Shape 18"/>
          <p:cNvSpPr/>
          <p:nvPr/>
        </p:nvSpPr>
        <p:spPr>
          <a:xfrm>
            <a:off x="749808" y="749808"/>
            <a:ext cx="64008" cy="64008"/>
          </a:xfrm>
          <a:prstGeom prst="rect">
            <a:avLst/>
          </a:prstGeom>
          <a:solidFill>
            <a:srgbClr val="0F9E8E"/>
          </a:solidFill>
          <a:ln/>
        </p:spPr>
      </p:sp>
      <p:sp>
        <p:nvSpPr>
          <p:cNvPr id="21" name="Shape 19"/>
          <p:cNvSpPr/>
          <p:nvPr/>
        </p:nvSpPr>
        <p:spPr>
          <a:xfrm>
            <a:off x="896112" y="749808"/>
            <a:ext cx="64008" cy="64008"/>
          </a:xfrm>
          <a:prstGeom prst="rect">
            <a:avLst/>
          </a:prstGeom>
          <a:solidFill>
            <a:srgbClr val="0F9E8E"/>
          </a:solidFill>
          <a:ln/>
        </p:spPr>
      </p:sp>
      <p:sp>
        <p:nvSpPr>
          <p:cNvPr id="22" name="Shape 20"/>
          <p:cNvSpPr/>
          <p:nvPr/>
        </p:nvSpPr>
        <p:spPr>
          <a:xfrm>
            <a:off x="1042416" y="749808"/>
            <a:ext cx="64008" cy="64008"/>
          </a:xfrm>
          <a:prstGeom prst="rect">
            <a:avLst/>
          </a:prstGeom>
          <a:solidFill>
            <a:srgbClr val="0F9E8E"/>
          </a:solidFill>
          <a:ln/>
        </p:spPr>
      </p:sp>
      <p:sp>
        <p:nvSpPr>
          <p:cNvPr id="23" name="Shape 21"/>
          <p:cNvSpPr/>
          <p:nvPr/>
        </p:nvSpPr>
        <p:spPr>
          <a:xfrm>
            <a:off x="1188720" y="749808"/>
            <a:ext cx="64008" cy="64008"/>
          </a:xfrm>
          <a:prstGeom prst="rect">
            <a:avLst/>
          </a:prstGeom>
          <a:solidFill>
            <a:srgbClr val="0F9E8E"/>
          </a:solidFill>
          <a:ln/>
        </p:spPr>
      </p:sp>
      <p:sp>
        <p:nvSpPr>
          <p:cNvPr id="24" name="Shape 22"/>
          <p:cNvSpPr/>
          <p:nvPr/>
        </p:nvSpPr>
        <p:spPr>
          <a:xfrm>
            <a:off x="1335024" y="749808"/>
            <a:ext cx="64008" cy="64008"/>
          </a:xfrm>
          <a:prstGeom prst="rect">
            <a:avLst/>
          </a:prstGeom>
          <a:solidFill>
            <a:srgbClr val="0F9E8E"/>
          </a:solidFill>
          <a:ln/>
        </p:spPr>
      </p:sp>
      <p:sp>
        <p:nvSpPr>
          <p:cNvPr id="25" name="Shape 23"/>
          <p:cNvSpPr/>
          <p:nvPr/>
        </p:nvSpPr>
        <p:spPr>
          <a:xfrm>
            <a:off x="1481328" y="749808"/>
            <a:ext cx="64008" cy="64008"/>
          </a:xfrm>
          <a:prstGeom prst="rect">
            <a:avLst/>
          </a:prstGeom>
          <a:solidFill>
            <a:srgbClr val="0F9E8E"/>
          </a:solidFill>
          <a:ln/>
        </p:spPr>
      </p:sp>
      <p:sp>
        <p:nvSpPr>
          <p:cNvPr id="26" name="Shape 24"/>
          <p:cNvSpPr/>
          <p:nvPr/>
        </p:nvSpPr>
        <p:spPr>
          <a:xfrm>
            <a:off x="457200" y="896112"/>
            <a:ext cx="64008" cy="64008"/>
          </a:xfrm>
          <a:prstGeom prst="rect">
            <a:avLst/>
          </a:prstGeom>
          <a:solidFill>
            <a:srgbClr val="0F9E8E"/>
          </a:solidFill>
          <a:ln/>
        </p:spPr>
      </p:sp>
      <p:sp>
        <p:nvSpPr>
          <p:cNvPr id="27" name="Shape 25"/>
          <p:cNvSpPr/>
          <p:nvPr/>
        </p:nvSpPr>
        <p:spPr>
          <a:xfrm>
            <a:off x="603504" y="896112"/>
            <a:ext cx="64008" cy="64008"/>
          </a:xfrm>
          <a:prstGeom prst="rect">
            <a:avLst/>
          </a:prstGeom>
          <a:solidFill>
            <a:srgbClr val="0F9E8E"/>
          </a:solidFill>
          <a:ln/>
        </p:spPr>
      </p:sp>
      <p:sp>
        <p:nvSpPr>
          <p:cNvPr id="28" name="Shape 26"/>
          <p:cNvSpPr/>
          <p:nvPr/>
        </p:nvSpPr>
        <p:spPr>
          <a:xfrm>
            <a:off x="749808" y="896112"/>
            <a:ext cx="64008" cy="64008"/>
          </a:xfrm>
          <a:prstGeom prst="rect">
            <a:avLst/>
          </a:prstGeom>
          <a:solidFill>
            <a:srgbClr val="0F9E8E"/>
          </a:solidFill>
          <a:ln/>
        </p:spPr>
      </p:sp>
      <p:sp>
        <p:nvSpPr>
          <p:cNvPr id="29" name="Shape 27"/>
          <p:cNvSpPr/>
          <p:nvPr/>
        </p:nvSpPr>
        <p:spPr>
          <a:xfrm>
            <a:off x="896112" y="896112"/>
            <a:ext cx="64008" cy="64008"/>
          </a:xfrm>
          <a:prstGeom prst="rect">
            <a:avLst/>
          </a:prstGeom>
          <a:solidFill>
            <a:srgbClr val="0F9E8E"/>
          </a:solidFill>
          <a:ln/>
        </p:spPr>
      </p:sp>
      <p:sp>
        <p:nvSpPr>
          <p:cNvPr id="30" name="Shape 28"/>
          <p:cNvSpPr/>
          <p:nvPr/>
        </p:nvSpPr>
        <p:spPr>
          <a:xfrm>
            <a:off x="1042416" y="896112"/>
            <a:ext cx="64008" cy="64008"/>
          </a:xfrm>
          <a:prstGeom prst="rect">
            <a:avLst/>
          </a:prstGeom>
          <a:solidFill>
            <a:srgbClr val="0F9E8E"/>
          </a:solidFill>
          <a:ln/>
        </p:spPr>
      </p:sp>
      <p:sp>
        <p:nvSpPr>
          <p:cNvPr id="31" name="Shape 29"/>
          <p:cNvSpPr/>
          <p:nvPr/>
        </p:nvSpPr>
        <p:spPr>
          <a:xfrm>
            <a:off x="1188720" y="896112"/>
            <a:ext cx="64008" cy="64008"/>
          </a:xfrm>
          <a:prstGeom prst="rect">
            <a:avLst/>
          </a:prstGeom>
          <a:solidFill>
            <a:srgbClr val="0F9E8E"/>
          </a:solidFill>
          <a:ln/>
        </p:spPr>
      </p:sp>
      <p:sp>
        <p:nvSpPr>
          <p:cNvPr id="32" name="Shape 30"/>
          <p:cNvSpPr/>
          <p:nvPr/>
        </p:nvSpPr>
        <p:spPr>
          <a:xfrm>
            <a:off x="1335024" y="896112"/>
            <a:ext cx="64008" cy="64008"/>
          </a:xfrm>
          <a:prstGeom prst="rect">
            <a:avLst/>
          </a:prstGeom>
          <a:solidFill>
            <a:srgbClr val="0F9E8E"/>
          </a:solidFill>
          <a:ln/>
        </p:spPr>
      </p:sp>
      <p:sp>
        <p:nvSpPr>
          <p:cNvPr id="33" name="Shape 31"/>
          <p:cNvSpPr/>
          <p:nvPr/>
        </p:nvSpPr>
        <p:spPr>
          <a:xfrm>
            <a:off x="1481328" y="896112"/>
            <a:ext cx="64008" cy="64008"/>
          </a:xfrm>
          <a:prstGeom prst="rect">
            <a:avLst/>
          </a:prstGeom>
          <a:solidFill>
            <a:srgbClr val="0F9E8E"/>
          </a:solidFill>
          <a:ln/>
        </p:spPr>
      </p:sp>
      <p:sp>
        <p:nvSpPr>
          <p:cNvPr id="34" name="Shape 32"/>
          <p:cNvSpPr/>
          <p:nvPr/>
        </p:nvSpPr>
        <p:spPr>
          <a:xfrm>
            <a:off x="457200" y="1042416"/>
            <a:ext cx="64008" cy="64008"/>
          </a:xfrm>
          <a:prstGeom prst="rect">
            <a:avLst/>
          </a:prstGeom>
          <a:solidFill>
            <a:srgbClr val="0F9E8E"/>
          </a:solidFill>
          <a:ln/>
        </p:spPr>
      </p:sp>
      <p:sp>
        <p:nvSpPr>
          <p:cNvPr id="35" name="Shape 33"/>
          <p:cNvSpPr/>
          <p:nvPr/>
        </p:nvSpPr>
        <p:spPr>
          <a:xfrm>
            <a:off x="603504" y="1042416"/>
            <a:ext cx="64008" cy="64008"/>
          </a:xfrm>
          <a:prstGeom prst="rect">
            <a:avLst/>
          </a:prstGeom>
          <a:solidFill>
            <a:srgbClr val="0F9E8E"/>
          </a:solidFill>
          <a:ln/>
        </p:spPr>
      </p:sp>
      <p:sp>
        <p:nvSpPr>
          <p:cNvPr id="36" name="Shape 34"/>
          <p:cNvSpPr/>
          <p:nvPr/>
        </p:nvSpPr>
        <p:spPr>
          <a:xfrm>
            <a:off x="749808" y="1042416"/>
            <a:ext cx="64008" cy="64008"/>
          </a:xfrm>
          <a:prstGeom prst="rect">
            <a:avLst/>
          </a:prstGeom>
          <a:solidFill>
            <a:srgbClr val="0F9E8E"/>
          </a:solidFill>
          <a:ln/>
        </p:spPr>
      </p:sp>
      <p:sp>
        <p:nvSpPr>
          <p:cNvPr id="37" name="Shape 35"/>
          <p:cNvSpPr/>
          <p:nvPr/>
        </p:nvSpPr>
        <p:spPr>
          <a:xfrm>
            <a:off x="896112" y="1042416"/>
            <a:ext cx="64008" cy="64008"/>
          </a:xfrm>
          <a:prstGeom prst="rect">
            <a:avLst/>
          </a:prstGeom>
          <a:solidFill>
            <a:srgbClr val="0F9E8E"/>
          </a:solidFill>
          <a:ln/>
        </p:spPr>
      </p:sp>
      <p:sp>
        <p:nvSpPr>
          <p:cNvPr id="38" name="Shape 36"/>
          <p:cNvSpPr/>
          <p:nvPr/>
        </p:nvSpPr>
        <p:spPr>
          <a:xfrm>
            <a:off x="1042416" y="1042416"/>
            <a:ext cx="64008" cy="64008"/>
          </a:xfrm>
          <a:prstGeom prst="rect">
            <a:avLst/>
          </a:prstGeom>
          <a:solidFill>
            <a:srgbClr val="0F9E8E"/>
          </a:solidFill>
          <a:ln/>
        </p:spPr>
      </p:sp>
      <p:sp>
        <p:nvSpPr>
          <p:cNvPr id="39" name="Shape 37"/>
          <p:cNvSpPr/>
          <p:nvPr/>
        </p:nvSpPr>
        <p:spPr>
          <a:xfrm>
            <a:off x="1188720" y="1042416"/>
            <a:ext cx="64008" cy="64008"/>
          </a:xfrm>
          <a:prstGeom prst="rect">
            <a:avLst/>
          </a:prstGeom>
          <a:solidFill>
            <a:srgbClr val="0F9E8E"/>
          </a:solidFill>
          <a:ln/>
        </p:spPr>
      </p:sp>
      <p:sp>
        <p:nvSpPr>
          <p:cNvPr id="40" name="Shape 38"/>
          <p:cNvSpPr/>
          <p:nvPr/>
        </p:nvSpPr>
        <p:spPr>
          <a:xfrm>
            <a:off x="1335024" y="1042416"/>
            <a:ext cx="64008" cy="64008"/>
          </a:xfrm>
          <a:prstGeom prst="rect">
            <a:avLst/>
          </a:prstGeom>
          <a:solidFill>
            <a:srgbClr val="0F9E8E"/>
          </a:solidFill>
          <a:ln/>
        </p:spPr>
      </p:sp>
      <p:sp>
        <p:nvSpPr>
          <p:cNvPr id="41" name="Shape 39"/>
          <p:cNvSpPr/>
          <p:nvPr/>
        </p:nvSpPr>
        <p:spPr>
          <a:xfrm>
            <a:off x="1481328" y="1042416"/>
            <a:ext cx="64008" cy="64008"/>
          </a:xfrm>
          <a:prstGeom prst="rect">
            <a:avLst/>
          </a:prstGeom>
          <a:solidFill>
            <a:srgbClr val="0F9E8E"/>
          </a:solidFill>
          <a:ln/>
        </p:spPr>
      </p:sp>
      <p:sp>
        <p:nvSpPr>
          <p:cNvPr id="42" name="Text 40"/>
          <p:cNvSpPr/>
          <p:nvPr/>
        </p:nvSpPr>
        <p:spPr>
          <a:xfrm>
            <a:off x="548640" y="1828800"/>
            <a:ext cx="9144000" cy="365760"/>
          </a:xfrm>
          <a:prstGeom prst="rect">
            <a:avLst/>
          </a:prstGeom>
          <a:noFill/>
          <a:ln/>
        </p:spPr>
        <p:txBody>
          <a:bodyPr wrap="square" rtlCol="0" anchor="ctr"/>
          <a:lstStyle/>
          <a:p>
            <a:pPr indent="0" marL="0">
              <a:buNone/>
            </a:pPr>
            <a:r>
              <a:rPr lang="en-US" sz="1400" dirty="0">
                <a:solidFill>
                  <a:srgbClr val="0F9E8E"/>
                </a:solidFill>
                <a:latin typeface="Courier New" pitchFamily="34" charset="0"/>
                <a:ea typeface="Courier New" pitchFamily="34" charset="-122"/>
                <a:cs typeface="Courier New" pitchFamily="34" charset="-120"/>
              </a:rPr>
              <a:t>AI_CONCIERGE / TECH_UI_PROGRESS_ROADMAP.md</a:t>
            </a:r>
            <a:endParaRPr lang="en-US" sz="1400" dirty="0"/>
          </a:p>
        </p:txBody>
      </p:sp>
      <p:sp>
        <p:nvSpPr>
          <p:cNvPr id="43" name="Text 41"/>
          <p:cNvSpPr/>
          <p:nvPr/>
        </p:nvSpPr>
        <p:spPr>
          <a:xfrm>
            <a:off x="548640" y="2286000"/>
            <a:ext cx="10058400" cy="914400"/>
          </a:xfrm>
          <a:prstGeom prst="rect">
            <a:avLst/>
          </a:prstGeom>
          <a:noFill/>
          <a:ln/>
        </p:spPr>
        <p:txBody>
          <a:bodyPr wrap="square" rtlCol="0" anchor="ctr"/>
          <a:lstStyle/>
          <a:p>
            <a:pPr indent="0" marL="0">
              <a:buNone/>
            </a:pPr>
            <a:r>
              <a:rPr lang="en-US" sz="4200" b="1" dirty="0">
                <a:solidFill>
                  <a:srgbClr val="FFFFFF"/>
                </a:solidFill>
                <a:latin typeface="Helvetica" pitchFamily="34" charset="0"/>
                <a:ea typeface="Helvetica" pitchFamily="34" charset="-122"/>
                <a:cs typeface="Helvetica" pitchFamily="34" charset="-120"/>
              </a:rPr>
              <a:t>AI Concierge Platform</a:t>
            </a:r>
            <a:endParaRPr lang="en-US" sz="4200" dirty="0"/>
          </a:p>
        </p:txBody>
      </p:sp>
      <p:sp>
        <p:nvSpPr>
          <p:cNvPr id="44" name="Text 42"/>
          <p:cNvSpPr/>
          <p:nvPr/>
        </p:nvSpPr>
        <p:spPr>
          <a:xfrm>
            <a:off x="548640" y="3200400"/>
            <a:ext cx="10058400" cy="54864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UI/UX Recap, Technical Progress &amp; Implementation Roadmap</a:t>
            </a:r>
            <a:endParaRPr lang="en-US" sz="2000" dirty="0"/>
          </a:p>
        </p:txBody>
      </p:sp>
      <p:sp>
        <p:nvSpPr>
          <p:cNvPr id="45" name="Text 43"/>
          <p:cNvSpPr/>
          <p:nvPr/>
        </p:nvSpPr>
        <p:spPr>
          <a:xfrm>
            <a:off x="548640" y="3794760"/>
            <a:ext cx="10058400" cy="365760"/>
          </a:xfrm>
          <a:prstGeom prst="rect">
            <a:avLst/>
          </a:prstGeom>
          <a:noFill/>
          <a:ln/>
        </p:spPr>
        <p:txBody>
          <a:bodyPr wrap="square" rtlCol="0" anchor="ctr"/>
          <a:lstStyle/>
          <a:p>
            <a:pPr indent="0" marL="0">
              <a:buNone/>
            </a:pPr>
            <a:r>
              <a:rPr lang="en-US" sz="1400" dirty="0">
                <a:solidFill>
                  <a:srgbClr val="C7D0DE"/>
                </a:solidFill>
                <a:latin typeface="Helvetica" pitchFamily="34" charset="0"/>
                <a:ea typeface="Helvetica" pitchFamily="34" charset="-122"/>
                <a:cs typeface="Helvetica" pitchFamily="34" charset="-120"/>
              </a:rPr>
              <a:t>Design  •  Backend  •  ML/AI  •  Development  •  MLOps</a:t>
            </a:r>
            <a:endParaRPr lang="en-US" sz="1400" dirty="0"/>
          </a:p>
        </p:txBody>
      </p:sp>
      <p:sp>
        <p:nvSpPr>
          <p:cNvPr id="46" name="Text 44"/>
          <p:cNvSpPr/>
          <p:nvPr/>
        </p:nvSpPr>
        <p:spPr>
          <a:xfrm>
            <a:off x="548640" y="5120640"/>
            <a:ext cx="7315200" cy="320040"/>
          </a:xfrm>
          <a:prstGeom prst="rect">
            <a:avLst/>
          </a:prstGeom>
          <a:noFill/>
          <a:ln/>
        </p:spPr>
        <p:txBody>
          <a:bodyPr wrap="square" rtlCol="0" anchor="ctr"/>
          <a:lstStyle/>
          <a:p>
            <a:pPr indent="0" marL="0">
              <a:buNone/>
            </a:pPr>
            <a:r>
              <a:rPr lang="en-US" sz="1300" dirty="0">
                <a:solidFill>
                  <a:srgbClr val="C7D0DE"/>
                </a:solidFill>
                <a:latin typeface="Helvetica" pitchFamily="34" charset="0"/>
                <a:ea typeface="Helvetica" pitchFamily="34" charset="-122"/>
                <a:cs typeface="Helvetica" pitchFamily="34" charset="-120"/>
              </a:rPr>
              <a:t>Prepared by: Sharanya, M.Tech, PES University</a:t>
            </a:r>
            <a:endParaRPr lang="en-US" sz="1300" dirty="0"/>
          </a:p>
        </p:txBody>
      </p:sp>
      <p:sp>
        <p:nvSpPr>
          <p:cNvPr id="47" name="Text 45"/>
          <p:cNvSpPr/>
          <p:nvPr/>
        </p:nvSpPr>
        <p:spPr>
          <a:xfrm>
            <a:off x="548640" y="5440680"/>
            <a:ext cx="7315200" cy="320040"/>
          </a:xfrm>
          <a:prstGeom prst="rect">
            <a:avLst/>
          </a:prstGeom>
          <a:noFill/>
          <a:ln/>
        </p:spPr>
        <p:txBody>
          <a:bodyPr wrap="square" rtlCol="0" anchor="ctr"/>
          <a:lstStyle/>
          <a:p>
            <a:pPr indent="0" marL="0">
              <a:buNone/>
            </a:pPr>
            <a:r>
              <a:rPr lang="en-US" sz="1300" dirty="0">
                <a:solidFill>
                  <a:srgbClr val="C7D0DE"/>
                </a:solidFill>
                <a:latin typeface="Helvetica" pitchFamily="34" charset="0"/>
                <a:ea typeface="Helvetica" pitchFamily="34" charset="-122"/>
                <a:cs typeface="Helvetica" pitchFamily="34" charset="-120"/>
              </a:rPr>
              <a:t>Mentor Progress Review — Combined Two-Week Overview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377440"/>
            <a:ext cx="10058400" cy="457200"/>
          </a:xfrm>
          <a:prstGeom prst="rect">
            <a:avLst/>
          </a:prstGeom>
          <a:noFill/>
          <a:ln/>
        </p:spPr>
        <p:txBody>
          <a:bodyPr wrap="square" rtlCol="0" anchor="ctr"/>
          <a:lstStyle/>
          <a:p>
            <a:pPr indent="0" marL="0">
              <a:buNone/>
            </a:pPr>
            <a:r>
              <a:rPr lang="en-US" sz="1600" b="1" dirty="0">
                <a:solidFill>
                  <a:srgbClr val="6D5BD0"/>
                </a:solidFill>
                <a:latin typeface="Courier New" pitchFamily="34" charset="0"/>
                <a:ea typeface="Courier New" pitchFamily="34" charset="-122"/>
                <a:cs typeface="Courier New" pitchFamily="34" charset="-120"/>
              </a:rPr>
              <a:t>PART 1 — LAST WEEK RECAP</a:t>
            </a:r>
            <a:endParaRPr lang="en-US" sz="1600" dirty="0"/>
          </a:p>
        </p:txBody>
      </p:sp>
      <p:sp>
        <p:nvSpPr>
          <p:cNvPr id="3" name="Text 1"/>
          <p:cNvSpPr/>
          <p:nvPr/>
        </p:nvSpPr>
        <p:spPr>
          <a:xfrm>
            <a:off x="548640" y="2834640"/>
            <a:ext cx="10515600" cy="1005840"/>
          </a:xfrm>
          <a:prstGeom prst="rect">
            <a:avLst/>
          </a:prstGeom>
          <a:noFill/>
          <a:ln/>
        </p:spPr>
        <p:txBody>
          <a:bodyPr wrap="square" rtlCol="0" anchor="ctr"/>
          <a:lstStyle/>
          <a:p>
            <a:pPr indent="0" marL="0">
              <a:buNone/>
            </a:pPr>
            <a:r>
              <a:rPr lang="en-US" sz="3400" b="1" dirty="0">
                <a:solidFill>
                  <a:srgbClr val="FFFFFF"/>
                </a:solidFill>
                <a:latin typeface="Helvetica" pitchFamily="34" charset="0"/>
                <a:ea typeface="Helvetica" pitchFamily="34" charset="-122"/>
                <a:cs typeface="Helvetica" pitchFamily="34" charset="-120"/>
              </a:rPr>
              <a:t>Frontend UI/UX Design</a:t>
            </a:r>
            <a:endParaRPr lang="en-US" sz="3400" dirty="0"/>
          </a:p>
        </p:txBody>
      </p:sp>
      <p:sp>
        <p:nvSpPr>
          <p:cNvPr id="4" name="Text 2"/>
          <p:cNvSpPr/>
          <p:nvPr/>
        </p:nvSpPr>
        <p:spPr>
          <a:xfrm>
            <a:off x="548640" y="3840480"/>
            <a:ext cx="9601200" cy="731520"/>
          </a:xfrm>
          <a:prstGeom prst="rect">
            <a:avLst/>
          </a:prstGeom>
          <a:noFill/>
          <a:ln/>
        </p:spPr>
        <p:txBody>
          <a:bodyPr wrap="square" rtlCol="0" anchor="ctr"/>
          <a:lstStyle/>
          <a:p>
            <a:pPr indent="0" marL="0">
              <a:buNone/>
            </a:pPr>
            <a:r>
              <a:rPr lang="en-US" sz="1500" dirty="0">
                <a:solidFill>
                  <a:srgbClr val="C7D0DE"/>
                </a:solidFill>
                <a:latin typeface="Helvetica" pitchFamily="34" charset="0"/>
                <a:ea typeface="Helvetica" pitchFamily="34" charset="-122"/>
                <a:cs typeface="Helvetica" pitchFamily="34" charset="-120"/>
              </a:rPr>
              <a:t>Condensed callback to the design decisions the app's interface is built on — for continuity, not a re-presentation.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02</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What UI/UX Covers, and Who It's For</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ux/</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UI is the look of every screen; UX is how it feels to actually use the app end to end.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Design decisions map directly onto the five user-facing capabilities: Chat, RAG, Memory, Planner, Recommendations.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Five target audience segments identified, with particular emphasis on Indian-language speakers.</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03</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Design Philosophy &amp; Five Principles</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design/</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Single governing rule: keep it simple.</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Five concrete principles operationalize that rule for every screen — consistency, clarity, minimal cognitive load, progressive disclosure, and forgiving interactions.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Every layout and interaction decision downstream traces back to these five principles.</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04</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Application Layout &amp; Navigation</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layout/</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Three-zone layout: sidebar, main workspace, right-hand utility panel — the 'organized desk' analogy.</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A persistent navigation menu is present across every screen, so orientation never resets between features.</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05</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Theme, Branding &amp; Responsive Design</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theme/</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Defined color palette and typography hierarchy, with three theme modes.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Layout adapts across desktop, tablet, and mobile.</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Mobile introduces a floating chat button in place of the full three-zone layout.</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06</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Accessibility</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a11y/</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Six accessibility commitments made at design time, not deferred to later:</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Keyboard navigation, screen-reader support, color contrast, and adjustable text size among them.</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07</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Experience Guidelines — Chat, Documents, Planner</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ux/</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Concrete UX defined for the first three features.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Citations are shown for explainability — answers point back to their source, visible in the right-hand utility panel.</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08</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Experience Guidelines — Recommendations &amp; Memory</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ux/</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User stays in control: recommendations can be dismissed or saved.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Memories can be viewed, edited, or deleted directly by the user — nothing persists silently.</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6D5BD0"/>
                </a:solidFill>
                <a:latin typeface="Helvetica" pitchFamily="34" charset="0"/>
                <a:ea typeface="Helvetica" pitchFamily="34" charset="-122"/>
                <a:cs typeface="Helvetica" pitchFamily="34" charset="-120"/>
              </a:rPr>
              <a:t>09</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Screen Overview — A Quick Tour</a:t>
            </a:r>
            <a:endParaRPr lang="en-US" sz="2600" dirty="0"/>
          </a:p>
        </p:txBody>
      </p:sp>
      <p:sp>
        <p:nvSpPr>
          <p:cNvPr id="4" name="Shape 2"/>
          <p:cNvSpPr/>
          <p:nvPr/>
        </p:nvSpPr>
        <p:spPr>
          <a:xfrm>
            <a:off x="10271455" y="502920"/>
            <a:ext cx="1371600" cy="310896"/>
          </a:xfrm>
          <a:prstGeom prst="rect">
            <a:avLst/>
          </a:prstGeom>
          <a:solidFill>
            <a:srgbClr val="6D5BD0"/>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screens/</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Seven screens, each mapped to a feature already introduced: Chat, Documents, Planner, Recommendations, Memory, Settings, and the persistent navigation shell.</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Future enhancements were also scoped but explicitly marked out of current commitment.</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377440"/>
            <a:ext cx="10058400" cy="457200"/>
          </a:xfrm>
          <a:prstGeom prst="rect">
            <a:avLst/>
          </a:prstGeom>
          <a:noFill/>
          <a:ln/>
        </p:spPr>
        <p:txBody>
          <a:bodyPr wrap="square" rtlCol="0" anchor="ctr"/>
          <a:lstStyle/>
          <a:p>
            <a:pPr indent="0" marL="0">
              <a:buNone/>
            </a:pPr>
            <a:r>
              <a:rPr lang="en-US" sz="1600" b="1" dirty="0">
                <a:solidFill>
                  <a:srgbClr val="0F9E8E"/>
                </a:solidFill>
                <a:latin typeface="Courier New" pitchFamily="34" charset="0"/>
                <a:ea typeface="Courier New" pitchFamily="34" charset="-122"/>
                <a:cs typeface="Courier New" pitchFamily="34" charset="-120"/>
              </a:rPr>
              <a:t>PART 2 — CURRENT PROGRESS</a:t>
            </a:r>
            <a:endParaRPr lang="en-US" sz="1600" dirty="0"/>
          </a:p>
        </p:txBody>
      </p:sp>
      <p:sp>
        <p:nvSpPr>
          <p:cNvPr id="3" name="Text 1"/>
          <p:cNvSpPr/>
          <p:nvPr/>
        </p:nvSpPr>
        <p:spPr>
          <a:xfrm>
            <a:off x="548640" y="2834640"/>
            <a:ext cx="10515600" cy="1005840"/>
          </a:xfrm>
          <a:prstGeom prst="rect">
            <a:avLst/>
          </a:prstGeom>
          <a:noFill/>
          <a:ln/>
        </p:spPr>
        <p:txBody>
          <a:bodyPr wrap="square" rtlCol="0" anchor="ctr"/>
          <a:lstStyle/>
          <a:p>
            <a:pPr indent="0" marL="0">
              <a:buNone/>
            </a:pPr>
            <a:r>
              <a:rPr lang="en-US" sz="3400" b="1" dirty="0">
                <a:solidFill>
                  <a:srgbClr val="FFFFFF"/>
                </a:solidFill>
                <a:latin typeface="Helvetica" pitchFamily="34" charset="0"/>
                <a:ea typeface="Helvetica" pitchFamily="34" charset="-122"/>
                <a:cs typeface="Helvetica" pitchFamily="34" charset="-120"/>
              </a:rPr>
              <a:t>Backend &amp; Documentation, In Detail</a:t>
            </a:r>
            <a:endParaRPr lang="en-US" sz="3400" dirty="0"/>
          </a:p>
        </p:txBody>
      </p:sp>
      <p:sp>
        <p:nvSpPr>
          <p:cNvPr id="4" name="Text 2"/>
          <p:cNvSpPr/>
          <p:nvPr/>
        </p:nvSpPr>
        <p:spPr>
          <a:xfrm>
            <a:off x="548640" y="3840480"/>
            <a:ext cx="9601200" cy="731520"/>
          </a:xfrm>
          <a:prstGeom prst="rect">
            <a:avLst/>
          </a:prstGeom>
          <a:noFill/>
          <a:ln/>
        </p:spPr>
        <p:txBody>
          <a:bodyPr wrap="square" rtlCol="0" anchor="ctr"/>
          <a:lstStyle/>
          <a:p>
            <a:pPr indent="0" marL="0">
              <a:buNone/>
            </a:pPr>
            <a:r>
              <a:rPr lang="en-US" sz="1500" dirty="0">
                <a:solidFill>
                  <a:srgbClr val="C7D0DE"/>
                </a:solidFill>
                <a:latin typeface="Helvetica" pitchFamily="34" charset="0"/>
                <a:ea typeface="Helvetica" pitchFamily="34" charset="-122"/>
                <a:cs typeface="Helvetica" pitchFamily="34" charset="-120"/>
              </a:rPr>
              <a:t>This week's primary content: backend architecture, ML/AI documentation, and the finalized repository structure.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10</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Project at a Glance</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recap/</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Production-grade AI Concierge combining conversational AI, personalization, long-term memory, RAG, tool usage, and agentic workflows.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Core capabilities: authentication, chat, document intelligence, personalization, recommendations, and planning.</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Current milestone: documentation and architecture foundation completed; ready to transition into implementation.</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11</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What Has Been Completed</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recap/</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Product requirements, vision, personas, user stories, and functional/non-functional requirements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System architecture, database, ER model, API, authentication, memory, RAG, security, testing, deployment, and observability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Backend-specific documentation organized under backend_docs/, and ML/AI documentation under ml/.</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Development and MLOps documentation completed; canonical repository structure finalized.</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12</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Backend Progress</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backend_docs/</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Backend architecture and API specifications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Database entities, relationships, and persistence strategy defined.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Authentication, authorization, validation, and security considerations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Service/repository boundaries and integration points established.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Memory, RAG, agent, and external-service integration points identified.</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13</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ML / AI Progress</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ml/</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ML architecture and data-processing considerations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Embeddings, retrieval, reranking, and RAG pipeline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LLM integration and prompt-engineering considerations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Memory, personalization, and recommendation components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Evaluation and AI-safety considerations included.</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14</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Development Foundation</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dev/</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Repository organization separates documentation from implementation.</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Coding standards, Git workflow, environment setup, local development, deployment, and troubleshooting are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Implementation is planned incrementally, so each layer can be tested before the next is introduced.</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15</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MLOps / LLMOps Foundation</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mlops/</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MLOps pipeline and LLMOps lifecycle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CI/CD, model versioning, and prompt versioning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AI monitoring covers latency, errors, tokens, cost, retrieval, memory, tools, and model behavior.</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Evaluation covers correctness, relevance, groundedness, RAG, agents, tools, memory, safety, latency, and cost.</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16</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Technology Stack</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stack/</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8899855"/>
              </a:tblGrid>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Frontend</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React + TypeScript</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Backend / API</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FastAPI</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Database</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PostgreSQL</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Vector DB</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Qdrant</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LLM</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Gemini / OpenAI-compatible APIs</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Deployment</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Docker</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CI/CD</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GitHub Actions</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Monitoring</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Prometheus + Grafana</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0F9E8E"/>
                          </a:solidFill>
                          <a:latin typeface="Courier New" pitchFamily="34" charset="0"/>
                          <a:ea typeface="Courier New" pitchFamily="34" charset="-122"/>
                          <a:cs typeface="Courier New" pitchFamily="34" charset="-120"/>
                        </a:rPr>
                        <a:t>Experiment Tracking</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MLflow</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bl>
          </a:graphicData>
        </a:graphic>
      </p:graphicFrame>
      <p:sp>
        <p:nvSpPr>
          <p:cNvPr id="7" name="Text 4"/>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17</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Target Architecture</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architecture/</a:t>
            </a:r>
            <a:endParaRPr lang="en-US" sz="1050" dirty="0"/>
          </a:p>
        </p:txBody>
      </p:sp>
      <p:sp>
        <p:nvSpPr>
          <p:cNvPr id="6" name="Text 4"/>
          <p:cNvSpPr/>
          <p:nvPr/>
        </p:nvSpPr>
        <p:spPr>
          <a:xfrm>
            <a:off x="548640" y="1234440"/>
            <a:ext cx="11094415" cy="822960"/>
          </a:xfrm>
          <a:prstGeom prst="rect">
            <a:avLst/>
          </a:prstGeom>
          <a:noFill/>
          <a:ln/>
        </p:spPr>
        <p:txBody>
          <a:bodyPr wrap="square" rtlCol="0" anchor="t"/>
          <a:lstStyle/>
          <a:p>
            <a:pPr indent="0" marL="0">
              <a:buNone/>
            </a:pPr>
            <a:r>
              <a:rPr lang="en-US" sz="1400" dirty="0">
                <a:solidFill>
                  <a:srgbClr val="171C26"/>
                </a:solidFill>
                <a:latin typeface="Helvetica" pitchFamily="34" charset="0"/>
                <a:ea typeface="Helvetica" pitchFamily="34" charset="-122"/>
                <a:cs typeface="Helvetica" pitchFamily="34" charset="-120"/>
              </a:rPr>
              <a:t>Frontend requests pass through the FastAPI API Gateway into an Agent Orchestrator, which coordinates Memory, RAG, and Tools before the LLM Service generates the final response. PostgreSQL stores structured application data; Qdrant stores vector representations.</a:t>
            </a:r>
            <a:endParaRPr lang="en-US" sz="1400" dirty="0"/>
          </a:p>
        </p:txBody>
      </p:sp>
      <p:sp>
        <p:nvSpPr>
          <p:cNvPr id="7" name="Shape 5"/>
          <p:cNvSpPr/>
          <p:nvPr/>
        </p:nvSpPr>
        <p:spPr>
          <a:xfrm>
            <a:off x="548640" y="2286000"/>
            <a:ext cx="2331720" cy="640080"/>
          </a:xfrm>
          <a:prstGeom prst="rect">
            <a:avLst/>
          </a:prstGeom>
          <a:solidFill>
            <a:srgbClr val="F5F7FA"/>
          </a:solidFill>
          <a:ln w="12700">
            <a:solidFill>
              <a:srgbClr val="DCE2EA"/>
            </a:solidFill>
            <a:prstDash val="solid"/>
          </a:ln>
        </p:spPr>
      </p:sp>
      <p:sp>
        <p:nvSpPr>
          <p:cNvPr id="8" name="Text 6"/>
          <p:cNvSpPr/>
          <p:nvPr/>
        </p:nvSpPr>
        <p:spPr>
          <a:xfrm>
            <a:off x="548640" y="2286000"/>
            <a:ext cx="2331720" cy="640080"/>
          </a:xfrm>
          <a:prstGeom prst="rect">
            <a:avLst/>
          </a:prstGeom>
          <a:noFill/>
          <a:ln/>
        </p:spPr>
        <p:txBody>
          <a:bodyPr wrap="square" rtlCol="0" anchor="ctr"/>
          <a:lstStyle/>
          <a:p>
            <a:pPr algn="ctr" indent="0" marL="0">
              <a:buNone/>
            </a:pPr>
            <a:r>
              <a:rPr lang="en-US" sz="1350" b="1" dirty="0">
                <a:solidFill>
                  <a:srgbClr val="171C26"/>
                </a:solidFill>
                <a:latin typeface="Helvetica" pitchFamily="34" charset="0"/>
                <a:ea typeface="Helvetica" pitchFamily="34" charset="-122"/>
                <a:cs typeface="Helvetica" pitchFamily="34" charset="-120"/>
              </a:rPr>
              <a:t>Frontend</a:t>
            </a:r>
            <a:endParaRPr lang="en-US" sz="1350" dirty="0"/>
          </a:p>
        </p:txBody>
      </p:sp>
      <p:sp>
        <p:nvSpPr>
          <p:cNvPr id="9" name="Text 7"/>
          <p:cNvSpPr/>
          <p:nvPr/>
        </p:nvSpPr>
        <p:spPr>
          <a:xfrm>
            <a:off x="2880360" y="2286000"/>
            <a:ext cx="320040" cy="640080"/>
          </a:xfrm>
          <a:prstGeom prst="rect">
            <a:avLst/>
          </a:prstGeom>
          <a:noFill/>
          <a:ln/>
        </p:spPr>
        <p:txBody>
          <a:bodyPr wrap="square" rtlCol="0" anchor="ctr"/>
          <a:lstStyle/>
          <a:p>
            <a:pPr algn="ctr" indent="0" marL="0">
              <a:buNone/>
            </a:pPr>
            <a:r>
              <a:rPr lang="en-US" sz="1800" b="1" dirty="0">
                <a:solidFill>
                  <a:srgbClr val="0F9E8E"/>
                </a:solidFill>
                <a:latin typeface="Helvetica" pitchFamily="34" charset="0"/>
                <a:ea typeface="Helvetica" pitchFamily="34" charset="-122"/>
                <a:cs typeface="Helvetica" pitchFamily="34" charset="-120"/>
              </a:rPr>
              <a:t>→</a:t>
            </a:r>
            <a:endParaRPr lang="en-US" sz="1800" dirty="0"/>
          </a:p>
        </p:txBody>
      </p:sp>
      <p:sp>
        <p:nvSpPr>
          <p:cNvPr id="10" name="Shape 8"/>
          <p:cNvSpPr/>
          <p:nvPr/>
        </p:nvSpPr>
        <p:spPr>
          <a:xfrm>
            <a:off x="3200400" y="2286000"/>
            <a:ext cx="2331720" cy="640080"/>
          </a:xfrm>
          <a:prstGeom prst="rect">
            <a:avLst/>
          </a:prstGeom>
          <a:solidFill>
            <a:srgbClr val="F5F7FA"/>
          </a:solidFill>
          <a:ln w="12700">
            <a:solidFill>
              <a:srgbClr val="DCE2EA"/>
            </a:solidFill>
            <a:prstDash val="solid"/>
          </a:ln>
        </p:spPr>
      </p:sp>
      <p:sp>
        <p:nvSpPr>
          <p:cNvPr id="11" name="Text 9"/>
          <p:cNvSpPr/>
          <p:nvPr/>
        </p:nvSpPr>
        <p:spPr>
          <a:xfrm>
            <a:off x="3200400" y="2286000"/>
            <a:ext cx="2331720" cy="640080"/>
          </a:xfrm>
          <a:prstGeom prst="rect">
            <a:avLst/>
          </a:prstGeom>
          <a:noFill/>
          <a:ln/>
        </p:spPr>
        <p:txBody>
          <a:bodyPr wrap="square" rtlCol="0" anchor="ctr"/>
          <a:lstStyle/>
          <a:p>
            <a:pPr algn="ctr" indent="0" marL="0">
              <a:buNone/>
            </a:pPr>
            <a:r>
              <a:rPr lang="en-US" sz="1350" b="1" dirty="0">
                <a:solidFill>
                  <a:srgbClr val="171C26"/>
                </a:solidFill>
                <a:latin typeface="Helvetica" pitchFamily="34" charset="0"/>
                <a:ea typeface="Helvetica" pitchFamily="34" charset="-122"/>
                <a:cs typeface="Helvetica" pitchFamily="34" charset="-120"/>
              </a:rPr>
              <a:t>FastAPI Gateway</a:t>
            </a:r>
            <a:endParaRPr lang="en-US" sz="1350" dirty="0"/>
          </a:p>
        </p:txBody>
      </p:sp>
      <p:sp>
        <p:nvSpPr>
          <p:cNvPr id="12" name="Text 10"/>
          <p:cNvSpPr/>
          <p:nvPr/>
        </p:nvSpPr>
        <p:spPr>
          <a:xfrm>
            <a:off x="5532120" y="2286000"/>
            <a:ext cx="320040" cy="640080"/>
          </a:xfrm>
          <a:prstGeom prst="rect">
            <a:avLst/>
          </a:prstGeom>
          <a:noFill/>
          <a:ln/>
        </p:spPr>
        <p:txBody>
          <a:bodyPr wrap="square" rtlCol="0" anchor="ctr"/>
          <a:lstStyle/>
          <a:p>
            <a:pPr algn="ctr" indent="0" marL="0">
              <a:buNone/>
            </a:pPr>
            <a:r>
              <a:rPr lang="en-US" sz="1800" b="1" dirty="0">
                <a:solidFill>
                  <a:srgbClr val="0F9E8E"/>
                </a:solidFill>
                <a:latin typeface="Helvetica" pitchFamily="34" charset="0"/>
                <a:ea typeface="Helvetica" pitchFamily="34" charset="-122"/>
                <a:cs typeface="Helvetica" pitchFamily="34" charset="-120"/>
              </a:rPr>
              <a:t>→</a:t>
            </a:r>
            <a:endParaRPr lang="en-US" sz="1800" dirty="0"/>
          </a:p>
        </p:txBody>
      </p:sp>
      <p:sp>
        <p:nvSpPr>
          <p:cNvPr id="13" name="Shape 11"/>
          <p:cNvSpPr/>
          <p:nvPr/>
        </p:nvSpPr>
        <p:spPr>
          <a:xfrm>
            <a:off x="5852160" y="2286000"/>
            <a:ext cx="2331720" cy="640080"/>
          </a:xfrm>
          <a:prstGeom prst="rect">
            <a:avLst/>
          </a:prstGeom>
          <a:solidFill>
            <a:srgbClr val="F5F7FA"/>
          </a:solidFill>
          <a:ln w="12700">
            <a:solidFill>
              <a:srgbClr val="DCE2EA"/>
            </a:solidFill>
            <a:prstDash val="solid"/>
          </a:ln>
        </p:spPr>
      </p:sp>
      <p:sp>
        <p:nvSpPr>
          <p:cNvPr id="14" name="Text 12"/>
          <p:cNvSpPr/>
          <p:nvPr/>
        </p:nvSpPr>
        <p:spPr>
          <a:xfrm>
            <a:off x="5852160" y="2286000"/>
            <a:ext cx="2331720" cy="640080"/>
          </a:xfrm>
          <a:prstGeom prst="rect">
            <a:avLst/>
          </a:prstGeom>
          <a:noFill/>
          <a:ln/>
        </p:spPr>
        <p:txBody>
          <a:bodyPr wrap="square" rtlCol="0" anchor="ctr"/>
          <a:lstStyle/>
          <a:p>
            <a:pPr algn="ctr" indent="0" marL="0">
              <a:buNone/>
            </a:pPr>
            <a:r>
              <a:rPr lang="en-US" sz="1350" b="1" dirty="0">
                <a:solidFill>
                  <a:srgbClr val="171C26"/>
                </a:solidFill>
                <a:latin typeface="Helvetica" pitchFamily="34" charset="0"/>
                <a:ea typeface="Helvetica" pitchFamily="34" charset="-122"/>
                <a:cs typeface="Helvetica" pitchFamily="34" charset="-120"/>
              </a:rPr>
              <a:t>Agent Orchestrator</a:t>
            </a:r>
            <a:endParaRPr lang="en-US" sz="1350" dirty="0"/>
          </a:p>
        </p:txBody>
      </p:sp>
      <p:sp>
        <p:nvSpPr>
          <p:cNvPr id="15" name="Text 13"/>
          <p:cNvSpPr/>
          <p:nvPr/>
        </p:nvSpPr>
        <p:spPr>
          <a:xfrm>
            <a:off x="8183880" y="2286000"/>
            <a:ext cx="320040" cy="640080"/>
          </a:xfrm>
          <a:prstGeom prst="rect">
            <a:avLst/>
          </a:prstGeom>
          <a:noFill/>
          <a:ln/>
        </p:spPr>
        <p:txBody>
          <a:bodyPr wrap="square" rtlCol="0" anchor="ctr"/>
          <a:lstStyle/>
          <a:p>
            <a:pPr algn="ctr" indent="0" marL="0">
              <a:buNone/>
            </a:pPr>
            <a:r>
              <a:rPr lang="en-US" sz="1800" b="1" dirty="0">
                <a:solidFill>
                  <a:srgbClr val="0F9E8E"/>
                </a:solidFill>
                <a:latin typeface="Helvetica" pitchFamily="34" charset="0"/>
                <a:ea typeface="Helvetica" pitchFamily="34" charset="-122"/>
                <a:cs typeface="Helvetica" pitchFamily="34" charset="-120"/>
              </a:rPr>
              <a:t>→</a:t>
            </a:r>
            <a:endParaRPr lang="en-US" sz="1800" dirty="0"/>
          </a:p>
        </p:txBody>
      </p:sp>
      <p:sp>
        <p:nvSpPr>
          <p:cNvPr id="16" name="Shape 14"/>
          <p:cNvSpPr/>
          <p:nvPr/>
        </p:nvSpPr>
        <p:spPr>
          <a:xfrm>
            <a:off x="8503920" y="2286000"/>
            <a:ext cx="2331720" cy="640080"/>
          </a:xfrm>
          <a:prstGeom prst="rect">
            <a:avLst/>
          </a:prstGeom>
          <a:solidFill>
            <a:srgbClr val="0F9E8E"/>
          </a:solidFill>
          <a:ln w="12700">
            <a:solidFill>
              <a:srgbClr val="DCE2EA"/>
            </a:solidFill>
            <a:prstDash val="solid"/>
          </a:ln>
        </p:spPr>
      </p:sp>
      <p:sp>
        <p:nvSpPr>
          <p:cNvPr id="17" name="Text 15"/>
          <p:cNvSpPr/>
          <p:nvPr/>
        </p:nvSpPr>
        <p:spPr>
          <a:xfrm>
            <a:off x="8503920" y="2286000"/>
            <a:ext cx="2331720" cy="640080"/>
          </a:xfrm>
          <a:prstGeom prst="rect">
            <a:avLst/>
          </a:prstGeom>
          <a:noFill/>
          <a:ln/>
        </p:spPr>
        <p:txBody>
          <a:bodyPr wrap="square" rtlCol="0" anchor="ctr"/>
          <a:lstStyle/>
          <a:p>
            <a:pPr algn="ctr" indent="0" marL="0">
              <a:buNone/>
            </a:pPr>
            <a:r>
              <a:rPr lang="en-US" sz="1350" b="1" dirty="0">
                <a:solidFill>
                  <a:srgbClr val="FFFFFF"/>
                </a:solidFill>
                <a:latin typeface="Helvetica" pitchFamily="34" charset="0"/>
                <a:ea typeface="Helvetica" pitchFamily="34" charset="-122"/>
                <a:cs typeface="Helvetica" pitchFamily="34" charset="-120"/>
              </a:rPr>
              <a:t>LLM Service</a:t>
            </a:r>
            <a:endParaRPr lang="en-US" sz="1350" dirty="0"/>
          </a:p>
        </p:txBody>
      </p:sp>
      <p:sp>
        <p:nvSpPr>
          <p:cNvPr id="18" name="Text 16"/>
          <p:cNvSpPr/>
          <p:nvPr/>
        </p:nvSpPr>
        <p:spPr>
          <a:xfrm>
            <a:off x="548640" y="3246120"/>
            <a:ext cx="4572000" cy="365760"/>
          </a:xfrm>
          <a:prstGeom prst="rect">
            <a:avLst/>
          </a:prstGeom>
          <a:noFill/>
          <a:ln/>
        </p:spPr>
        <p:txBody>
          <a:bodyPr wrap="square" rtlCol="0" anchor="ctr"/>
          <a:lstStyle/>
          <a:p>
            <a:pPr indent="0" marL="0">
              <a:buNone/>
            </a:pPr>
            <a:r>
              <a:rPr lang="en-US" sz="1350" b="1" dirty="0">
                <a:solidFill>
                  <a:srgbClr val="0B1220"/>
                </a:solidFill>
                <a:latin typeface="Helvetica" pitchFamily="34" charset="0"/>
                <a:ea typeface="Helvetica" pitchFamily="34" charset="-122"/>
                <a:cs typeface="Helvetica" pitchFamily="34" charset="-120"/>
              </a:rPr>
              <a:t>Orchestrator coordinates:</a:t>
            </a:r>
            <a:endParaRPr lang="en-US" sz="1350" dirty="0"/>
          </a:p>
        </p:txBody>
      </p:sp>
      <p:sp>
        <p:nvSpPr>
          <p:cNvPr id="19" name="Shape 17"/>
          <p:cNvSpPr/>
          <p:nvPr/>
        </p:nvSpPr>
        <p:spPr>
          <a:xfrm>
            <a:off x="548640" y="3657600"/>
            <a:ext cx="1554480" cy="502920"/>
          </a:xfrm>
          <a:prstGeom prst="rect">
            <a:avLst/>
          </a:prstGeom>
          <a:solidFill>
            <a:srgbClr val="FBF0DD"/>
          </a:solidFill>
          <a:ln w="12700">
            <a:solidFill>
              <a:srgbClr val="B9760C"/>
            </a:solidFill>
            <a:prstDash val="solid"/>
          </a:ln>
        </p:spPr>
      </p:sp>
      <p:sp>
        <p:nvSpPr>
          <p:cNvPr id="20" name="Text 18"/>
          <p:cNvSpPr/>
          <p:nvPr/>
        </p:nvSpPr>
        <p:spPr>
          <a:xfrm>
            <a:off x="548640" y="3657600"/>
            <a:ext cx="1554480" cy="502920"/>
          </a:xfrm>
          <a:prstGeom prst="rect">
            <a:avLst/>
          </a:prstGeom>
          <a:noFill/>
          <a:ln/>
        </p:spPr>
        <p:txBody>
          <a:bodyPr wrap="square" rtlCol="0" anchor="ctr"/>
          <a:lstStyle/>
          <a:p>
            <a:pPr algn="ctr" indent="0" marL="0">
              <a:buNone/>
            </a:pPr>
            <a:r>
              <a:rPr lang="en-US" sz="1300" b="1" dirty="0">
                <a:solidFill>
                  <a:srgbClr val="B9760C"/>
                </a:solidFill>
                <a:latin typeface="Courier New" pitchFamily="34" charset="0"/>
                <a:ea typeface="Courier New" pitchFamily="34" charset="-122"/>
                <a:cs typeface="Courier New" pitchFamily="34" charset="-120"/>
              </a:rPr>
              <a:t>Memory</a:t>
            </a:r>
            <a:endParaRPr lang="en-US" sz="1300" dirty="0"/>
          </a:p>
        </p:txBody>
      </p:sp>
      <p:sp>
        <p:nvSpPr>
          <p:cNvPr id="21" name="Shape 19"/>
          <p:cNvSpPr/>
          <p:nvPr/>
        </p:nvSpPr>
        <p:spPr>
          <a:xfrm>
            <a:off x="2377440" y="3657600"/>
            <a:ext cx="1554480" cy="502920"/>
          </a:xfrm>
          <a:prstGeom prst="rect">
            <a:avLst/>
          </a:prstGeom>
          <a:solidFill>
            <a:srgbClr val="FBF0DD"/>
          </a:solidFill>
          <a:ln w="12700">
            <a:solidFill>
              <a:srgbClr val="B9760C"/>
            </a:solidFill>
            <a:prstDash val="solid"/>
          </a:ln>
        </p:spPr>
      </p:sp>
      <p:sp>
        <p:nvSpPr>
          <p:cNvPr id="22" name="Text 20"/>
          <p:cNvSpPr/>
          <p:nvPr/>
        </p:nvSpPr>
        <p:spPr>
          <a:xfrm>
            <a:off x="2377440" y="3657600"/>
            <a:ext cx="1554480" cy="502920"/>
          </a:xfrm>
          <a:prstGeom prst="rect">
            <a:avLst/>
          </a:prstGeom>
          <a:noFill/>
          <a:ln/>
        </p:spPr>
        <p:txBody>
          <a:bodyPr wrap="square" rtlCol="0" anchor="ctr"/>
          <a:lstStyle/>
          <a:p>
            <a:pPr algn="ctr" indent="0" marL="0">
              <a:buNone/>
            </a:pPr>
            <a:r>
              <a:rPr lang="en-US" sz="1300" b="1" dirty="0">
                <a:solidFill>
                  <a:srgbClr val="B9760C"/>
                </a:solidFill>
                <a:latin typeface="Courier New" pitchFamily="34" charset="0"/>
                <a:ea typeface="Courier New" pitchFamily="34" charset="-122"/>
                <a:cs typeface="Courier New" pitchFamily="34" charset="-120"/>
              </a:rPr>
              <a:t>RAG</a:t>
            </a:r>
            <a:endParaRPr lang="en-US" sz="1300" dirty="0"/>
          </a:p>
        </p:txBody>
      </p:sp>
      <p:sp>
        <p:nvSpPr>
          <p:cNvPr id="23" name="Shape 21"/>
          <p:cNvSpPr/>
          <p:nvPr/>
        </p:nvSpPr>
        <p:spPr>
          <a:xfrm>
            <a:off x="4206240" y="3657600"/>
            <a:ext cx="1554480" cy="502920"/>
          </a:xfrm>
          <a:prstGeom prst="rect">
            <a:avLst/>
          </a:prstGeom>
          <a:solidFill>
            <a:srgbClr val="FBF0DD"/>
          </a:solidFill>
          <a:ln w="12700">
            <a:solidFill>
              <a:srgbClr val="B9760C"/>
            </a:solidFill>
            <a:prstDash val="solid"/>
          </a:ln>
        </p:spPr>
      </p:sp>
      <p:sp>
        <p:nvSpPr>
          <p:cNvPr id="24" name="Text 22"/>
          <p:cNvSpPr/>
          <p:nvPr/>
        </p:nvSpPr>
        <p:spPr>
          <a:xfrm>
            <a:off x="4206240" y="3657600"/>
            <a:ext cx="1554480" cy="502920"/>
          </a:xfrm>
          <a:prstGeom prst="rect">
            <a:avLst/>
          </a:prstGeom>
          <a:noFill/>
          <a:ln/>
        </p:spPr>
        <p:txBody>
          <a:bodyPr wrap="square" rtlCol="0" anchor="ctr"/>
          <a:lstStyle/>
          <a:p>
            <a:pPr algn="ctr" indent="0" marL="0">
              <a:buNone/>
            </a:pPr>
            <a:r>
              <a:rPr lang="en-US" sz="1300" b="1" dirty="0">
                <a:solidFill>
                  <a:srgbClr val="B9760C"/>
                </a:solidFill>
                <a:latin typeface="Courier New" pitchFamily="34" charset="0"/>
                <a:ea typeface="Courier New" pitchFamily="34" charset="-122"/>
                <a:cs typeface="Courier New" pitchFamily="34" charset="-120"/>
              </a:rPr>
              <a:t>Tools</a:t>
            </a:r>
            <a:endParaRPr lang="en-US" sz="1300" dirty="0"/>
          </a:p>
        </p:txBody>
      </p:sp>
      <p:sp>
        <p:nvSpPr>
          <p:cNvPr id="25" name="Text 23"/>
          <p:cNvSpPr/>
          <p:nvPr/>
        </p:nvSpPr>
        <p:spPr>
          <a:xfrm>
            <a:off x="548640" y="4434840"/>
            <a:ext cx="11094415" cy="548640"/>
          </a:xfrm>
          <a:prstGeom prst="rect">
            <a:avLst/>
          </a:prstGeom>
          <a:noFill/>
          <a:ln/>
        </p:spPr>
        <p:txBody>
          <a:bodyPr wrap="square" rtlCol="0" anchor="ctr"/>
          <a:lstStyle/>
          <a:p>
            <a:pPr indent="0" marL="0">
              <a:buNone/>
            </a:pPr>
            <a:r>
              <a:rPr lang="en-US" sz="1350" dirty="0">
                <a:solidFill>
                  <a:srgbClr val="171C26"/>
                </a:solidFill>
                <a:latin typeface="Helvetica" pitchFamily="34" charset="0"/>
                <a:ea typeface="Helvetica" pitchFamily="34" charset="-122"/>
                <a:cs typeface="Helvetica" pitchFamily="34" charset="-120"/>
              </a:rPr>
              <a:t>Planned agents: </a:t>
            </a:r>
            <a:pPr indent="0" marL="0">
              <a:buNone/>
            </a:pPr>
            <a:r>
              <a:rPr lang="en-US" sz="1350" b="1" dirty="0">
                <a:solidFill>
                  <a:srgbClr val="0F9E8E"/>
                </a:solidFill>
                <a:latin typeface="Courier New" pitchFamily="34" charset="0"/>
                <a:ea typeface="Courier New" pitchFamily="34" charset="-122"/>
                <a:cs typeface="Courier New" pitchFamily="34" charset="-120"/>
              </a:rPr>
              <a:t>Intent, Memory, Retrieval, Tool, Response</a:t>
            </a:r>
            <a:pPr indent="0" marL="0">
              <a:buNone/>
            </a:pPr>
            <a:r>
              <a:rPr lang="en-US" sz="1350" dirty="0">
                <a:solidFill>
                  <a:srgbClr val="171C26"/>
                </a:solidFill>
                <a:latin typeface="Helvetica" pitchFamily="34" charset="0"/>
                <a:ea typeface="Helvetica" pitchFamily="34" charset="-122"/>
                <a:cs typeface="Helvetica" pitchFamily="34" charset="-120"/>
              </a:rPr>
              <a:t>. Evaluation Agent is future scope.</a:t>
            </a:r>
            <a:endParaRPr lang="en-US" sz="1350" dirty="0"/>
          </a:p>
        </p:txBody>
      </p:sp>
      <p:sp>
        <p:nvSpPr>
          <p:cNvPr id="26" name="Text 24"/>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7" name="Text 2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18</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Current Status</a:t>
            </a:r>
            <a:endParaRPr lang="en-US" sz="2600" dirty="0"/>
          </a:p>
        </p:txBody>
      </p:sp>
      <p:sp>
        <p:nvSpPr>
          <p:cNvPr id="4" name="Shape 2"/>
          <p:cNvSpPr/>
          <p:nvPr/>
        </p:nvSpPr>
        <p:spPr>
          <a:xfrm>
            <a:off x="10271455" y="502920"/>
            <a:ext cx="1371600" cy="310896"/>
          </a:xfrm>
          <a:prstGeom prst="rect">
            <a:avLst/>
          </a:prstGeom>
          <a:solidFill>
            <a:srgbClr val="0F9E8E"/>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status/</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Major architectural decisions and component boundaries are documented.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Development and MLOps workflows are defined.</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Repository structure supports incremental implementation.</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Project has moved from documentation readiness to implementation readiness.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Immediate objective: first working end-to-end application flow.</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377440"/>
            <a:ext cx="10058400" cy="457200"/>
          </a:xfrm>
          <a:prstGeom prst="rect">
            <a:avLst/>
          </a:prstGeom>
          <a:noFill/>
          <a:ln/>
        </p:spPr>
        <p:txBody>
          <a:bodyPr wrap="square" rtlCol="0" anchor="ctr"/>
          <a:lstStyle/>
          <a:p>
            <a:pPr indent="0" marL="0">
              <a:buNone/>
            </a:pPr>
            <a:r>
              <a:rPr lang="en-US" sz="1600" b="1" dirty="0">
                <a:solidFill>
                  <a:srgbClr val="B9760C"/>
                </a:solidFill>
                <a:latin typeface="Courier New" pitchFamily="34" charset="0"/>
                <a:ea typeface="Courier New" pitchFamily="34" charset="-122"/>
                <a:cs typeface="Courier New" pitchFamily="34" charset="-120"/>
              </a:rPr>
              <a:t>PART 3 — FUTURE ROADMAP</a:t>
            </a:r>
            <a:endParaRPr lang="en-US" sz="1600" dirty="0"/>
          </a:p>
        </p:txBody>
      </p:sp>
      <p:sp>
        <p:nvSpPr>
          <p:cNvPr id="3" name="Text 1"/>
          <p:cNvSpPr/>
          <p:nvPr/>
        </p:nvSpPr>
        <p:spPr>
          <a:xfrm>
            <a:off x="548640" y="2834640"/>
            <a:ext cx="10515600" cy="1005840"/>
          </a:xfrm>
          <a:prstGeom prst="rect">
            <a:avLst/>
          </a:prstGeom>
          <a:noFill/>
          <a:ln/>
        </p:spPr>
        <p:txBody>
          <a:bodyPr wrap="square" rtlCol="0" anchor="ctr"/>
          <a:lstStyle/>
          <a:p>
            <a:pPr indent="0" marL="0">
              <a:buNone/>
            </a:pPr>
            <a:r>
              <a:rPr lang="en-US" sz="3400" b="1" dirty="0">
                <a:solidFill>
                  <a:srgbClr val="FFFFFF"/>
                </a:solidFill>
                <a:latin typeface="Helvetica" pitchFamily="34" charset="0"/>
                <a:ea typeface="Helvetica" pitchFamily="34" charset="-122"/>
                <a:cs typeface="Helvetica" pitchFamily="34" charset="-120"/>
              </a:rPr>
              <a:t>Implementation, Phase by Phase</a:t>
            </a:r>
            <a:endParaRPr lang="en-US" sz="3400" dirty="0"/>
          </a:p>
        </p:txBody>
      </p:sp>
      <p:sp>
        <p:nvSpPr>
          <p:cNvPr id="4" name="Text 2"/>
          <p:cNvSpPr/>
          <p:nvPr/>
        </p:nvSpPr>
        <p:spPr>
          <a:xfrm>
            <a:off x="548640" y="3840480"/>
            <a:ext cx="9601200" cy="731520"/>
          </a:xfrm>
          <a:prstGeom prst="rect">
            <a:avLst/>
          </a:prstGeom>
          <a:noFill/>
          <a:ln/>
        </p:spPr>
        <p:txBody>
          <a:bodyPr wrap="square" rtlCol="0" anchor="ctr"/>
          <a:lstStyle/>
          <a:p>
            <a:pPr indent="0" marL="0">
              <a:buNone/>
            </a:pPr>
            <a:r>
              <a:rPr lang="en-US" sz="1500" dirty="0">
                <a:solidFill>
                  <a:srgbClr val="C7D0DE"/>
                </a:solidFill>
                <a:latin typeface="Helvetica" pitchFamily="34" charset="0"/>
                <a:ea typeface="Helvetica" pitchFamily="34" charset="-122"/>
                <a:cs typeface="Helvetica" pitchFamily="34" charset="-120"/>
              </a:rPr>
              <a:t>Nine sequential implementation phases, the six-month plan, MVP scope, risks, and the immediate next milestone.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19</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1: Foundation</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Initialize repository and source-code structure.</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Set up backend/frontend environments and configuration.</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Create .env.example and initialize Git baseline.</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Create backend health endpoint.</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Initialize frontend.</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Connect frontend → backend through the first API call.</a:t>
            </a:r>
            <a:endParaRPr lang="en-US" sz="1450" dirty="0"/>
          </a:p>
        </p:txBody>
      </p:sp>
      <p:sp>
        <p:nvSpPr>
          <p:cNvPr id="25" name="Shape 23"/>
          <p:cNvSpPr/>
          <p:nvPr/>
        </p:nvSpPr>
        <p:spPr>
          <a:xfrm>
            <a:off x="548640" y="3895344"/>
            <a:ext cx="11094415" cy="548640"/>
          </a:xfrm>
          <a:prstGeom prst="rect">
            <a:avLst/>
          </a:prstGeom>
          <a:solidFill>
            <a:srgbClr val="FBF0DD"/>
          </a:solidFill>
          <a:ln w="12700">
            <a:solidFill>
              <a:srgbClr val="B9760C"/>
            </a:solidFill>
            <a:prstDash val="solid"/>
          </a:ln>
        </p:spPr>
      </p:sp>
      <p:sp>
        <p:nvSpPr>
          <p:cNvPr id="26" name="Text 24"/>
          <p:cNvSpPr/>
          <p:nvPr/>
        </p:nvSpPr>
        <p:spPr>
          <a:xfrm>
            <a:off x="731520" y="3895344"/>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a running skeleton with frontend and backend able to talk to each other.</a:t>
            </a:r>
            <a:endParaRPr lang="en-US" sz="1300" dirty="0"/>
          </a:p>
        </p:txBody>
      </p:sp>
      <p:sp>
        <p:nvSpPr>
          <p:cNvPr id="27" name="Text 2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8" name="Text 2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20</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2: Database</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Configure PostgreSQL.</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models from the finalized Database Design and ER Diagram.</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Set up migrations.</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repository/data-access and service layers.</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Add CRUD operations and database tests.</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Verify end-to-end persistence through backend APIs.</a:t>
            </a:r>
            <a:endParaRPr lang="en-US" sz="1450" dirty="0"/>
          </a:p>
        </p:txBody>
      </p:sp>
      <p:sp>
        <p:nvSpPr>
          <p:cNvPr id="25" name="Shape 23"/>
          <p:cNvSpPr/>
          <p:nvPr/>
        </p:nvSpPr>
        <p:spPr>
          <a:xfrm>
            <a:off x="548640" y="3895344"/>
            <a:ext cx="11094415" cy="548640"/>
          </a:xfrm>
          <a:prstGeom prst="rect">
            <a:avLst/>
          </a:prstGeom>
          <a:solidFill>
            <a:srgbClr val="FBF0DD"/>
          </a:solidFill>
          <a:ln w="12700">
            <a:solidFill>
              <a:srgbClr val="B9760C"/>
            </a:solidFill>
            <a:prstDash val="solid"/>
          </a:ln>
        </p:spPr>
      </p:sp>
      <p:sp>
        <p:nvSpPr>
          <p:cNvPr id="26" name="Text 24"/>
          <p:cNvSpPr/>
          <p:nvPr/>
        </p:nvSpPr>
        <p:spPr>
          <a:xfrm>
            <a:off x="731520" y="3895344"/>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data reliably flows from API calls into PostgreSQL and back.</a:t>
            </a:r>
            <a:endParaRPr lang="en-US" sz="1300" dirty="0"/>
          </a:p>
        </p:txBody>
      </p:sp>
      <p:sp>
        <p:nvSpPr>
          <p:cNvPr id="27" name="Text 2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8" name="Text 2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21</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3: Authentication &amp; APIs</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Registration and login.</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Password hashing and JWT authentication.</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Authorization and validation.</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User/profile APIs.</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Conversation and message APIs.</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Error handling, API tests, and secure secrets management.</a:t>
            </a:r>
            <a:endParaRPr lang="en-US" sz="1450" dirty="0"/>
          </a:p>
        </p:txBody>
      </p:sp>
      <p:sp>
        <p:nvSpPr>
          <p:cNvPr id="25" name="Shape 23"/>
          <p:cNvSpPr/>
          <p:nvPr/>
        </p:nvSpPr>
        <p:spPr>
          <a:xfrm>
            <a:off x="548640" y="3895344"/>
            <a:ext cx="11094415" cy="548640"/>
          </a:xfrm>
          <a:prstGeom prst="rect">
            <a:avLst/>
          </a:prstGeom>
          <a:solidFill>
            <a:srgbClr val="FBF0DD"/>
          </a:solidFill>
          <a:ln w="12700">
            <a:solidFill>
              <a:srgbClr val="B9760C"/>
            </a:solidFill>
            <a:prstDash val="solid"/>
          </a:ln>
        </p:spPr>
      </p:sp>
      <p:sp>
        <p:nvSpPr>
          <p:cNvPr id="26" name="Text 24"/>
          <p:cNvSpPr/>
          <p:nvPr/>
        </p:nvSpPr>
        <p:spPr>
          <a:xfrm>
            <a:off x="731520" y="3895344"/>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a secure, authenticated foundation for every feature built afterward.</a:t>
            </a:r>
            <a:endParaRPr lang="en-US" sz="1300" dirty="0"/>
          </a:p>
        </p:txBody>
      </p:sp>
      <p:sp>
        <p:nvSpPr>
          <p:cNvPr id="27" name="Text 2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8" name="Text 2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22</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4: First Working Chat</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Build the basic chat UI.</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Connect chat UI to backend.</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Persist conversations.</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Integrate the selected LLM through a controlled service interface.</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Identify prompt versions.</a:t>
            </a:r>
            <a:endParaRPr lang="en-US" sz="1450" dirty="0"/>
          </a:p>
        </p:txBody>
      </p:sp>
      <p:sp>
        <p:nvSpPr>
          <p:cNvPr id="22" name="Shape 20"/>
          <p:cNvSpPr/>
          <p:nvPr/>
        </p:nvSpPr>
        <p:spPr>
          <a:xfrm>
            <a:off x="548640" y="3474720"/>
            <a:ext cx="11094415" cy="548640"/>
          </a:xfrm>
          <a:prstGeom prst="rect">
            <a:avLst/>
          </a:prstGeom>
          <a:solidFill>
            <a:srgbClr val="FBF0DD"/>
          </a:solidFill>
          <a:ln w="12700">
            <a:solidFill>
              <a:srgbClr val="B9760C"/>
            </a:solidFill>
            <a:prstDash val="solid"/>
          </a:ln>
        </p:spPr>
      </p:sp>
      <p:sp>
        <p:nvSpPr>
          <p:cNvPr id="23" name="Text 21"/>
          <p:cNvSpPr/>
          <p:nvPr/>
        </p:nvSpPr>
        <p:spPr>
          <a:xfrm>
            <a:off x="731520" y="3474720"/>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user message → backend → LLM → response → stored conversation.</a:t>
            </a:r>
            <a:endParaRPr lang="en-US" sz="1300" dirty="0"/>
          </a:p>
        </p:txBody>
      </p:sp>
      <p:sp>
        <p:nvSpPr>
          <p:cNvPr id="24" name="Text 22"/>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5" name="Text 23"/>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23</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5: Memory</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short-term context.</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persistent memory.</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Define memory creation/update rules.</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retrieval and relevance filtering.</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Connect relevant memory to prompt construction.</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Evaluate whether memory improves personalization.</a:t>
            </a:r>
            <a:endParaRPr lang="en-US" sz="1450" dirty="0"/>
          </a:p>
        </p:txBody>
      </p:sp>
      <p:sp>
        <p:nvSpPr>
          <p:cNvPr id="25" name="Shape 23"/>
          <p:cNvSpPr/>
          <p:nvPr/>
        </p:nvSpPr>
        <p:spPr>
          <a:xfrm>
            <a:off x="548640" y="3895344"/>
            <a:ext cx="11094415" cy="548640"/>
          </a:xfrm>
          <a:prstGeom prst="rect">
            <a:avLst/>
          </a:prstGeom>
          <a:solidFill>
            <a:srgbClr val="FBF0DD"/>
          </a:solidFill>
          <a:ln w="12700">
            <a:solidFill>
              <a:srgbClr val="B9760C"/>
            </a:solidFill>
            <a:prstDash val="solid"/>
          </a:ln>
        </p:spPr>
      </p:sp>
      <p:sp>
        <p:nvSpPr>
          <p:cNvPr id="26" name="Text 24"/>
          <p:cNvSpPr/>
          <p:nvPr/>
        </p:nvSpPr>
        <p:spPr>
          <a:xfrm>
            <a:off x="731520" y="3895344"/>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the assistant remembers and uses relevant context across sessions.</a:t>
            </a:r>
            <a:endParaRPr lang="en-US" sz="1300" dirty="0"/>
          </a:p>
        </p:txBody>
      </p:sp>
      <p:sp>
        <p:nvSpPr>
          <p:cNvPr id="27" name="Text 2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8" name="Text 2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24</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6: RAG</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Document upload and parsing.</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Chunk documents.</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Generate embeddings.</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Store vectors in Qdrant.</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retrieval and optional reranking.</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Inject context into the LLM.</a:t>
            </a:r>
            <a:endParaRPr lang="en-US" sz="1450" dirty="0"/>
          </a:p>
        </p:txBody>
      </p:sp>
      <p:sp>
        <p:nvSpPr>
          <p:cNvPr id="25" name="Shape 23"/>
          <p:cNvSpPr/>
          <p:nvPr/>
        </p:nvSpPr>
        <p:spPr>
          <a:xfrm>
            <a:off x="548640" y="3803904"/>
            <a:ext cx="310896" cy="310896"/>
          </a:xfrm>
          <a:prstGeom prst="ellipse">
            <a:avLst/>
          </a:prstGeom>
          <a:solidFill>
            <a:srgbClr val="B9760C"/>
          </a:solidFill>
          <a:ln/>
        </p:spPr>
      </p:sp>
      <p:sp>
        <p:nvSpPr>
          <p:cNvPr id="26" name="Text 24"/>
          <p:cNvSpPr/>
          <p:nvPr/>
        </p:nvSpPr>
        <p:spPr>
          <a:xfrm>
            <a:off x="548640" y="380390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7</a:t>
            </a:r>
            <a:endParaRPr lang="en-US" sz="1200" dirty="0"/>
          </a:p>
        </p:txBody>
      </p:sp>
      <p:sp>
        <p:nvSpPr>
          <p:cNvPr id="27" name="Text 25"/>
          <p:cNvSpPr/>
          <p:nvPr/>
        </p:nvSpPr>
        <p:spPr>
          <a:xfrm>
            <a:off x="1005840" y="376732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Return grounded answers and evaluate retrieval/groundedness.</a:t>
            </a:r>
            <a:endParaRPr lang="en-US" sz="1450" dirty="0"/>
          </a:p>
        </p:txBody>
      </p:sp>
      <p:sp>
        <p:nvSpPr>
          <p:cNvPr id="28" name="Shape 26"/>
          <p:cNvSpPr/>
          <p:nvPr/>
        </p:nvSpPr>
        <p:spPr>
          <a:xfrm>
            <a:off x="548640" y="4315968"/>
            <a:ext cx="11094415" cy="548640"/>
          </a:xfrm>
          <a:prstGeom prst="rect">
            <a:avLst/>
          </a:prstGeom>
          <a:solidFill>
            <a:srgbClr val="FBF0DD"/>
          </a:solidFill>
          <a:ln w="12700">
            <a:solidFill>
              <a:srgbClr val="B9760C"/>
            </a:solidFill>
            <a:prstDash val="solid"/>
          </a:ln>
        </p:spPr>
      </p:sp>
      <p:sp>
        <p:nvSpPr>
          <p:cNvPr id="29" name="Text 27"/>
          <p:cNvSpPr/>
          <p:nvPr/>
        </p:nvSpPr>
        <p:spPr>
          <a:xfrm>
            <a:off x="731520" y="4315968"/>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answers are grounded in uploaded documents, not just model memory.</a:t>
            </a:r>
            <a:endParaRPr lang="en-US" sz="1300" dirty="0"/>
          </a:p>
        </p:txBody>
      </p:sp>
      <p:sp>
        <p:nvSpPr>
          <p:cNvPr id="30" name="Text 28"/>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31" name="Text 29"/>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25</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7: Agents &amp; Tools</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Define controlled tool interfaces.</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Validate and authorize tool calls.</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Introduce orchestration for genuinely multi-step tasks.</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Add iteration limits and timeouts.</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Handle tool/agent errors.</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Evaluate tool selection, arguments, and task completion.</a:t>
            </a:r>
            <a:endParaRPr lang="en-US" sz="1450" dirty="0"/>
          </a:p>
        </p:txBody>
      </p:sp>
      <p:sp>
        <p:nvSpPr>
          <p:cNvPr id="25" name="Shape 23"/>
          <p:cNvSpPr/>
          <p:nvPr/>
        </p:nvSpPr>
        <p:spPr>
          <a:xfrm>
            <a:off x="548640" y="3895344"/>
            <a:ext cx="11094415" cy="548640"/>
          </a:xfrm>
          <a:prstGeom prst="rect">
            <a:avLst/>
          </a:prstGeom>
          <a:solidFill>
            <a:srgbClr val="FBF0DD"/>
          </a:solidFill>
          <a:ln w="12700">
            <a:solidFill>
              <a:srgbClr val="B9760C"/>
            </a:solidFill>
            <a:prstDash val="solid"/>
          </a:ln>
        </p:spPr>
      </p:sp>
      <p:sp>
        <p:nvSpPr>
          <p:cNvPr id="26" name="Text 24"/>
          <p:cNvSpPr/>
          <p:nvPr/>
        </p:nvSpPr>
        <p:spPr>
          <a:xfrm>
            <a:off x="731520" y="3895344"/>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multi-step tasks execute reliably, safely, and within bounds.</a:t>
            </a:r>
            <a:endParaRPr lang="en-US" sz="1300" dirty="0"/>
          </a:p>
        </p:txBody>
      </p:sp>
      <p:sp>
        <p:nvSpPr>
          <p:cNvPr id="27" name="Text 2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8" name="Text 2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26</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8: Testing &amp; Evaluation</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Unit, integration, API, and end-to-end testing.</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RAG retrieval and groundedness evaluation.</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Memory relevance evaluation.</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Agent/tool evaluation.</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Regression dataset and baseline comparisons.</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Quality gates before major releases.</a:t>
            </a:r>
            <a:endParaRPr lang="en-US" sz="1450" dirty="0"/>
          </a:p>
        </p:txBody>
      </p:sp>
      <p:sp>
        <p:nvSpPr>
          <p:cNvPr id="25" name="Shape 23"/>
          <p:cNvSpPr/>
          <p:nvPr/>
        </p:nvSpPr>
        <p:spPr>
          <a:xfrm>
            <a:off x="548640" y="3895344"/>
            <a:ext cx="11094415" cy="548640"/>
          </a:xfrm>
          <a:prstGeom prst="rect">
            <a:avLst/>
          </a:prstGeom>
          <a:solidFill>
            <a:srgbClr val="FBF0DD"/>
          </a:solidFill>
          <a:ln w="12700">
            <a:solidFill>
              <a:srgbClr val="B9760C"/>
            </a:solidFill>
            <a:prstDash val="solid"/>
          </a:ln>
        </p:spPr>
      </p:sp>
      <p:sp>
        <p:nvSpPr>
          <p:cNvPr id="26" name="Text 24"/>
          <p:cNvSpPr/>
          <p:nvPr/>
        </p:nvSpPr>
        <p:spPr>
          <a:xfrm>
            <a:off x="731520" y="3895344"/>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quality is measured continuously, not assumed.</a:t>
            </a:r>
            <a:endParaRPr lang="en-US" sz="1300" dirty="0"/>
          </a:p>
        </p:txBody>
      </p:sp>
      <p:sp>
        <p:nvSpPr>
          <p:cNvPr id="27" name="Text 2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8" name="Text 2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27</a:t>
            </a:r>
            <a:endParaRPr lang="en-US" sz="2000" dirty="0"/>
          </a:p>
        </p:txBody>
      </p:sp>
      <p:sp>
        <p:nvSpPr>
          <p:cNvPr id="3" name="Shape 1"/>
          <p:cNvSpPr/>
          <p:nvPr/>
        </p:nvSpPr>
        <p:spPr>
          <a:xfrm>
            <a:off x="1143000" y="411480"/>
            <a:ext cx="6400800" cy="502920"/>
          </a:xfrm>
          <a:prstGeom prst="rect">
            <a:avLst/>
          </a:prstGeom>
          <a:solidFill>
            <a:srgbClr val="1B2A4A"/>
          </a:solidFill>
          <a:ln/>
        </p:spPr>
      </p:sp>
      <p:sp>
        <p:nvSpPr>
          <p:cNvPr id="4" name="Text 2"/>
          <p:cNvSpPr/>
          <p:nvPr/>
        </p:nvSpPr>
        <p:spPr>
          <a:xfrm>
            <a:off x="1325880" y="411480"/>
            <a:ext cx="6035040" cy="50292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Phase 9: MLOps &amp; Production</a:t>
            </a:r>
            <a:endParaRPr lang="en-US" sz="1800" dirty="0"/>
          </a:p>
        </p:txBody>
      </p:sp>
      <p:sp>
        <p:nvSpPr>
          <p:cNvPr id="5" name="Shape 3"/>
          <p:cNvSpPr/>
          <p:nvPr/>
        </p:nvSpPr>
        <p:spPr>
          <a:xfrm>
            <a:off x="10271455" y="502920"/>
            <a:ext cx="1371600" cy="310896"/>
          </a:xfrm>
          <a:prstGeom prst="rect">
            <a:avLst/>
          </a:prstGeom>
          <a:solidFill>
            <a:srgbClr val="B9760C"/>
          </a:solidFill>
          <a:ln/>
        </p:spPr>
      </p:sp>
      <p:sp>
        <p:nvSpPr>
          <p:cNvPr id="6" name="Text 4"/>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roadmap/</a:t>
            </a:r>
            <a:endParaRPr lang="en-US" sz="1050" dirty="0"/>
          </a:p>
        </p:txBody>
      </p:sp>
      <p:sp>
        <p:nvSpPr>
          <p:cNvPr id="7" name="Shape 5"/>
          <p:cNvSpPr/>
          <p:nvPr/>
        </p:nvSpPr>
        <p:spPr>
          <a:xfrm>
            <a:off x="548640" y="1280160"/>
            <a:ext cx="310896" cy="310896"/>
          </a:xfrm>
          <a:prstGeom prst="ellipse">
            <a:avLst/>
          </a:prstGeom>
          <a:solidFill>
            <a:srgbClr val="B9760C"/>
          </a:solidFill>
          <a:ln/>
        </p:spPr>
      </p:sp>
      <p:sp>
        <p:nvSpPr>
          <p:cNvPr id="8" name="Text 6"/>
          <p:cNvSpPr/>
          <p:nvPr/>
        </p:nvSpPr>
        <p:spPr>
          <a:xfrm>
            <a:off x="548640" y="128016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005840" y="124358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Dockerize services.</a:t>
            </a:r>
            <a:endParaRPr lang="en-US" sz="1450" dirty="0"/>
          </a:p>
        </p:txBody>
      </p:sp>
      <p:sp>
        <p:nvSpPr>
          <p:cNvPr id="10" name="Shape 8"/>
          <p:cNvSpPr/>
          <p:nvPr/>
        </p:nvSpPr>
        <p:spPr>
          <a:xfrm>
            <a:off x="548640" y="1700784"/>
            <a:ext cx="310896" cy="310896"/>
          </a:xfrm>
          <a:prstGeom prst="ellipse">
            <a:avLst/>
          </a:prstGeom>
          <a:solidFill>
            <a:srgbClr val="B9760C"/>
          </a:solidFill>
          <a:ln/>
        </p:spPr>
      </p:sp>
      <p:sp>
        <p:nvSpPr>
          <p:cNvPr id="11" name="Text 9"/>
          <p:cNvSpPr/>
          <p:nvPr/>
        </p:nvSpPr>
        <p:spPr>
          <a:xfrm>
            <a:off x="548640" y="170078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1005840" y="166420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Implement CI/CD.</a:t>
            </a:r>
            <a:endParaRPr lang="en-US" sz="1450" dirty="0"/>
          </a:p>
        </p:txBody>
      </p:sp>
      <p:sp>
        <p:nvSpPr>
          <p:cNvPr id="13" name="Shape 11"/>
          <p:cNvSpPr/>
          <p:nvPr/>
        </p:nvSpPr>
        <p:spPr>
          <a:xfrm>
            <a:off x="548640" y="2121408"/>
            <a:ext cx="310896" cy="310896"/>
          </a:xfrm>
          <a:prstGeom prst="ellipse">
            <a:avLst/>
          </a:prstGeom>
          <a:solidFill>
            <a:srgbClr val="B9760C"/>
          </a:solidFill>
          <a:ln/>
        </p:spPr>
      </p:sp>
      <p:sp>
        <p:nvSpPr>
          <p:cNvPr id="14" name="Text 12"/>
          <p:cNvSpPr/>
          <p:nvPr/>
        </p:nvSpPr>
        <p:spPr>
          <a:xfrm>
            <a:off x="548640" y="2121408"/>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5" name="Text 13"/>
          <p:cNvSpPr/>
          <p:nvPr/>
        </p:nvSpPr>
        <p:spPr>
          <a:xfrm>
            <a:off x="1005840" y="2084832"/>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Track model and prompt versions.</a:t>
            </a:r>
            <a:endParaRPr lang="en-US" sz="1450" dirty="0"/>
          </a:p>
        </p:txBody>
      </p:sp>
      <p:sp>
        <p:nvSpPr>
          <p:cNvPr id="16" name="Shape 14"/>
          <p:cNvSpPr/>
          <p:nvPr/>
        </p:nvSpPr>
        <p:spPr>
          <a:xfrm>
            <a:off x="548640" y="2542032"/>
            <a:ext cx="310896" cy="310896"/>
          </a:xfrm>
          <a:prstGeom prst="ellipse">
            <a:avLst/>
          </a:prstGeom>
          <a:solidFill>
            <a:srgbClr val="B9760C"/>
          </a:solidFill>
          <a:ln/>
        </p:spPr>
      </p:sp>
      <p:sp>
        <p:nvSpPr>
          <p:cNvPr id="17" name="Text 15"/>
          <p:cNvSpPr/>
          <p:nvPr/>
        </p:nvSpPr>
        <p:spPr>
          <a:xfrm>
            <a:off x="548640" y="2542032"/>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005840" y="2505456"/>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Integrate experiment/evaluation tracking.</a:t>
            </a:r>
            <a:endParaRPr lang="en-US" sz="1450" dirty="0"/>
          </a:p>
        </p:txBody>
      </p:sp>
      <p:sp>
        <p:nvSpPr>
          <p:cNvPr id="19" name="Shape 17"/>
          <p:cNvSpPr/>
          <p:nvPr/>
        </p:nvSpPr>
        <p:spPr>
          <a:xfrm>
            <a:off x="548640" y="2962656"/>
            <a:ext cx="310896" cy="310896"/>
          </a:xfrm>
          <a:prstGeom prst="ellipse">
            <a:avLst/>
          </a:prstGeom>
          <a:solidFill>
            <a:srgbClr val="B9760C"/>
          </a:solidFill>
          <a:ln/>
        </p:spPr>
      </p:sp>
      <p:sp>
        <p:nvSpPr>
          <p:cNvPr id="20" name="Text 18"/>
          <p:cNvSpPr/>
          <p:nvPr/>
        </p:nvSpPr>
        <p:spPr>
          <a:xfrm>
            <a:off x="548640" y="2962656"/>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1" name="Text 19"/>
          <p:cNvSpPr/>
          <p:nvPr/>
        </p:nvSpPr>
        <p:spPr>
          <a:xfrm>
            <a:off x="1005840" y="2926080"/>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Add structured logs, metrics, and traces.</a:t>
            </a:r>
            <a:endParaRPr lang="en-US" sz="1450" dirty="0"/>
          </a:p>
        </p:txBody>
      </p:sp>
      <p:sp>
        <p:nvSpPr>
          <p:cNvPr id="22" name="Shape 20"/>
          <p:cNvSpPr/>
          <p:nvPr/>
        </p:nvSpPr>
        <p:spPr>
          <a:xfrm>
            <a:off x="548640" y="3383280"/>
            <a:ext cx="310896" cy="310896"/>
          </a:xfrm>
          <a:prstGeom prst="ellipse">
            <a:avLst/>
          </a:prstGeom>
          <a:solidFill>
            <a:srgbClr val="B9760C"/>
          </a:solidFill>
          <a:ln/>
        </p:spPr>
      </p:sp>
      <p:sp>
        <p:nvSpPr>
          <p:cNvPr id="23" name="Text 21"/>
          <p:cNvSpPr/>
          <p:nvPr/>
        </p:nvSpPr>
        <p:spPr>
          <a:xfrm>
            <a:off x="548640" y="3383280"/>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24" name="Text 22"/>
          <p:cNvSpPr/>
          <p:nvPr/>
        </p:nvSpPr>
        <p:spPr>
          <a:xfrm>
            <a:off x="1005840" y="3346704"/>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Monitor latency, errors, token usage, cost, and AI quality.</a:t>
            </a:r>
            <a:endParaRPr lang="en-US" sz="1450" dirty="0"/>
          </a:p>
        </p:txBody>
      </p:sp>
      <p:sp>
        <p:nvSpPr>
          <p:cNvPr id="25" name="Shape 23"/>
          <p:cNvSpPr/>
          <p:nvPr/>
        </p:nvSpPr>
        <p:spPr>
          <a:xfrm>
            <a:off x="548640" y="3803904"/>
            <a:ext cx="310896" cy="310896"/>
          </a:xfrm>
          <a:prstGeom prst="ellipse">
            <a:avLst/>
          </a:prstGeom>
          <a:solidFill>
            <a:srgbClr val="B9760C"/>
          </a:solidFill>
          <a:ln/>
        </p:spPr>
      </p:sp>
      <p:sp>
        <p:nvSpPr>
          <p:cNvPr id="26" name="Text 24"/>
          <p:cNvSpPr/>
          <p:nvPr/>
        </p:nvSpPr>
        <p:spPr>
          <a:xfrm>
            <a:off x="548640" y="3803904"/>
            <a:ext cx="310896" cy="310896"/>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7</a:t>
            </a:r>
            <a:endParaRPr lang="en-US" sz="1200" dirty="0"/>
          </a:p>
        </p:txBody>
      </p:sp>
      <p:sp>
        <p:nvSpPr>
          <p:cNvPr id="27" name="Text 25"/>
          <p:cNvSpPr/>
          <p:nvPr/>
        </p:nvSpPr>
        <p:spPr>
          <a:xfrm>
            <a:off x="1005840" y="3767328"/>
            <a:ext cx="10637215" cy="384048"/>
          </a:xfrm>
          <a:prstGeom prst="rect">
            <a:avLst/>
          </a:prstGeom>
          <a:noFill/>
          <a:ln/>
        </p:spPr>
        <p:txBody>
          <a:bodyPr wrap="square" rtlCol="0" anchor="ctr"/>
          <a:lstStyle/>
          <a:p>
            <a:pPr indent="0" marL="0">
              <a:buNone/>
            </a:pPr>
            <a:r>
              <a:rPr lang="en-US" sz="1450" dirty="0">
                <a:solidFill>
                  <a:srgbClr val="171C26"/>
                </a:solidFill>
                <a:latin typeface="Helvetica" pitchFamily="34" charset="0"/>
                <a:ea typeface="Helvetica" pitchFamily="34" charset="-122"/>
                <a:cs typeface="Helvetica" pitchFamily="34" charset="-120"/>
              </a:rPr>
              <a:t>Deploy staging before production.</a:t>
            </a:r>
            <a:endParaRPr lang="en-US" sz="1450" dirty="0"/>
          </a:p>
        </p:txBody>
      </p:sp>
      <p:sp>
        <p:nvSpPr>
          <p:cNvPr id="28" name="Shape 26"/>
          <p:cNvSpPr/>
          <p:nvPr/>
        </p:nvSpPr>
        <p:spPr>
          <a:xfrm>
            <a:off x="548640" y="4315968"/>
            <a:ext cx="11094415" cy="548640"/>
          </a:xfrm>
          <a:prstGeom prst="rect">
            <a:avLst/>
          </a:prstGeom>
          <a:solidFill>
            <a:srgbClr val="FBF0DD"/>
          </a:solidFill>
          <a:ln w="12700">
            <a:solidFill>
              <a:srgbClr val="B9760C"/>
            </a:solidFill>
            <a:prstDash val="solid"/>
          </a:ln>
        </p:spPr>
      </p:sp>
      <p:sp>
        <p:nvSpPr>
          <p:cNvPr id="29" name="Text 27"/>
          <p:cNvSpPr/>
          <p:nvPr/>
        </p:nvSpPr>
        <p:spPr>
          <a:xfrm>
            <a:off x="731520" y="4315968"/>
            <a:ext cx="10728655" cy="548640"/>
          </a:xfrm>
          <a:prstGeom prst="rect">
            <a:avLst/>
          </a:prstGeom>
          <a:noFill/>
          <a:ln/>
        </p:spPr>
        <p:txBody>
          <a:bodyPr wrap="square" rtlCol="0" anchor="ctr"/>
          <a:lstStyle/>
          <a:p>
            <a:pPr indent="0" marL="0">
              <a:buNone/>
            </a:pPr>
            <a:r>
              <a:rPr lang="en-US" sz="1300" b="1" dirty="0">
                <a:solidFill>
                  <a:srgbClr val="0B1220"/>
                </a:solidFill>
                <a:latin typeface="Helvetica" pitchFamily="34" charset="0"/>
                <a:ea typeface="Helvetica" pitchFamily="34" charset="-122"/>
                <a:cs typeface="Helvetica" pitchFamily="34" charset="-120"/>
              </a:rPr>
              <a:t>Goal: the system is observable, versioned, and safely deployable.</a:t>
            </a:r>
            <a:endParaRPr lang="en-US" sz="1300" dirty="0"/>
          </a:p>
        </p:txBody>
      </p:sp>
      <p:sp>
        <p:nvSpPr>
          <p:cNvPr id="30" name="Text 28"/>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31" name="Text 29"/>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28</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Six-Month Roadmap</a:t>
            </a:r>
            <a:endParaRPr lang="en-US" sz="2600" dirty="0"/>
          </a:p>
        </p:txBody>
      </p:sp>
      <p:sp>
        <p:nvSpPr>
          <p:cNvPr id="4" name="Shape 2"/>
          <p:cNvSpPr/>
          <p:nvPr/>
        </p:nvSpPr>
        <p:spPr>
          <a:xfrm>
            <a:off x="10271455" y="502920"/>
            <a:ext cx="1371600" cy="310896"/>
          </a:xfrm>
          <a:prstGeom prst="rect">
            <a:avLst/>
          </a:prstGeom>
          <a:solidFill>
            <a:srgbClr val="B9760C"/>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timeline/</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8899855"/>
              </a:tblGrid>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Weeks 1–4</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Backend, authentication and chat foundation</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Weeks 5–8</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Memory system</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Weeks 9–12</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RAG pipeline</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Weeks 13–16</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Agent framework</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Weeks 17–20</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Personalization layer</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Weeks 21–24</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Docker, CI/CD, monitoring and deployment</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bl>
          </a:graphicData>
        </a:graphic>
      </p:graphicFrame>
      <p:sp>
        <p:nvSpPr>
          <p:cNvPr id="7" name="Text 4"/>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29</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MVP Definition of Done</a:t>
            </a:r>
            <a:endParaRPr lang="en-US" sz="2600" dirty="0"/>
          </a:p>
        </p:txBody>
      </p:sp>
      <p:sp>
        <p:nvSpPr>
          <p:cNvPr id="4" name="Shape 2"/>
          <p:cNvSpPr/>
          <p:nvPr/>
        </p:nvSpPr>
        <p:spPr>
          <a:xfrm>
            <a:off x="10271455" y="502920"/>
            <a:ext cx="1371600" cy="310896"/>
          </a:xfrm>
          <a:prstGeom prst="rect">
            <a:avLst/>
          </a:prstGeom>
          <a:solidFill>
            <a:srgbClr val="B9760C"/>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mvp/</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Authenticated user flow works.</a:t>
            </a:r>
            <a:endParaRPr lang="en-US" sz="1450" dirty="0"/>
          </a:p>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Conversation creation, continuation, and persistence work.</a:t>
            </a:r>
            <a:endParaRPr lang="en-US" sz="1450" dirty="0"/>
          </a:p>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Basic LLM-powered chat works.</a:t>
            </a:r>
            <a:endParaRPr lang="en-US" sz="1450" dirty="0"/>
          </a:p>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Document upload and document Q&amp;A work.</a:t>
            </a:r>
            <a:endParaRPr lang="en-US" sz="1450" dirty="0"/>
          </a:p>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RAG retrieves relevant information and produces grounded responses.</a:t>
            </a:r>
            <a:endParaRPr lang="en-US" sz="1450" dirty="0"/>
          </a:p>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Basic persistent memory enables personalization.</a:t>
            </a:r>
            <a:endParaRPr lang="en-US" sz="1450" dirty="0"/>
          </a:p>
          <a:p>
            <a:pPr marL="228600" indent="-228600">
              <a:lnSpc>
                <a:spcPct val="115000"/>
              </a:lnSpc>
              <a:spcAft>
                <a:spcPts val="1200"/>
              </a:spcAft>
              <a:buSzPct val="100000"/>
              <a:buChar char="●"/>
            </a:pPr>
            <a:r>
              <a:rPr lang="en-US" sz="1450" dirty="0">
                <a:solidFill>
                  <a:srgbClr val="171C26"/>
                </a:solidFill>
                <a:latin typeface="Helvetica" pitchFamily="34" charset="0"/>
                <a:ea typeface="Helvetica" pitchFamily="34" charset="-122"/>
                <a:cs typeface="Helvetica" pitchFamily="34" charset="-120"/>
              </a:rPr>
              <a:t>Core workflows are tested and observable; the application can be containerized and deployed.</a:t>
            </a:r>
            <a:endParaRPr lang="en-US" sz="145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30</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Risks &amp; Mitigation</a:t>
            </a:r>
            <a:endParaRPr lang="en-US" sz="2600" dirty="0"/>
          </a:p>
        </p:txBody>
      </p:sp>
      <p:sp>
        <p:nvSpPr>
          <p:cNvPr id="4" name="Shape 2"/>
          <p:cNvSpPr/>
          <p:nvPr/>
        </p:nvSpPr>
        <p:spPr>
          <a:xfrm>
            <a:off x="10271455" y="502920"/>
            <a:ext cx="1371600" cy="310896"/>
          </a:xfrm>
          <a:prstGeom prst="rect">
            <a:avLst/>
          </a:prstGeom>
          <a:solidFill>
            <a:srgbClr val="B9760C"/>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risks/</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8899855"/>
              </a:tblGrid>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LLM/API cost</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Caching, usage monitoring and model selection.</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Hallucination</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RAG grounding, evaluation and fallback behavior.</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Poor retrieval</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Retrieval evaluation, chunking and reranking improvements.</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Agent loops</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Iteration limits, timeouts and tool controls.</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Security / privacy</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Authentication, validation, secrets management and careful telemetry.</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02920">
                <a:tc>
                  <a:txBody>
                    <a:bodyPr/>
                    <a:lstStyle/>
                    <a:p>
                      <a:pPr indent="0" marL="0">
                        <a:buNone/>
                      </a:pPr>
                      <a:r>
                        <a:rPr lang="en-US" sz="1300" b="1" dirty="0">
                          <a:solidFill>
                            <a:srgbClr val="B9760C"/>
                          </a:solidFill>
                          <a:latin typeface="Courier New" pitchFamily="34" charset="0"/>
                          <a:ea typeface="Courier New" pitchFamily="34" charset="-122"/>
                          <a:cs typeface="Courier New" pitchFamily="34" charset="-120"/>
                        </a:rPr>
                        <a:t>Scope growth</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50" dirty="0">
                          <a:solidFill>
                            <a:srgbClr val="171C26"/>
                          </a:solidFill>
                          <a:latin typeface="Helvetica" pitchFamily="34" charset="0"/>
                          <a:ea typeface="Helvetica" pitchFamily="34" charset="-122"/>
                          <a:cs typeface="Helvetica" pitchFamily="34" charset="-120"/>
                        </a:rPr>
                        <a:t>Phased MVP and milestone-based implementation.</a:t>
                      </a:r>
                      <a:endParaRPr lang="en-US" sz="135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bl>
          </a:graphicData>
        </a:graphic>
      </p:graphicFrame>
      <p:sp>
        <p:nvSpPr>
          <p:cNvPr id="7" name="Text 4"/>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31</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Mentor Discussion Points</a:t>
            </a:r>
            <a:endParaRPr lang="en-US" sz="2600" dirty="0"/>
          </a:p>
        </p:txBody>
      </p:sp>
      <p:sp>
        <p:nvSpPr>
          <p:cNvPr id="4" name="Shape 2"/>
          <p:cNvSpPr/>
          <p:nvPr/>
        </p:nvSpPr>
        <p:spPr>
          <a:xfrm>
            <a:off x="10271455" y="502920"/>
            <a:ext cx="1371600" cy="310896"/>
          </a:xfrm>
          <a:prstGeom prst="rect">
            <a:avLst/>
          </a:prstGeom>
          <a:solidFill>
            <a:srgbClr val="B9760C"/>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review/</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Validate the implementation sequence.</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Review backend vs ML component boundaries.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Confirm MVP scope before significant coding.</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Prioritize database/authentication/chat milestones.</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Review memory → RAG → agents integration order.</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Identify architectural risks and measurable acceptance criteria.</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32</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Immediate Next Milestone</a:t>
            </a:r>
            <a:endParaRPr lang="en-US" sz="2600" dirty="0"/>
          </a:p>
        </p:txBody>
      </p:sp>
      <p:sp>
        <p:nvSpPr>
          <p:cNvPr id="4" name="Shape 2"/>
          <p:cNvSpPr/>
          <p:nvPr/>
        </p:nvSpPr>
        <p:spPr>
          <a:xfrm>
            <a:off x="10271455" y="502920"/>
            <a:ext cx="1371600" cy="310896"/>
          </a:xfrm>
          <a:prstGeom prst="rect">
            <a:avLst/>
          </a:prstGeom>
          <a:solidFill>
            <a:srgbClr val="B9760C"/>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milestone/</a:t>
            </a:r>
            <a:endParaRPr lang="en-US" sz="105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Move from documentation to implementation.</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Build project skeleton and connect FastAPI to PostgreSQL.</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Implement first database models and migration.</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Create authentication foundation.</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Build first frontend → backend flow.</a:t>
            </a:r>
            <a:endParaRPr lang="en-US" sz="1600" dirty="0"/>
          </a:p>
          <a:p>
            <a:pPr marL="228600" indent="-228600">
              <a:lnSpc>
                <a:spcPct val="115000"/>
              </a:lnSpc>
              <a:spcAft>
                <a:spcPts val="1200"/>
              </a:spcAft>
              <a:buSzPct val="100000"/>
              <a:buChar char="●"/>
            </a:pPr>
            <a:r>
              <a:rPr lang="en-US" sz="1600" dirty="0">
                <a:solidFill>
                  <a:srgbClr val="171C26"/>
                </a:solidFill>
                <a:latin typeface="Helvetica" pitchFamily="34" charset="0"/>
                <a:ea typeface="Helvetica" pitchFamily="34" charset="-122"/>
                <a:cs typeface="Helvetica" pitchFamily="34" charset="-120"/>
              </a:rPr>
              <a:t>Then add LLM integration and progressively introduce memory, RAG and agents.</a:t>
            </a:r>
            <a:endParaRPr lang="en-US" sz="1600" dirty="0"/>
          </a:p>
        </p:txBody>
      </p:sp>
      <p:sp>
        <p:nvSpPr>
          <p:cNvPr id="7" name="Text 5"/>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33</a:t>
            </a:r>
            <a:endParaRPr lang="en-US" sz="2000" dirty="0"/>
          </a:p>
        </p:txBody>
      </p:sp>
      <p:sp>
        <p:nvSpPr>
          <p:cNvPr id="3" name="Text 1"/>
          <p:cNvSpPr/>
          <p:nvPr/>
        </p:nvSpPr>
        <p:spPr>
          <a:xfrm>
            <a:off x="1143000" y="384048"/>
            <a:ext cx="7863840" cy="594360"/>
          </a:xfrm>
          <a:prstGeom prst="rect">
            <a:avLst/>
          </a:prstGeom>
          <a:noFill/>
          <a:ln/>
        </p:spPr>
        <p:txBody>
          <a:bodyPr wrap="square" rtlCol="0" anchor="ctr"/>
          <a:lstStyle/>
          <a:p>
            <a:pPr indent="0" marL="0">
              <a:buNone/>
            </a:pPr>
            <a:r>
              <a:rPr lang="en-US" sz="2600" b="1" dirty="0">
                <a:solidFill>
                  <a:srgbClr val="0B1220"/>
                </a:solidFill>
                <a:latin typeface="Helvetica" pitchFamily="34" charset="0"/>
                <a:ea typeface="Helvetica" pitchFamily="34" charset="-122"/>
                <a:cs typeface="Helvetica" pitchFamily="34" charset="-120"/>
              </a:rPr>
              <a:t>Closing</a:t>
            </a:r>
            <a:endParaRPr lang="en-US" sz="2600" dirty="0"/>
          </a:p>
        </p:txBody>
      </p:sp>
      <p:sp>
        <p:nvSpPr>
          <p:cNvPr id="4" name="Shape 2"/>
          <p:cNvSpPr/>
          <p:nvPr/>
        </p:nvSpPr>
        <p:spPr>
          <a:xfrm>
            <a:off x="10271455" y="502920"/>
            <a:ext cx="1371600" cy="310896"/>
          </a:xfrm>
          <a:prstGeom prst="rect">
            <a:avLst/>
          </a:prstGeom>
          <a:solidFill>
            <a:srgbClr val="B9760C"/>
          </a:solidFill>
          <a:ln/>
        </p:spPr>
      </p:sp>
      <p:sp>
        <p:nvSpPr>
          <p:cNvPr id="5" name="Text 3"/>
          <p:cNvSpPr/>
          <p:nvPr/>
        </p:nvSpPr>
        <p:spPr>
          <a:xfrm>
            <a:off x="10271455" y="502920"/>
            <a:ext cx="1371600" cy="310896"/>
          </a:xfrm>
          <a:prstGeom prst="rect">
            <a:avLst/>
          </a:prstGeom>
          <a:noFill/>
          <a:ln/>
        </p:spPr>
        <p:txBody>
          <a:bodyPr wrap="square"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closing</a:t>
            </a:r>
            <a:endParaRPr lang="en-US" sz="1050" dirty="0"/>
          </a:p>
        </p:txBody>
      </p:sp>
      <p:sp>
        <p:nvSpPr>
          <p:cNvPr id="6" name="Shape 4"/>
          <p:cNvSpPr/>
          <p:nvPr/>
        </p:nvSpPr>
        <p:spPr>
          <a:xfrm>
            <a:off x="548640" y="1371600"/>
            <a:ext cx="2072579" cy="777240"/>
          </a:xfrm>
          <a:prstGeom prst="rect">
            <a:avLst/>
          </a:prstGeom>
          <a:solidFill>
            <a:srgbClr val="F5F7FA"/>
          </a:solidFill>
          <a:ln w="12700">
            <a:solidFill>
              <a:srgbClr val="DCE2EA"/>
            </a:solidFill>
            <a:prstDash val="solid"/>
          </a:ln>
        </p:spPr>
      </p:sp>
      <p:sp>
        <p:nvSpPr>
          <p:cNvPr id="7" name="Text 5"/>
          <p:cNvSpPr/>
          <p:nvPr/>
        </p:nvSpPr>
        <p:spPr>
          <a:xfrm>
            <a:off x="548640" y="1371600"/>
            <a:ext cx="2072579" cy="777240"/>
          </a:xfrm>
          <a:prstGeom prst="rect">
            <a:avLst/>
          </a:prstGeom>
          <a:noFill/>
          <a:ln/>
        </p:spPr>
        <p:txBody>
          <a:bodyPr wrap="square" rtlCol="0" anchor="ctr"/>
          <a:lstStyle/>
          <a:p>
            <a:pPr algn="ctr" indent="0" marL="0">
              <a:buNone/>
            </a:pPr>
            <a:r>
              <a:rPr lang="en-US" sz="1300" b="1" dirty="0">
                <a:solidFill>
                  <a:srgbClr val="171C26"/>
                </a:solidFill>
                <a:latin typeface="Helvetica" pitchFamily="34" charset="0"/>
                <a:ea typeface="Helvetica" pitchFamily="34" charset="-122"/>
                <a:cs typeface="Helvetica" pitchFamily="34" charset="-120"/>
              </a:rPr>
              <a:t>Design</a:t>
            </a:r>
            <a:endParaRPr lang="en-US" sz="1300" dirty="0"/>
          </a:p>
        </p:txBody>
      </p:sp>
      <p:sp>
        <p:nvSpPr>
          <p:cNvPr id="8" name="Shape 6"/>
          <p:cNvSpPr/>
          <p:nvPr/>
        </p:nvSpPr>
        <p:spPr>
          <a:xfrm>
            <a:off x="2804099" y="1371600"/>
            <a:ext cx="2072579" cy="777240"/>
          </a:xfrm>
          <a:prstGeom prst="rect">
            <a:avLst/>
          </a:prstGeom>
          <a:solidFill>
            <a:srgbClr val="F5F7FA"/>
          </a:solidFill>
          <a:ln w="12700">
            <a:solidFill>
              <a:srgbClr val="DCE2EA"/>
            </a:solidFill>
            <a:prstDash val="solid"/>
          </a:ln>
        </p:spPr>
      </p:sp>
      <p:sp>
        <p:nvSpPr>
          <p:cNvPr id="9" name="Text 7"/>
          <p:cNvSpPr/>
          <p:nvPr/>
        </p:nvSpPr>
        <p:spPr>
          <a:xfrm>
            <a:off x="2804099" y="1371600"/>
            <a:ext cx="2072579" cy="777240"/>
          </a:xfrm>
          <a:prstGeom prst="rect">
            <a:avLst/>
          </a:prstGeom>
          <a:noFill/>
          <a:ln/>
        </p:spPr>
        <p:txBody>
          <a:bodyPr wrap="square" rtlCol="0" anchor="ctr"/>
          <a:lstStyle/>
          <a:p>
            <a:pPr algn="ctr" indent="0" marL="0">
              <a:buNone/>
            </a:pPr>
            <a:r>
              <a:rPr lang="en-US" sz="1300" b="1" dirty="0">
                <a:solidFill>
                  <a:srgbClr val="171C26"/>
                </a:solidFill>
                <a:latin typeface="Helvetica" pitchFamily="34" charset="0"/>
                <a:ea typeface="Helvetica" pitchFamily="34" charset="-122"/>
                <a:cs typeface="Helvetica" pitchFamily="34" charset="-120"/>
              </a:rPr>
              <a:t>Documentation</a:t>
            </a:r>
            <a:endParaRPr lang="en-US" sz="1300" dirty="0"/>
          </a:p>
        </p:txBody>
      </p:sp>
      <p:sp>
        <p:nvSpPr>
          <p:cNvPr id="10" name="Shape 8"/>
          <p:cNvSpPr/>
          <p:nvPr/>
        </p:nvSpPr>
        <p:spPr>
          <a:xfrm>
            <a:off x="5059558" y="1371600"/>
            <a:ext cx="2072579" cy="777240"/>
          </a:xfrm>
          <a:prstGeom prst="rect">
            <a:avLst/>
          </a:prstGeom>
          <a:solidFill>
            <a:srgbClr val="F5F7FA"/>
          </a:solidFill>
          <a:ln w="12700">
            <a:solidFill>
              <a:srgbClr val="DCE2EA"/>
            </a:solidFill>
            <a:prstDash val="solid"/>
          </a:ln>
        </p:spPr>
      </p:sp>
      <p:sp>
        <p:nvSpPr>
          <p:cNvPr id="11" name="Text 9"/>
          <p:cNvSpPr/>
          <p:nvPr/>
        </p:nvSpPr>
        <p:spPr>
          <a:xfrm>
            <a:off x="5059558" y="1371600"/>
            <a:ext cx="2072579" cy="777240"/>
          </a:xfrm>
          <a:prstGeom prst="rect">
            <a:avLst/>
          </a:prstGeom>
          <a:noFill/>
          <a:ln/>
        </p:spPr>
        <p:txBody>
          <a:bodyPr wrap="square" rtlCol="0" anchor="ctr"/>
          <a:lstStyle/>
          <a:p>
            <a:pPr algn="ctr" indent="0" marL="0">
              <a:buNone/>
            </a:pPr>
            <a:r>
              <a:rPr lang="en-US" sz="1300" b="1" dirty="0">
                <a:solidFill>
                  <a:srgbClr val="171C26"/>
                </a:solidFill>
                <a:latin typeface="Helvetica" pitchFamily="34" charset="0"/>
                <a:ea typeface="Helvetica" pitchFamily="34" charset="-122"/>
                <a:cs typeface="Helvetica" pitchFamily="34" charset="-120"/>
              </a:rPr>
              <a:t>Architecture</a:t>
            </a:r>
            <a:endParaRPr lang="en-US" sz="1300" dirty="0"/>
          </a:p>
        </p:txBody>
      </p:sp>
      <p:sp>
        <p:nvSpPr>
          <p:cNvPr id="12" name="Shape 10"/>
          <p:cNvSpPr/>
          <p:nvPr/>
        </p:nvSpPr>
        <p:spPr>
          <a:xfrm>
            <a:off x="7315017" y="1371600"/>
            <a:ext cx="2072579" cy="777240"/>
          </a:xfrm>
          <a:prstGeom prst="rect">
            <a:avLst/>
          </a:prstGeom>
          <a:solidFill>
            <a:srgbClr val="F5F7FA"/>
          </a:solidFill>
          <a:ln w="12700">
            <a:solidFill>
              <a:srgbClr val="DCE2EA"/>
            </a:solidFill>
            <a:prstDash val="solid"/>
          </a:ln>
        </p:spPr>
      </p:sp>
      <p:sp>
        <p:nvSpPr>
          <p:cNvPr id="13" name="Text 11"/>
          <p:cNvSpPr/>
          <p:nvPr/>
        </p:nvSpPr>
        <p:spPr>
          <a:xfrm>
            <a:off x="7315017" y="1371600"/>
            <a:ext cx="2072579" cy="777240"/>
          </a:xfrm>
          <a:prstGeom prst="rect">
            <a:avLst/>
          </a:prstGeom>
          <a:noFill/>
          <a:ln/>
        </p:spPr>
        <p:txBody>
          <a:bodyPr wrap="square" rtlCol="0" anchor="ctr"/>
          <a:lstStyle/>
          <a:p>
            <a:pPr algn="ctr" indent="0" marL="0">
              <a:buNone/>
            </a:pPr>
            <a:r>
              <a:rPr lang="en-US" sz="1300" b="1" dirty="0">
                <a:solidFill>
                  <a:srgbClr val="171C26"/>
                </a:solidFill>
                <a:latin typeface="Helvetica" pitchFamily="34" charset="0"/>
                <a:ea typeface="Helvetica" pitchFamily="34" charset="-122"/>
                <a:cs typeface="Helvetica" pitchFamily="34" charset="-120"/>
              </a:rPr>
              <a:t>Implementation</a:t>
            </a:r>
            <a:endParaRPr lang="en-US" sz="1300" dirty="0"/>
          </a:p>
        </p:txBody>
      </p:sp>
      <p:sp>
        <p:nvSpPr>
          <p:cNvPr id="14" name="Shape 12"/>
          <p:cNvSpPr/>
          <p:nvPr/>
        </p:nvSpPr>
        <p:spPr>
          <a:xfrm>
            <a:off x="9570476" y="1371600"/>
            <a:ext cx="2072579" cy="777240"/>
          </a:xfrm>
          <a:prstGeom prst="rect">
            <a:avLst/>
          </a:prstGeom>
          <a:solidFill>
            <a:srgbClr val="B9760C"/>
          </a:solidFill>
          <a:ln w="12700">
            <a:solidFill>
              <a:srgbClr val="DCE2EA"/>
            </a:solidFill>
            <a:prstDash val="solid"/>
          </a:ln>
        </p:spPr>
      </p:sp>
      <p:sp>
        <p:nvSpPr>
          <p:cNvPr id="15" name="Text 13"/>
          <p:cNvSpPr/>
          <p:nvPr/>
        </p:nvSpPr>
        <p:spPr>
          <a:xfrm>
            <a:off x="9570476" y="1371600"/>
            <a:ext cx="2072579" cy="777240"/>
          </a:xfrm>
          <a:prstGeom prst="rect">
            <a:avLst/>
          </a:prstGeom>
          <a:noFill/>
          <a:ln/>
        </p:spPr>
        <p:txBody>
          <a:bodyPr wrap="square"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Deployment</a:t>
            </a:r>
            <a:endParaRPr lang="en-US" sz="1300" dirty="0"/>
          </a:p>
        </p:txBody>
      </p:sp>
      <p:sp>
        <p:nvSpPr>
          <p:cNvPr id="16" name="Text 14"/>
          <p:cNvSpPr/>
          <p:nvPr/>
        </p:nvSpPr>
        <p:spPr>
          <a:xfrm>
            <a:off x="548640" y="2560320"/>
            <a:ext cx="11094415" cy="731520"/>
          </a:xfrm>
          <a:prstGeom prst="rect">
            <a:avLst/>
          </a:prstGeom>
          <a:noFill/>
          <a:ln/>
        </p:spPr>
        <p:txBody>
          <a:bodyPr wrap="square" rtlCol="0" anchor="t"/>
          <a:lstStyle/>
          <a:p>
            <a:pPr indent="0" marL="0">
              <a:buNone/>
            </a:pPr>
            <a:r>
              <a:rPr lang="en-US" sz="1500" dirty="0">
                <a:solidFill>
                  <a:srgbClr val="171C26"/>
                </a:solidFill>
                <a:latin typeface="Helvetica" pitchFamily="34" charset="0"/>
                <a:ea typeface="Helvetica" pitchFamily="34" charset="-122"/>
                <a:cs typeface="Helvetica" pitchFamily="34" charset="-120"/>
              </a:rPr>
              <a:t>Last week's design work and this week's technical documentation together give the project a structured foundation for disciplined implementation.</a:t>
            </a:r>
            <a:endParaRPr lang="en-US" sz="1500" dirty="0"/>
          </a:p>
        </p:txBody>
      </p:sp>
      <p:sp>
        <p:nvSpPr>
          <p:cNvPr id="17" name="Text 15"/>
          <p:cNvSpPr/>
          <p:nvPr/>
        </p:nvSpPr>
        <p:spPr>
          <a:xfrm>
            <a:off x="548640" y="3383280"/>
            <a:ext cx="11094415" cy="640080"/>
          </a:xfrm>
          <a:prstGeom prst="rect">
            <a:avLst/>
          </a:prstGeom>
          <a:noFill/>
          <a:ln/>
        </p:spPr>
        <p:txBody>
          <a:bodyPr wrap="square" rtlCol="0" anchor="t"/>
          <a:lstStyle/>
          <a:p>
            <a:pPr indent="0" marL="0">
              <a:buNone/>
            </a:pPr>
            <a:r>
              <a:rPr lang="en-US" sz="1400" i="1" dirty="0">
                <a:solidFill>
                  <a:srgbClr val="5A6472"/>
                </a:solidFill>
                <a:latin typeface="Helvetica" pitchFamily="34" charset="0"/>
                <a:ea typeface="Helvetica" pitchFamily="34" charset="-122"/>
                <a:cs typeface="Helvetica" pitchFamily="34" charset="-120"/>
              </a:rPr>
              <a:t>Immediate objective: a small, working, testable end-to-end prototype — not the complete AI system at once.</a:t>
            </a:r>
            <a:endParaRPr lang="en-US" sz="1400" dirty="0"/>
          </a:p>
        </p:txBody>
      </p:sp>
      <p:sp>
        <p:nvSpPr>
          <p:cNvPr id="18" name="Text 16"/>
          <p:cNvSpPr/>
          <p:nvPr/>
        </p:nvSpPr>
        <p:spPr>
          <a:xfrm>
            <a:off x="548640" y="4297680"/>
            <a:ext cx="11094415" cy="365760"/>
          </a:xfrm>
          <a:prstGeom prst="rect">
            <a:avLst/>
          </a:prstGeom>
          <a:noFill/>
          <a:ln/>
        </p:spPr>
        <p:txBody>
          <a:bodyPr wrap="square" rtlCol="0" anchor="ctr"/>
          <a:lstStyle/>
          <a:p>
            <a:pPr algn="ctr" indent="0" marL="0">
              <a:buNone/>
            </a:pPr>
            <a:r>
              <a:rPr lang="en-US" sz="1400" b="1" dirty="0">
                <a:solidFill>
                  <a:srgbClr val="0B1220"/>
                </a:solidFill>
                <a:latin typeface="Helvetica" pitchFamily="34" charset="0"/>
                <a:ea typeface="Helvetica" pitchFamily="34" charset="-122"/>
                <a:cs typeface="Helvetica" pitchFamily="34" charset="-120"/>
              </a:rPr>
              <a:t>— End of Deck —</a:t>
            </a:r>
            <a:endParaRPr lang="en-US" sz="1400" dirty="0"/>
          </a:p>
        </p:txBody>
      </p:sp>
      <p:sp>
        <p:nvSpPr>
          <p:cNvPr id="19" name="Text 17"/>
          <p:cNvSpPr/>
          <p:nvPr/>
        </p:nvSpPr>
        <p:spPr>
          <a:xfrm>
            <a:off x="548640" y="6492240"/>
            <a:ext cx="54864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TECH_UI_PROGRESS_ROADMAP.md</a:t>
            </a:r>
            <a:endParaRPr lang="en-US" sz="900" dirty="0"/>
          </a:p>
        </p:txBody>
      </p:sp>
      <p:sp>
        <p:nvSpPr>
          <p:cNvPr id="20" name="Text 18"/>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2026-08-19T03:06:15Z</dcterms:created>
  <dcterms:modified xsi:type="dcterms:W3CDTF">2026-08-19T03:06:15Z</dcterms:modified>
</cp:coreProperties>
</file>