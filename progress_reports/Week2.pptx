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3931920"/>
            <a:ext cx="3291840" cy="3291840"/>
          </a:xfrm>
          <a:prstGeom prst="ellipse">
            <a:avLst/>
          </a:prstGeom>
          <a:solidFill>
            <a:srgbClr val="1B255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CONCIERGE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Assistant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3703320"/>
            <a:ext cx="1280160" cy="45720"/>
          </a:xfrm>
          <a:prstGeom prst="rect">
            <a:avLst/>
          </a:prstGeom>
          <a:solidFill>
            <a:srgbClr val="2F9E8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319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Progress Report &amp; UI/UX Design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Sharanya  •  M.Tech, PES University  •  Version 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Progress Overview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solution, technology, and roadmap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Everyday Chatbots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457200" cy="457200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16152" y="1682496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chatbots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6152" y="1993392"/>
            <a:ext cx="103510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same kind of answer to everyone, with no sense of who's asking.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788920"/>
            <a:ext cx="457200" cy="457200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6152" y="2734056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6152" y="3044952"/>
            <a:ext cx="103510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remember past conversations or user preferences.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457200" cy="457200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6152" y="3785616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multilingual support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16152" y="4096512"/>
            <a:ext cx="103510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 when users naturally mix languages within one sentence.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892040"/>
            <a:ext cx="457200" cy="457200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6152" y="4837176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explainable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16152" y="5148072"/>
            <a:ext cx="103510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can't easily tell where an answer came from, or why.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Assistant, Built to Close Those Gaps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828800"/>
            <a:ext cx="10515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combines </a:t>
            </a:r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(Retrieval-Augmented Generation) — like a librarian fetching the right book before answering — with </a:t>
            </a:r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pPr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code-mixed multilingual</a:t>
            </a:r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support — so users can naturally blend languages, the way people often do in everyday speech.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AI Concierge Can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conversational interface.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2F9E8F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53712" y="24231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your own documents, with sources.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1965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0184" y="2423160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preferences across sessions.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02152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2F9E8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6850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" y="41422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 tasks and schedules.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3502152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553712" y="36850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53712" y="41422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relevant resources.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3502152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2F9E8F"/>
          </a:solidFill>
          <a:ln/>
        </p:spPr>
      </p:sp>
      <p:sp>
        <p:nvSpPr>
          <p:cNvPr id="20" name="Text 18"/>
          <p:cNvSpPr/>
          <p:nvPr/>
        </p:nvSpPr>
        <p:spPr>
          <a:xfrm>
            <a:off x="8330184" y="3685032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Chat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30184" y="4142232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code-mixed language naturally.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Powers the App, in Plain Terms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476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interface users see.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25112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9476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23774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that handles requests.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1584" y="1783080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0184" y="19476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30184" y="23774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structured data — accounts, tasks, settings.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502152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66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409651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 for fast document search.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25112" y="3502152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3666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/ GPT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53712" y="409651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models generating responses.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1584" y="3502152"/>
            <a:ext cx="3520440" cy="1463040"/>
          </a:xfrm>
          <a:prstGeom prst="roundRect">
            <a:avLst>
              <a:gd name="adj" fmla="val 6250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0184" y="36667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30184" y="4096512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the app to run consistently anywhere.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 Through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F9E8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6517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(Frontend)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60320" y="26517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80360" y="26517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971800" y="26517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(Backend)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26517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66360" y="26517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F9E8F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26517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(Task Helpers)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0" y="26517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52360" y="26517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543800" y="26517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/ Memory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(Context)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18320" y="2651760"/>
            <a:ext cx="320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738360" y="265176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2F9E8F"/>
          </a:solidFill>
          <a:ln/>
        </p:spPr>
      </p:sp>
      <p:sp>
        <p:nvSpPr>
          <p:cNvPr id="17" name="Text 15"/>
          <p:cNvSpPr/>
          <p:nvPr/>
        </p:nvSpPr>
        <p:spPr>
          <a:xfrm>
            <a:off x="9829800" y="26517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(Response)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4805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passes a request to the backend, which hands it to specialized agents. Agents pull relevant context from document search (RAG) and memory, then the language model generates the final, informed answer.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So Far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2F9E8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94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Documents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goals, scope, and approach.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2F9E8F"/>
          </a:solidFill>
          <a:ln/>
        </p:spPr>
      </p:sp>
      <p:sp>
        <p:nvSpPr>
          <p:cNvPr id="10" name="Shape 8"/>
          <p:cNvSpPr/>
          <p:nvPr/>
        </p:nvSpPr>
        <p:spPr>
          <a:xfrm>
            <a:off x="4599432" y="2194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99432" y="2834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Docs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33832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different parts fit together.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520440" cy="3474720"/>
          </a:xfrm>
          <a:prstGeom prst="roundRect">
            <a:avLst>
              <a:gd name="adj" fmla="val 2632"/>
            </a:avLst>
          </a:prstGeom>
          <a:solidFill>
            <a:srgbClr val="2F9E8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75904" y="2194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UI/UX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75904" y="3383280"/>
            <a:ext cx="2971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design — detailed in Part B.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Docs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29968" y="2743200"/>
            <a:ext cx="201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03704" y="274320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95144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95144" y="3108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Docs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47872" y="2743200"/>
            <a:ext cx="201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21608" y="274320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13048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13048" y="3108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Docs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65776" y="2743200"/>
            <a:ext cx="201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39512" y="274320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30952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30952" y="3108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0" y="2743200"/>
            <a:ext cx="201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57416" y="274320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48856" y="3108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01584" y="2743200"/>
            <a:ext cx="201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75320" y="274320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66760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66760" y="3108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619488" y="2743200"/>
            <a:ext cx="2011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793224" y="2743200"/>
            <a:ext cx="1371600" cy="1188720"/>
          </a:xfrm>
          <a:prstGeom prst="roundRect">
            <a:avLst>
              <a:gd name="adj" fmla="val 6923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84664" y="28163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84664" y="3108960"/>
            <a:ext cx="1188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in order — from documentation through to a deployed, working system.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NEEDED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Mentor Input Would Help Most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4F6FB"/>
          </a:solidFill>
          <a:ln w="19050">
            <a:solidFill>
              <a:srgbClr val="2F9E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7884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57884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9385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852928" y="201168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4F6FB"/>
          </a:solidFill>
          <a:ln w="19050">
            <a:solidFill>
              <a:srgbClr val="2F9E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62172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62172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44368" y="3108960"/>
            <a:ext cx="19385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Strategy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157216" y="201168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4F6FB"/>
          </a:solidFill>
          <a:ln w="19050">
            <a:solidFill>
              <a:srgbClr val="2F9E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6460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9664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48656" y="3108960"/>
            <a:ext cx="19385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61504" y="201168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4F6FB"/>
          </a:solidFill>
          <a:ln w="19050">
            <a:solidFill>
              <a:srgbClr val="2F9E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0748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0748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52944" y="3108960"/>
            <a:ext cx="19385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765792" y="2011680"/>
            <a:ext cx="2121408" cy="2926080"/>
          </a:xfrm>
          <a:prstGeom prst="roundRect">
            <a:avLst>
              <a:gd name="adj" fmla="val 4310"/>
            </a:avLst>
          </a:prstGeom>
          <a:solidFill>
            <a:srgbClr val="F4F6FB"/>
          </a:solidFill>
          <a:ln w="19050">
            <a:solidFill>
              <a:srgbClr val="2F9E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75036" y="23317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575036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57232" y="3108960"/>
            <a:ext cx="19385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82880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Project Is Headed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23774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production-ready, multilingual AI Concierge —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3108960"/>
            <a:ext cx="89611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helpful, explainable assistant that feels natural across languages, remembers what matters to its users, and is reliable enough for everyday academic and professional use.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Design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 looks, feels, and works for every user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UI/UX, and Why Does It Matter?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Interface) — everything you see on screen: buttons, menus, colors, layout.
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Experience) — how easy and pleasant the app is to actually use.
</a:t>
            </a:r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good UI/UX means people can focus on getting help from the AI — not on figuring out how the software works.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40880" y="155448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6" name="Text 4"/>
          <p:cNvSpPr/>
          <p:nvPr/>
        </p:nvSpPr>
        <p:spPr>
          <a:xfrm>
            <a:off x="736092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CONCIERGE CAN: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60920" y="2295144"/>
            <a:ext cx="109728" cy="10972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21671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from your documents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0920" y="2916936"/>
            <a:ext cx="109728" cy="10972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across multiple languages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3538728"/>
            <a:ext cx="109728" cy="10972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34107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plan and track tasks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4160520"/>
            <a:ext cx="109728" cy="10972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40325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useful resources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60920" y="4782312"/>
            <a:ext cx="109728" cy="10972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46542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your preferences over time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PHILOSOPHY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 Behind Every Decision: Keep It Simple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574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4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29184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clicks, fewer confusing options.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52928" y="18288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2F9E8F"/>
          </a:solidFill>
          <a:ln/>
        </p:spPr>
      </p:sp>
      <p:sp>
        <p:nvSpPr>
          <p:cNvPr id="9" name="Text 7"/>
          <p:cNvSpPr/>
          <p:nvPr/>
        </p:nvSpPr>
        <p:spPr>
          <a:xfrm>
            <a:off x="3017520" y="20574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C0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017520" y="27432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329184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and menus behave the same everywhere.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57216" y="18288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321808" y="20574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4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321808" y="27432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Feedback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21808" y="329184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always shows what's happening.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61504" y="18288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2F9E8F"/>
          </a:solidFill>
          <a:ln/>
        </p:spPr>
      </p:sp>
      <p:sp>
        <p:nvSpPr>
          <p:cNvPr id="17" name="Text 15"/>
          <p:cNvSpPr/>
          <p:nvPr/>
        </p:nvSpPr>
        <p:spPr>
          <a:xfrm>
            <a:off x="7626096" y="20574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C0B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626096" y="27432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6096" y="329184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desktop, tablet, and mobile.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765792" y="1828800"/>
            <a:ext cx="2103120" cy="35661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930384" y="20574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4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930384" y="2743200"/>
            <a:ext cx="17739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930384" y="3291840"/>
            <a:ext cx="177393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both academic and workplace use.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Around Everyday Users, Not Just Experts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48840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6334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researchers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19202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2148840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0" name="Text 8"/>
          <p:cNvSpPr/>
          <p:nvPr/>
        </p:nvSpPr>
        <p:spPr>
          <a:xfrm>
            <a:off x="4599432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9432" y="26334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professionals &amp; educators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3024" y="192024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21624" y="2148840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4" name="Text 12"/>
          <p:cNvSpPr/>
          <p:nvPr/>
        </p:nvSpPr>
        <p:spPr>
          <a:xfrm>
            <a:off x="8421624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21624" y="2633472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workers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9359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822192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22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30682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of Indian languages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70832" y="3593592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3822192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22" name="Text 20"/>
          <p:cNvSpPr/>
          <p:nvPr/>
        </p:nvSpPr>
        <p:spPr>
          <a:xfrm>
            <a:off x="4599432" y="3822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99432" y="4306824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prefer chatting over search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Principles Behind Every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16152" y="1636776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16152" y="1947672"/>
            <a:ext cx="103510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look and behavior across every page.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587752"/>
            <a:ext cx="457200" cy="457200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6152" y="2532888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16152" y="2843784"/>
            <a:ext cx="103510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 are always easy to spot.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3483864"/>
            <a:ext cx="457200" cy="457200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6152" y="3429000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16152" y="3739896"/>
            <a:ext cx="103510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Loading, success, and error states are always visible.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" y="4379976"/>
            <a:ext cx="457200" cy="457200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16152" y="4325112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Minimalism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16152" y="4636008"/>
            <a:ext cx="103510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what's needed for the current task is shown.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" y="5276088"/>
            <a:ext cx="457200" cy="457200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6152" y="5221224"/>
            <a:ext cx="103510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16152" y="5532120"/>
            <a:ext cx="1035100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to language, history, and habits.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LAYOUT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Zones, Like a Well-Organized Desk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Navigation — logo, search, notifications, profile, theme switch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377440" cy="3063240"/>
          </a:xfrm>
          <a:prstGeom prst="roundRect">
            <a:avLst>
              <a:gd name="adj" fmla="val 3077"/>
            </a:avLst>
          </a:prstGeom>
          <a:solidFill>
            <a:srgbClr val="2F9E8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606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SIDEBAR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0116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063240" y="2423160"/>
            <a:ext cx="5486400" cy="3063240"/>
          </a:xfrm>
          <a:prstGeom prst="roundRect">
            <a:avLst>
              <a:gd name="adj" fmla="val 2388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6060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WORKSPACE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306324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active content — the chat conversation, planner board, uploaded documents, or recommendation cards.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732520" y="2423160"/>
            <a:ext cx="2880360" cy="3063240"/>
          </a:xfrm>
          <a:prstGeom prst="roundRect">
            <a:avLst>
              <a:gd name="adj" fmla="val 2540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2606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UTILITY PANEL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915400" y="3063240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Citations, retrieved excerpts, planner details, and memory suggestions — shown only when relevant.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Consistent Menu, Everywhere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21031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03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21031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103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0" y="210312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1031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32004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32004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2004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2004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0" y="320040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0" y="320040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menu stays visible throughout the app — users are never more than one click from where they want to go.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&amp; BRANDING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Color, Theme, and Typography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51560" cy="1051560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33649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55648" y="2011680"/>
            <a:ext cx="1051560" cy="1051560"/>
          </a:xfrm>
          <a:prstGeom prst="roundRect">
            <a:avLst>
              <a:gd name="adj" fmla="val 13043"/>
            </a:avLst>
          </a:prstGeom>
          <a:solidFill>
            <a:srgbClr val="CCCCC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4208" y="3108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64208" y="33649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62656" y="2011680"/>
            <a:ext cx="1051560" cy="1051560"/>
          </a:xfrm>
          <a:prstGeom prst="roundRect">
            <a:avLst>
              <a:gd name="adj" fmla="val 13043"/>
            </a:avLst>
          </a:prstGeom>
          <a:solidFill>
            <a:srgbClr val="2F9E8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71216" y="3108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71216" y="33649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69664" y="2011680"/>
            <a:ext cx="1051560" cy="1051560"/>
          </a:xfrm>
          <a:prstGeom prst="roundRect">
            <a:avLst>
              <a:gd name="adj" fmla="val 13043"/>
            </a:avLst>
          </a:prstGeom>
          <a:solidFill>
            <a:srgbClr val="C0392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78224" y="3108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078224" y="33649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76672" y="2011680"/>
            <a:ext cx="1051560" cy="1051560"/>
          </a:xfrm>
          <a:prstGeom prst="roundRect">
            <a:avLst>
              <a:gd name="adj" fmla="val 13043"/>
            </a:avLst>
          </a:prstGeom>
          <a:solidFill>
            <a:srgbClr val="E07B39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310896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85232" y="336499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MODES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343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Mode  •  Dark Mode  •  Matches System Setting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949440" y="1600200"/>
            <a:ext cx="4663440" cy="4206240"/>
          </a:xfrm>
          <a:prstGeom prst="roundRect">
            <a:avLst>
              <a:gd name="adj" fmla="val 2174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 HIERARCHY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2376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Title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23760" y="2880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Heading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2376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Text — used for everyday reading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3794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— small supporting detail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23760" y="443484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highly readable fonts are used throughout, with a clear visual hierarchy from title to caption.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App, Every Screen Size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48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three-column layout: sidebar, main workspace, and utility panel all visible at once.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25112" y="18745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2F9E8F"/>
          </a:solidFill>
          <a:ln/>
        </p:spPr>
      </p:sp>
      <p:sp>
        <p:nvSpPr>
          <p:cNvPr id="8" name="Text 6"/>
          <p:cNvSpPr/>
          <p:nvPr/>
        </p:nvSpPr>
        <p:spPr>
          <a:xfrm>
            <a:off x="4553712" y="2148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53712" y="274320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can collapse to save space; the utility panel opens as a drawer when needed.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8745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141B4D"/>
          </a:solidFill>
          <a:ln/>
        </p:spPr>
      </p:sp>
      <p:sp>
        <p:nvSpPr>
          <p:cNvPr id="11" name="Text 9"/>
          <p:cNvSpPr/>
          <p:nvPr/>
        </p:nvSpPr>
        <p:spPr>
          <a:xfrm>
            <a:off x="8330184" y="21488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330184" y="2743200"/>
            <a:ext cx="30632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Single-column layout. Sidebar becomes a pull-out menu; a floating button gives quick access to chat.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Designed So Everyone Can Use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31136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keyboard navigation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231136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2311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86600" y="182880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 support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694176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94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2918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mode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3694176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694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32918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font sizes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5157216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157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47548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focus indicators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63640" y="475488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5157216"/>
            <a:ext cx="384048" cy="384048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51572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86600" y="475488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color contrast &amp; labels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GUIDELINES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Key Features Should Feel to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2F9E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04672" y="2615184"/>
            <a:ext cx="100584" cy="100584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indicator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" y="3182112"/>
            <a:ext cx="100584" cy="100584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358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timestamps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" y="3749040"/>
            <a:ext cx="100584" cy="100584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6027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for AI answers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5112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2F9E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25112" y="178308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325112" y="1783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81144" y="2615184"/>
            <a:ext cx="100584" cy="100584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upload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81144" y="3182112"/>
            <a:ext cx="100584" cy="100584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19" name="Text 17"/>
          <p:cNvSpPr/>
          <p:nvPr/>
        </p:nvSpPr>
        <p:spPr>
          <a:xfrm>
            <a:off x="4782312" y="30358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progress bar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81144" y="3749040"/>
            <a:ext cx="100584" cy="100584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36027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within files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101584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9050">
            <a:solidFill>
              <a:srgbClr val="2F9E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01584" y="178308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101584" y="178308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57616" y="2615184"/>
            <a:ext cx="100584" cy="100584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26" name="Text 24"/>
          <p:cNvSpPr/>
          <p:nvPr/>
        </p:nvSpPr>
        <p:spPr>
          <a:xfrm>
            <a:off x="8558784" y="2468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indicators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357616" y="3182112"/>
            <a:ext cx="100584" cy="100584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28" name="Text 26"/>
          <p:cNvSpPr/>
          <p:nvPr/>
        </p:nvSpPr>
        <p:spPr>
          <a:xfrm>
            <a:off x="8558784" y="30358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checkboxes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357616" y="3749040"/>
            <a:ext cx="100584" cy="100584"/>
          </a:xfrm>
          <a:prstGeom prst="ellipse">
            <a:avLst/>
          </a:prstGeom>
          <a:solidFill>
            <a:srgbClr val="2F9E8F"/>
          </a:solidFill>
          <a:ln/>
        </p:spPr>
      </p:sp>
      <p:sp>
        <p:nvSpPr>
          <p:cNvPr id="30" name="Text 28"/>
          <p:cNvSpPr/>
          <p:nvPr/>
        </p:nvSpPr>
        <p:spPr>
          <a:xfrm>
            <a:off x="8558784" y="360273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roadmap view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GUIDELINES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Memory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Explains why each suggestion is shown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Users can dismiss or save any suggestion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03520" cy="3657600"/>
          </a:xfrm>
          <a:prstGeom prst="roundRect">
            <a:avLst>
              <a:gd name="adj" fmla="val 3000"/>
            </a:avLst>
          </a:prstGeom>
          <a:solidFill>
            <a:srgbClr val="2F9E8F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21031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29400" y="28346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Shows what the AI remembers about you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29400" y="35204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Preferences can be edited or deleted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29400" y="4206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Flags when a memory shaped a response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Quick Tour of Each Screen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196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1945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recent activity, planner progress, and quick actions.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20624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07408" y="18196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07408" y="21945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conversation screen with the AI Concierge.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863840" y="169164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5008" y="181965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65008" y="219456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uploads, indexing status, and file details.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655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9808" y="3840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plans, schedules, and task progress.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20624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07408" y="34655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07408" y="3840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resources, reminders, and suggestions.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863840" y="333756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346557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65008" y="384048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edit, and manage what the AI remembers.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98348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51114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" y="548640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22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theme, notifications, and privacy.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 on the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interaction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87452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collaboration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87452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Multi-window chat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0" y="18745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81160" y="187452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charts &amp; diagrams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support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33375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33375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document annotation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3375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3375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dashboard widgets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0" y="333756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B2557"/>
          </a:solidFill>
          <a:ln w="12700">
            <a:solidFill>
              <a:srgbClr val="2F9E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333756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marketplace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F9E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Accessible, and Built to Grow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784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layout, a design that adapts to any screen, and clear navigation let people focus on getting help from the AI — not on learning the software. The goal: an assistant that feels less like software, and more like a helpful companion for studying, working, and planning.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9E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Concierge — Progress &amp; UI/UX Review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2026-08-03T05:31:24Z</dcterms:created>
  <dcterms:modified xsi:type="dcterms:W3CDTF">2026-08-03T05:31:24Z</dcterms:modified>
</cp:coreProperties>
</file>