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shift plainly: the previous review ended at implementation readiness; this review shows the first substantial implementation milestone — a tested, authenticated backend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executive summary — read it, then let each later slide expand on one part of it. The previous report's immediate objective was a small, working, testable end-to-end prototype; this cycle is the first substantial step toward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table top to bottom — it's the direct continuation of the phase table from the previous roadmap deck. Two phases fully closed, one substantially implemented, one queued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MVP entities, all implemented via SQLAlchemy and reproducibly created through the initial Alembic migration — a real schema-management process rather than ad-hoc table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flow once, top to bottom. Emphasize why this matters for what's coming: memory retrieval, RAG, agent orchestration and LLM calls can be introduced through services and controlled interfaces without coupling those components directly to database or HTTP implementation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resource groups — walk them as one list rather than dwelling on each; the point is coverage. These endpoints are the stable interface the future React frontend will consume, and the natural boundary for the agent orchestrator and LLM service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five-step sequence left to right — this is the clearest single visual in the deck for explaining how authentication actually works end to end. Land on the reusable dependency: it's what every future protected endpoint will plug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answer to 'is this actually secure' before a mentor has to ask it. The last bullet is worth emphasizing specifically — no secrets are committed to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number — 50 passing tests is the strongest validation point in this entire report. Then walk the authentication coverage list as evidence the tests aren't superficial: they cover the negative paths (wrong password, expired token) as thoroughly as the happy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sequential steps — the immediate objective is completing authorization/ownership controls, then building the first working authenticated chat flow, matching the original roadmap's target sequence: user message → backend → LLM → response → stored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work sits within the first four-week foundation period — on schedule if chat lands next. Everything after weeks 1-4 is unchanged from the previously agreed six-month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line for this slide: the next review should focus less on whether the backend exists and more on whether the boundaries are correct for the AI capabilities that will be added next. Leave real silence after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milestone banner verbatim — it's the single clearest sentence in the report. Don't rush the ending; pause after reading it before opening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457200" y="457200"/>
            <a:ext cx="64008" cy="64008"/>
          </a:xfrm>
          <a:prstGeom prst="rect">
            <a:avLst/>
          </a:prstGeom>
          <a:solidFill>
            <a:srgbClr val="0F9E8E"/>
          </a:solidFill>
          <a:ln/>
        </p:spPr>
      </p:sp>
      <p:sp>
        <p:nvSpPr>
          <p:cNvPr id="3" name="Shape 1"/>
          <p:cNvSpPr/>
          <p:nvPr/>
        </p:nvSpPr>
        <p:spPr>
          <a:xfrm>
            <a:off x="603504" y="457200"/>
            <a:ext cx="64008" cy="64008"/>
          </a:xfrm>
          <a:prstGeom prst="rect">
            <a:avLst/>
          </a:prstGeom>
          <a:solidFill>
            <a:srgbClr val="0F9E8E"/>
          </a:solidFill>
          <a:ln/>
        </p:spPr>
      </p:sp>
      <p:sp>
        <p:nvSpPr>
          <p:cNvPr id="4" name="Shape 2"/>
          <p:cNvSpPr/>
          <p:nvPr/>
        </p:nvSpPr>
        <p:spPr>
          <a:xfrm>
            <a:off x="749808" y="457200"/>
            <a:ext cx="64008" cy="64008"/>
          </a:xfrm>
          <a:prstGeom prst="rect">
            <a:avLst/>
          </a:prstGeom>
          <a:solidFill>
            <a:srgbClr val="0F9E8E"/>
          </a:solidFill>
          <a:ln/>
        </p:spPr>
      </p:sp>
      <p:sp>
        <p:nvSpPr>
          <p:cNvPr id="5" name="Shape 3"/>
          <p:cNvSpPr/>
          <p:nvPr/>
        </p:nvSpPr>
        <p:spPr>
          <a:xfrm>
            <a:off x="896112" y="457200"/>
            <a:ext cx="64008" cy="64008"/>
          </a:xfrm>
          <a:prstGeom prst="rect">
            <a:avLst/>
          </a:prstGeom>
          <a:solidFill>
            <a:srgbClr val="0F9E8E"/>
          </a:solidFill>
          <a:ln/>
        </p:spPr>
      </p:sp>
      <p:sp>
        <p:nvSpPr>
          <p:cNvPr id="6" name="Shape 4"/>
          <p:cNvSpPr/>
          <p:nvPr/>
        </p:nvSpPr>
        <p:spPr>
          <a:xfrm>
            <a:off x="1042416" y="457200"/>
            <a:ext cx="64008" cy="64008"/>
          </a:xfrm>
          <a:prstGeom prst="rect">
            <a:avLst/>
          </a:prstGeom>
          <a:solidFill>
            <a:srgbClr val="0F9E8E"/>
          </a:solidFill>
          <a:ln/>
        </p:spPr>
      </p:sp>
      <p:sp>
        <p:nvSpPr>
          <p:cNvPr id="7" name="Shape 5"/>
          <p:cNvSpPr/>
          <p:nvPr/>
        </p:nvSpPr>
        <p:spPr>
          <a:xfrm>
            <a:off x="1188720" y="457200"/>
            <a:ext cx="64008" cy="64008"/>
          </a:xfrm>
          <a:prstGeom prst="rect">
            <a:avLst/>
          </a:prstGeom>
          <a:solidFill>
            <a:srgbClr val="0F9E8E"/>
          </a:solidFill>
          <a:ln/>
        </p:spPr>
      </p:sp>
      <p:sp>
        <p:nvSpPr>
          <p:cNvPr id="8" name="Shape 6"/>
          <p:cNvSpPr/>
          <p:nvPr/>
        </p:nvSpPr>
        <p:spPr>
          <a:xfrm>
            <a:off x="1335024" y="457200"/>
            <a:ext cx="64008" cy="64008"/>
          </a:xfrm>
          <a:prstGeom prst="rect">
            <a:avLst/>
          </a:prstGeom>
          <a:solidFill>
            <a:srgbClr val="0F9E8E"/>
          </a:solidFill>
          <a:ln/>
        </p:spPr>
      </p:sp>
      <p:sp>
        <p:nvSpPr>
          <p:cNvPr id="9" name="Shape 7"/>
          <p:cNvSpPr/>
          <p:nvPr/>
        </p:nvSpPr>
        <p:spPr>
          <a:xfrm>
            <a:off x="1481328" y="457200"/>
            <a:ext cx="64008" cy="64008"/>
          </a:xfrm>
          <a:prstGeom prst="rect">
            <a:avLst/>
          </a:prstGeom>
          <a:solidFill>
            <a:srgbClr val="0F9E8E"/>
          </a:solidFill>
          <a:ln/>
        </p:spPr>
      </p:sp>
      <p:sp>
        <p:nvSpPr>
          <p:cNvPr id="10" name="Shape 8"/>
          <p:cNvSpPr/>
          <p:nvPr/>
        </p:nvSpPr>
        <p:spPr>
          <a:xfrm>
            <a:off x="457200" y="603504"/>
            <a:ext cx="64008" cy="64008"/>
          </a:xfrm>
          <a:prstGeom prst="rect">
            <a:avLst/>
          </a:prstGeom>
          <a:solidFill>
            <a:srgbClr val="0F9E8E"/>
          </a:solidFill>
          <a:ln/>
        </p:spPr>
      </p:sp>
      <p:sp>
        <p:nvSpPr>
          <p:cNvPr id="11" name="Shape 9"/>
          <p:cNvSpPr/>
          <p:nvPr/>
        </p:nvSpPr>
        <p:spPr>
          <a:xfrm>
            <a:off x="603504" y="603504"/>
            <a:ext cx="64008" cy="64008"/>
          </a:xfrm>
          <a:prstGeom prst="rect">
            <a:avLst/>
          </a:prstGeom>
          <a:solidFill>
            <a:srgbClr val="0F9E8E"/>
          </a:solidFill>
          <a:ln/>
        </p:spPr>
      </p:sp>
      <p:sp>
        <p:nvSpPr>
          <p:cNvPr id="12" name="Shape 10"/>
          <p:cNvSpPr/>
          <p:nvPr/>
        </p:nvSpPr>
        <p:spPr>
          <a:xfrm>
            <a:off x="749808" y="603504"/>
            <a:ext cx="64008" cy="64008"/>
          </a:xfrm>
          <a:prstGeom prst="rect">
            <a:avLst/>
          </a:prstGeom>
          <a:solidFill>
            <a:srgbClr val="0F9E8E"/>
          </a:solidFill>
          <a:ln/>
        </p:spPr>
      </p:sp>
      <p:sp>
        <p:nvSpPr>
          <p:cNvPr id="13" name="Shape 11"/>
          <p:cNvSpPr/>
          <p:nvPr/>
        </p:nvSpPr>
        <p:spPr>
          <a:xfrm>
            <a:off x="896112" y="603504"/>
            <a:ext cx="64008" cy="64008"/>
          </a:xfrm>
          <a:prstGeom prst="rect">
            <a:avLst/>
          </a:prstGeom>
          <a:solidFill>
            <a:srgbClr val="0F9E8E"/>
          </a:solidFill>
          <a:ln/>
        </p:spPr>
      </p:sp>
      <p:sp>
        <p:nvSpPr>
          <p:cNvPr id="14" name="Shape 12"/>
          <p:cNvSpPr/>
          <p:nvPr/>
        </p:nvSpPr>
        <p:spPr>
          <a:xfrm>
            <a:off x="1042416" y="603504"/>
            <a:ext cx="64008" cy="64008"/>
          </a:xfrm>
          <a:prstGeom prst="rect">
            <a:avLst/>
          </a:prstGeom>
          <a:solidFill>
            <a:srgbClr val="0F9E8E"/>
          </a:solidFill>
          <a:ln/>
        </p:spPr>
      </p:sp>
      <p:sp>
        <p:nvSpPr>
          <p:cNvPr id="15" name="Shape 13"/>
          <p:cNvSpPr/>
          <p:nvPr/>
        </p:nvSpPr>
        <p:spPr>
          <a:xfrm>
            <a:off x="1188720" y="603504"/>
            <a:ext cx="64008" cy="64008"/>
          </a:xfrm>
          <a:prstGeom prst="rect">
            <a:avLst/>
          </a:prstGeom>
          <a:solidFill>
            <a:srgbClr val="0F9E8E"/>
          </a:solidFill>
          <a:ln/>
        </p:spPr>
      </p:sp>
      <p:sp>
        <p:nvSpPr>
          <p:cNvPr id="16" name="Shape 14"/>
          <p:cNvSpPr/>
          <p:nvPr/>
        </p:nvSpPr>
        <p:spPr>
          <a:xfrm>
            <a:off x="1335024" y="603504"/>
            <a:ext cx="64008" cy="64008"/>
          </a:xfrm>
          <a:prstGeom prst="rect">
            <a:avLst/>
          </a:prstGeom>
          <a:solidFill>
            <a:srgbClr val="0F9E8E"/>
          </a:solidFill>
          <a:ln/>
        </p:spPr>
      </p:sp>
      <p:sp>
        <p:nvSpPr>
          <p:cNvPr id="17" name="Shape 15"/>
          <p:cNvSpPr/>
          <p:nvPr/>
        </p:nvSpPr>
        <p:spPr>
          <a:xfrm>
            <a:off x="1481328" y="603504"/>
            <a:ext cx="64008" cy="64008"/>
          </a:xfrm>
          <a:prstGeom prst="rect">
            <a:avLst/>
          </a:prstGeom>
          <a:solidFill>
            <a:srgbClr val="0F9E8E"/>
          </a:solidFill>
          <a:ln/>
        </p:spPr>
      </p:sp>
      <p:sp>
        <p:nvSpPr>
          <p:cNvPr id="18" name="Shape 16"/>
          <p:cNvSpPr/>
          <p:nvPr/>
        </p:nvSpPr>
        <p:spPr>
          <a:xfrm>
            <a:off x="457200" y="749808"/>
            <a:ext cx="64008" cy="64008"/>
          </a:xfrm>
          <a:prstGeom prst="rect">
            <a:avLst/>
          </a:prstGeom>
          <a:solidFill>
            <a:srgbClr val="0F9E8E"/>
          </a:solidFill>
          <a:ln/>
        </p:spPr>
      </p:sp>
      <p:sp>
        <p:nvSpPr>
          <p:cNvPr id="19" name="Shape 17"/>
          <p:cNvSpPr/>
          <p:nvPr/>
        </p:nvSpPr>
        <p:spPr>
          <a:xfrm>
            <a:off x="603504" y="749808"/>
            <a:ext cx="64008" cy="64008"/>
          </a:xfrm>
          <a:prstGeom prst="rect">
            <a:avLst/>
          </a:prstGeom>
          <a:solidFill>
            <a:srgbClr val="0F9E8E"/>
          </a:solidFill>
          <a:ln/>
        </p:spPr>
      </p:sp>
      <p:sp>
        <p:nvSpPr>
          <p:cNvPr id="20" name="Shape 18"/>
          <p:cNvSpPr/>
          <p:nvPr/>
        </p:nvSpPr>
        <p:spPr>
          <a:xfrm>
            <a:off x="749808" y="749808"/>
            <a:ext cx="64008" cy="64008"/>
          </a:xfrm>
          <a:prstGeom prst="rect">
            <a:avLst/>
          </a:prstGeom>
          <a:solidFill>
            <a:srgbClr val="0F9E8E"/>
          </a:solidFill>
          <a:ln/>
        </p:spPr>
      </p:sp>
      <p:sp>
        <p:nvSpPr>
          <p:cNvPr id="21" name="Shape 19"/>
          <p:cNvSpPr/>
          <p:nvPr/>
        </p:nvSpPr>
        <p:spPr>
          <a:xfrm>
            <a:off x="896112" y="749808"/>
            <a:ext cx="64008" cy="64008"/>
          </a:xfrm>
          <a:prstGeom prst="rect">
            <a:avLst/>
          </a:prstGeom>
          <a:solidFill>
            <a:srgbClr val="0F9E8E"/>
          </a:solidFill>
          <a:ln/>
        </p:spPr>
      </p:sp>
      <p:sp>
        <p:nvSpPr>
          <p:cNvPr id="22" name="Shape 20"/>
          <p:cNvSpPr/>
          <p:nvPr/>
        </p:nvSpPr>
        <p:spPr>
          <a:xfrm>
            <a:off x="1042416" y="749808"/>
            <a:ext cx="64008" cy="64008"/>
          </a:xfrm>
          <a:prstGeom prst="rect">
            <a:avLst/>
          </a:prstGeom>
          <a:solidFill>
            <a:srgbClr val="0F9E8E"/>
          </a:solidFill>
          <a:ln/>
        </p:spPr>
      </p:sp>
      <p:sp>
        <p:nvSpPr>
          <p:cNvPr id="23" name="Shape 21"/>
          <p:cNvSpPr/>
          <p:nvPr/>
        </p:nvSpPr>
        <p:spPr>
          <a:xfrm>
            <a:off x="1188720" y="749808"/>
            <a:ext cx="64008" cy="64008"/>
          </a:xfrm>
          <a:prstGeom prst="rect">
            <a:avLst/>
          </a:prstGeom>
          <a:solidFill>
            <a:srgbClr val="0F9E8E"/>
          </a:solidFill>
          <a:ln/>
        </p:spPr>
      </p:sp>
      <p:sp>
        <p:nvSpPr>
          <p:cNvPr id="24" name="Shape 22"/>
          <p:cNvSpPr/>
          <p:nvPr/>
        </p:nvSpPr>
        <p:spPr>
          <a:xfrm>
            <a:off x="1335024" y="749808"/>
            <a:ext cx="64008" cy="64008"/>
          </a:xfrm>
          <a:prstGeom prst="rect">
            <a:avLst/>
          </a:prstGeom>
          <a:solidFill>
            <a:srgbClr val="0F9E8E"/>
          </a:solidFill>
          <a:ln/>
        </p:spPr>
      </p:sp>
      <p:sp>
        <p:nvSpPr>
          <p:cNvPr id="25" name="Shape 23"/>
          <p:cNvSpPr/>
          <p:nvPr/>
        </p:nvSpPr>
        <p:spPr>
          <a:xfrm>
            <a:off x="1481328" y="749808"/>
            <a:ext cx="64008" cy="64008"/>
          </a:xfrm>
          <a:prstGeom prst="rect">
            <a:avLst/>
          </a:prstGeom>
          <a:solidFill>
            <a:srgbClr val="0F9E8E"/>
          </a:solidFill>
          <a:ln/>
        </p:spPr>
      </p:sp>
      <p:sp>
        <p:nvSpPr>
          <p:cNvPr id="26" name="Shape 24"/>
          <p:cNvSpPr/>
          <p:nvPr/>
        </p:nvSpPr>
        <p:spPr>
          <a:xfrm>
            <a:off x="457200" y="896112"/>
            <a:ext cx="64008" cy="64008"/>
          </a:xfrm>
          <a:prstGeom prst="rect">
            <a:avLst/>
          </a:prstGeom>
          <a:solidFill>
            <a:srgbClr val="0F9E8E"/>
          </a:solidFill>
          <a:ln/>
        </p:spPr>
      </p:sp>
      <p:sp>
        <p:nvSpPr>
          <p:cNvPr id="27" name="Shape 25"/>
          <p:cNvSpPr/>
          <p:nvPr/>
        </p:nvSpPr>
        <p:spPr>
          <a:xfrm>
            <a:off x="603504" y="896112"/>
            <a:ext cx="64008" cy="64008"/>
          </a:xfrm>
          <a:prstGeom prst="rect">
            <a:avLst/>
          </a:prstGeom>
          <a:solidFill>
            <a:srgbClr val="0F9E8E"/>
          </a:solidFill>
          <a:ln/>
        </p:spPr>
      </p:sp>
      <p:sp>
        <p:nvSpPr>
          <p:cNvPr id="28" name="Shape 26"/>
          <p:cNvSpPr/>
          <p:nvPr/>
        </p:nvSpPr>
        <p:spPr>
          <a:xfrm>
            <a:off x="749808" y="896112"/>
            <a:ext cx="64008" cy="64008"/>
          </a:xfrm>
          <a:prstGeom prst="rect">
            <a:avLst/>
          </a:prstGeom>
          <a:solidFill>
            <a:srgbClr val="0F9E8E"/>
          </a:solidFill>
          <a:ln/>
        </p:spPr>
      </p:sp>
      <p:sp>
        <p:nvSpPr>
          <p:cNvPr id="29" name="Shape 27"/>
          <p:cNvSpPr/>
          <p:nvPr/>
        </p:nvSpPr>
        <p:spPr>
          <a:xfrm>
            <a:off x="896112" y="896112"/>
            <a:ext cx="64008" cy="64008"/>
          </a:xfrm>
          <a:prstGeom prst="rect">
            <a:avLst/>
          </a:prstGeom>
          <a:solidFill>
            <a:srgbClr val="0F9E8E"/>
          </a:solidFill>
          <a:ln/>
        </p:spPr>
      </p:sp>
      <p:sp>
        <p:nvSpPr>
          <p:cNvPr id="30" name="Shape 28"/>
          <p:cNvSpPr/>
          <p:nvPr/>
        </p:nvSpPr>
        <p:spPr>
          <a:xfrm>
            <a:off x="1042416" y="896112"/>
            <a:ext cx="64008" cy="64008"/>
          </a:xfrm>
          <a:prstGeom prst="rect">
            <a:avLst/>
          </a:prstGeom>
          <a:solidFill>
            <a:srgbClr val="0F9E8E"/>
          </a:solidFill>
          <a:ln/>
        </p:spPr>
      </p:sp>
      <p:sp>
        <p:nvSpPr>
          <p:cNvPr id="31" name="Shape 29"/>
          <p:cNvSpPr/>
          <p:nvPr/>
        </p:nvSpPr>
        <p:spPr>
          <a:xfrm>
            <a:off x="1188720" y="896112"/>
            <a:ext cx="64008" cy="64008"/>
          </a:xfrm>
          <a:prstGeom prst="rect">
            <a:avLst/>
          </a:prstGeom>
          <a:solidFill>
            <a:srgbClr val="0F9E8E"/>
          </a:solidFill>
          <a:ln/>
        </p:spPr>
      </p:sp>
      <p:sp>
        <p:nvSpPr>
          <p:cNvPr id="32" name="Shape 30"/>
          <p:cNvSpPr/>
          <p:nvPr/>
        </p:nvSpPr>
        <p:spPr>
          <a:xfrm>
            <a:off x="1335024" y="896112"/>
            <a:ext cx="64008" cy="64008"/>
          </a:xfrm>
          <a:prstGeom prst="rect">
            <a:avLst/>
          </a:prstGeom>
          <a:solidFill>
            <a:srgbClr val="0F9E8E"/>
          </a:solidFill>
          <a:ln/>
        </p:spPr>
      </p:sp>
      <p:sp>
        <p:nvSpPr>
          <p:cNvPr id="33" name="Shape 31"/>
          <p:cNvSpPr/>
          <p:nvPr/>
        </p:nvSpPr>
        <p:spPr>
          <a:xfrm>
            <a:off x="1481328" y="896112"/>
            <a:ext cx="64008" cy="64008"/>
          </a:xfrm>
          <a:prstGeom prst="rect">
            <a:avLst/>
          </a:prstGeom>
          <a:solidFill>
            <a:srgbClr val="0F9E8E"/>
          </a:solidFill>
          <a:ln/>
        </p:spPr>
      </p:sp>
      <p:sp>
        <p:nvSpPr>
          <p:cNvPr id="34" name="Shape 32"/>
          <p:cNvSpPr/>
          <p:nvPr/>
        </p:nvSpPr>
        <p:spPr>
          <a:xfrm>
            <a:off x="457200" y="1042416"/>
            <a:ext cx="64008" cy="64008"/>
          </a:xfrm>
          <a:prstGeom prst="rect">
            <a:avLst/>
          </a:prstGeom>
          <a:solidFill>
            <a:srgbClr val="0F9E8E"/>
          </a:solidFill>
          <a:ln/>
        </p:spPr>
      </p:sp>
      <p:sp>
        <p:nvSpPr>
          <p:cNvPr id="35" name="Shape 33"/>
          <p:cNvSpPr/>
          <p:nvPr/>
        </p:nvSpPr>
        <p:spPr>
          <a:xfrm>
            <a:off x="603504" y="1042416"/>
            <a:ext cx="64008" cy="64008"/>
          </a:xfrm>
          <a:prstGeom prst="rect">
            <a:avLst/>
          </a:prstGeom>
          <a:solidFill>
            <a:srgbClr val="0F9E8E"/>
          </a:solidFill>
          <a:ln/>
        </p:spPr>
      </p:sp>
      <p:sp>
        <p:nvSpPr>
          <p:cNvPr id="36" name="Shape 34"/>
          <p:cNvSpPr/>
          <p:nvPr/>
        </p:nvSpPr>
        <p:spPr>
          <a:xfrm>
            <a:off x="749808" y="1042416"/>
            <a:ext cx="64008" cy="64008"/>
          </a:xfrm>
          <a:prstGeom prst="rect">
            <a:avLst/>
          </a:prstGeom>
          <a:solidFill>
            <a:srgbClr val="0F9E8E"/>
          </a:solidFill>
          <a:ln/>
        </p:spPr>
      </p:sp>
      <p:sp>
        <p:nvSpPr>
          <p:cNvPr id="37" name="Shape 35"/>
          <p:cNvSpPr/>
          <p:nvPr/>
        </p:nvSpPr>
        <p:spPr>
          <a:xfrm>
            <a:off x="896112" y="1042416"/>
            <a:ext cx="64008" cy="64008"/>
          </a:xfrm>
          <a:prstGeom prst="rect">
            <a:avLst/>
          </a:prstGeom>
          <a:solidFill>
            <a:srgbClr val="0F9E8E"/>
          </a:solidFill>
          <a:ln/>
        </p:spPr>
      </p:sp>
      <p:sp>
        <p:nvSpPr>
          <p:cNvPr id="38" name="Shape 36"/>
          <p:cNvSpPr/>
          <p:nvPr/>
        </p:nvSpPr>
        <p:spPr>
          <a:xfrm>
            <a:off x="1042416" y="1042416"/>
            <a:ext cx="64008" cy="64008"/>
          </a:xfrm>
          <a:prstGeom prst="rect">
            <a:avLst/>
          </a:prstGeom>
          <a:solidFill>
            <a:srgbClr val="0F9E8E"/>
          </a:solidFill>
          <a:ln/>
        </p:spPr>
      </p:sp>
      <p:sp>
        <p:nvSpPr>
          <p:cNvPr id="39" name="Shape 37"/>
          <p:cNvSpPr/>
          <p:nvPr/>
        </p:nvSpPr>
        <p:spPr>
          <a:xfrm>
            <a:off x="1188720" y="1042416"/>
            <a:ext cx="64008" cy="64008"/>
          </a:xfrm>
          <a:prstGeom prst="rect">
            <a:avLst/>
          </a:prstGeom>
          <a:solidFill>
            <a:srgbClr val="0F9E8E"/>
          </a:solidFill>
          <a:ln/>
        </p:spPr>
      </p:sp>
      <p:sp>
        <p:nvSpPr>
          <p:cNvPr id="40" name="Shape 38"/>
          <p:cNvSpPr/>
          <p:nvPr/>
        </p:nvSpPr>
        <p:spPr>
          <a:xfrm>
            <a:off x="1335024" y="1042416"/>
            <a:ext cx="64008" cy="64008"/>
          </a:xfrm>
          <a:prstGeom prst="rect">
            <a:avLst/>
          </a:prstGeom>
          <a:solidFill>
            <a:srgbClr val="0F9E8E"/>
          </a:solidFill>
          <a:ln/>
        </p:spPr>
      </p:sp>
      <p:sp>
        <p:nvSpPr>
          <p:cNvPr id="41" name="Shape 39"/>
          <p:cNvSpPr/>
          <p:nvPr/>
        </p:nvSpPr>
        <p:spPr>
          <a:xfrm>
            <a:off x="1481328" y="1042416"/>
            <a:ext cx="64008" cy="64008"/>
          </a:xfrm>
          <a:prstGeom prst="rect">
            <a:avLst/>
          </a:prstGeom>
          <a:solidFill>
            <a:srgbClr val="0F9E8E"/>
          </a:solidFill>
          <a:ln/>
        </p:spPr>
      </p:sp>
      <p:sp>
        <p:nvSpPr>
          <p:cNvPr id="42" name="Text 40"/>
          <p:cNvSpPr/>
          <p:nvPr/>
        </p:nvSpPr>
        <p:spPr>
          <a:xfrm>
            <a:off x="548640" y="1828800"/>
            <a:ext cx="10058400" cy="365760"/>
          </a:xfrm>
          <a:prstGeom prst="rect">
            <a:avLst/>
          </a:prstGeom>
          <a:noFill/>
          <a:ln/>
        </p:spPr>
        <p:txBody>
          <a:bodyPr wrap="square" rtlCol="0" anchor="ctr"/>
          <a:lstStyle/>
          <a:p>
            <a:pPr indent="0" marL="0">
              <a:buNone/>
            </a:pPr>
            <a:r>
              <a:rPr lang="en-US" sz="1400" dirty="0">
                <a:solidFill>
                  <a:srgbClr val="0F9E8E"/>
                </a:solidFill>
                <a:latin typeface="Courier New" pitchFamily="34" charset="0"/>
                <a:ea typeface="Courier New" pitchFamily="34" charset="-122"/>
                <a:cs typeface="Courier New" pitchFamily="34" charset="-120"/>
              </a:rPr>
              <a:t>AI_CONCIERGE / BACKEND_AUTH_TESTING_PROGRESS.md</a:t>
            </a:r>
            <a:endParaRPr lang="en-US" sz="1400" dirty="0"/>
          </a:p>
        </p:txBody>
      </p:sp>
      <p:sp>
        <p:nvSpPr>
          <p:cNvPr id="43" name="Text 41"/>
          <p:cNvSpPr/>
          <p:nvPr/>
        </p:nvSpPr>
        <p:spPr>
          <a:xfrm>
            <a:off x="548640" y="2286000"/>
            <a:ext cx="10058400" cy="914400"/>
          </a:xfrm>
          <a:prstGeom prst="rect">
            <a:avLst/>
          </a:prstGeom>
          <a:noFill/>
          <a:ln/>
        </p:spPr>
        <p:txBody>
          <a:bodyPr wrap="square" rtlCol="0" anchor="ctr"/>
          <a:lstStyle/>
          <a:p>
            <a:pPr indent="0" marL="0">
              <a:buNone/>
            </a:pPr>
            <a:r>
              <a:rPr lang="en-US" sz="4200" b="1" dirty="0">
                <a:solidFill>
                  <a:srgbClr val="FFFFFF"/>
                </a:solidFill>
                <a:latin typeface="Helvetica" pitchFamily="34" charset="0"/>
                <a:ea typeface="Helvetica" pitchFamily="34" charset="-122"/>
                <a:cs typeface="Helvetica" pitchFamily="34" charset="-120"/>
              </a:rPr>
              <a:t>AI Concierge Platform</a:t>
            </a:r>
            <a:endParaRPr lang="en-US" sz="4200" dirty="0"/>
          </a:p>
        </p:txBody>
      </p:sp>
      <p:sp>
        <p:nvSpPr>
          <p:cNvPr id="44" name="Text 42"/>
          <p:cNvSpPr/>
          <p:nvPr/>
        </p:nvSpPr>
        <p:spPr>
          <a:xfrm>
            <a:off x="548640" y="3200400"/>
            <a:ext cx="10515600" cy="54864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Backend Implementation, Authentication &amp; Testing Progress</a:t>
            </a:r>
            <a:endParaRPr lang="en-US" sz="2000" dirty="0"/>
          </a:p>
        </p:txBody>
      </p:sp>
      <p:sp>
        <p:nvSpPr>
          <p:cNvPr id="45" name="Text 43"/>
          <p:cNvSpPr/>
          <p:nvPr/>
        </p:nvSpPr>
        <p:spPr>
          <a:xfrm>
            <a:off x="548640" y="3794760"/>
            <a:ext cx="10058400" cy="365760"/>
          </a:xfrm>
          <a:prstGeom prst="rect">
            <a:avLst/>
          </a:prstGeom>
          <a:noFill/>
          <a:ln/>
        </p:spPr>
        <p:txBody>
          <a:bodyPr wrap="square" rtlCol="0" anchor="ctr"/>
          <a:lstStyle/>
          <a:p>
            <a:pPr indent="0" marL="0">
              <a:buNone/>
            </a:pPr>
            <a:r>
              <a:rPr lang="en-US" sz="1400" dirty="0">
                <a:solidFill>
                  <a:srgbClr val="C7D0DE"/>
                </a:solidFill>
                <a:latin typeface="Helvetica" pitchFamily="34" charset="0"/>
                <a:ea typeface="Helvetica" pitchFamily="34" charset="-122"/>
                <a:cs typeface="Helvetica" pitchFamily="34" charset="-120"/>
              </a:rPr>
              <a:t>Backend  •  Database  •  Authentication  •  APIs  •  Testing</a:t>
            </a:r>
            <a:endParaRPr lang="en-US" sz="1400" dirty="0"/>
          </a:p>
        </p:txBody>
      </p:sp>
      <p:sp>
        <p:nvSpPr>
          <p:cNvPr id="46" name="Text 44"/>
          <p:cNvSpPr/>
          <p:nvPr/>
        </p:nvSpPr>
        <p:spPr>
          <a:xfrm>
            <a:off x="548640" y="4206240"/>
            <a:ext cx="9601200" cy="365760"/>
          </a:xfrm>
          <a:prstGeom prst="rect">
            <a:avLst/>
          </a:prstGeom>
          <a:noFill/>
          <a:ln/>
        </p:spPr>
        <p:txBody>
          <a:bodyPr wrap="square" rtlCol="0" anchor="ctr"/>
          <a:lstStyle/>
          <a:p>
            <a:pPr indent="0" marL="0">
              <a:buNone/>
            </a:pPr>
            <a:r>
              <a:rPr lang="en-US" sz="1250" i="1" dirty="0">
                <a:solidFill>
                  <a:srgbClr val="C7D0DE"/>
                </a:solidFill>
                <a:latin typeface="Helvetica" pitchFamily="34" charset="0"/>
                <a:ea typeface="Helvetica" pitchFamily="34" charset="-122"/>
                <a:cs typeface="Helvetica" pitchFamily="34" charset="-120"/>
              </a:rPr>
              <a:t>Continuation of the previous UI/UX, technical progress and implementation roadmap review.</a:t>
            </a:r>
            <a:endParaRPr lang="en-US" sz="1250" dirty="0"/>
          </a:p>
        </p:txBody>
      </p:sp>
      <p:sp>
        <p:nvSpPr>
          <p:cNvPr id="47" name="Text 45"/>
          <p:cNvSpPr/>
          <p:nvPr/>
        </p:nvSpPr>
        <p:spPr>
          <a:xfrm>
            <a:off x="548640" y="5120640"/>
            <a:ext cx="7315200" cy="320040"/>
          </a:xfrm>
          <a:prstGeom prst="rect">
            <a:avLst/>
          </a:prstGeom>
          <a:noFill/>
          <a:ln/>
        </p:spPr>
        <p:txBody>
          <a:bodyPr wrap="square" rtlCol="0" anchor="ctr"/>
          <a:lstStyle/>
          <a:p>
            <a:pPr indent="0" marL="0">
              <a:buNone/>
            </a:pPr>
            <a:r>
              <a:rPr lang="en-US" sz="1300" dirty="0">
                <a:solidFill>
                  <a:srgbClr val="C7D0DE"/>
                </a:solidFill>
                <a:latin typeface="Helvetica" pitchFamily="34" charset="0"/>
                <a:ea typeface="Helvetica" pitchFamily="34" charset="-122"/>
                <a:cs typeface="Helvetica" pitchFamily="34" charset="-120"/>
              </a:rPr>
              <a:t>Prepared by: Sharanya, M.Tech, PES University</a:t>
            </a:r>
            <a:endParaRPr lang="en-US" sz="1300" dirty="0"/>
          </a:p>
        </p:txBody>
      </p:sp>
      <p:sp>
        <p:nvSpPr>
          <p:cNvPr id="48" name="Text 46"/>
          <p:cNvSpPr/>
          <p:nvPr/>
        </p:nvSpPr>
        <p:spPr>
          <a:xfrm>
            <a:off x="548640" y="5440680"/>
            <a:ext cx="9144000" cy="320040"/>
          </a:xfrm>
          <a:prstGeom prst="rect">
            <a:avLst/>
          </a:prstGeom>
          <a:noFill/>
          <a:ln/>
        </p:spPr>
        <p:txBody>
          <a:bodyPr wrap="square" rtlCol="0" anchor="ctr"/>
          <a:lstStyle/>
          <a:p>
            <a:pPr indent="0" marL="0">
              <a:buNone/>
            </a:pPr>
            <a:r>
              <a:rPr lang="en-US" sz="1300" dirty="0">
                <a:solidFill>
                  <a:srgbClr val="C7D0DE"/>
                </a:solidFill>
                <a:latin typeface="Helvetica" pitchFamily="34" charset="0"/>
                <a:ea typeface="Helvetica" pitchFamily="34" charset="-122"/>
                <a:cs typeface="Helvetica" pitchFamily="34" charset="-120"/>
              </a:rPr>
              <a:t>Mentor Progress Review  |  Current Milestone: Authenticated backend foundation implemented and tested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02</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0B1220"/>
                </a:solidFill>
                <a:latin typeface="Helvetica" pitchFamily="34" charset="0"/>
                <a:ea typeface="Helvetica" pitchFamily="34" charset="-122"/>
                <a:cs typeface="Helvetica" pitchFamily="34" charset="-120"/>
              </a:rPr>
              <a:t>Executive Summary</a:t>
            </a:r>
            <a:endParaRPr lang="en-US" sz="2500" dirty="0"/>
          </a:p>
        </p:txBody>
      </p:sp>
      <p:sp>
        <p:nvSpPr>
          <p:cNvPr id="4" name="Shape 2"/>
          <p:cNvSpPr/>
          <p:nvPr/>
        </p:nvSpPr>
        <p:spPr>
          <a:xfrm>
            <a:off x="10088575" y="502920"/>
            <a:ext cx="1554480" cy="310896"/>
          </a:xfrm>
          <a:prstGeom prst="rect">
            <a:avLst/>
          </a:prstGeom>
          <a:solidFill>
            <a:srgbClr val="0F9E8E"/>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summary/</a:t>
            </a:r>
            <a:endParaRPr lang="en-US" sz="100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100"/>
              </a:spcAft>
              <a:buSzPct val="100000"/>
              <a:buChar char="●"/>
            </a:pPr>
            <a:r>
              <a:rPr lang="en-US" sz="1550" dirty="0">
                <a:solidFill>
                  <a:srgbClr val="171C26"/>
                </a:solidFill>
                <a:latin typeface="Helvetica" pitchFamily="34" charset="0"/>
                <a:ea typeface="Helvetica" pitchFamily="34" charset="-122"/>
                <a:cs typeface="Helvetica" pitchFamily="34" charset="-120"/>
              </a:rPr>
              <a:t>The backend project skeleton is operational, PostgreSQL persistence is established, and the initial schema has been migrated.</a:t>
            </a:r>
            <a:endParaRPr lang="en-US" sz="1550" dirty="0"/>
          </a:p>
          <a:p>
            <a:pPr marL="228600" indent="-228600">
              <a:lnSpc>
                <a:spcPct val="115000"/>
              </a:lnSpc>
              <a:spcAft>
                <a:spcPts val="1100"/>
              </a:spcAft>
              <a:buSzPct val="100000"/>
              <a:buChar char="●"/>
            </a:pPr>
            <a:r>
              <a:rPr lang="en-US" sz="1550" dirty="0">
                <a:solidFill>
                  <a:srgbClr val="171C26"/>
                </a:solidFill>
                <a:latin typeface="Helvetica" pitchFamily="34" charset="0"/>
                <a:ea typeface="Helvetica" pitchFamily="34" charset="-122"/>
                <a:cs typeface="Helvetica" pitchFamily="34" charset="-120"/>
              </a:rPr>
              <a:t>The API is organized into distinct router, service, repository and schema layers.</a:t>
            </a:r>
            <a:endParaRPr lang="en-US" sz="1550" dirty="0"/>
          </a:p>
          <a:p>
            <a:pPr marL="228600" indent="-228600">
              <a:lnSpc>
                <a:spcPct val="115000"/>
              </a:lnSpc>
              <a:spcAft>
                <a:spcPts val="1100"/>
              </a:spcAft>
              <a:buSzPct val="100000"/>
              <a:buChar char="●"/>
            </a:pPr>
            <a:r>
              <a:rPr lang="en-US" sz="1550" dirty="0">
                <a:solidFill>
                  <a:srgbClr val="171C26"/>
                </a:solidFill>
                <a:latin typeface="Helvetica" pitchFamily="34" charset="0"/>
                <a:ea typeface="Helvetica" pitchFamily="34" charset="-122"/>
                <a:cs typeface="Helvetica" pitchFamily="34" charset="-120"/>
              </a:rPr>
              <a:t>Eight MVP database entities are implemented using SQLAlchemy and managed through Alembic migrations.</a:t>
            </a:r>
            <a:endParaRPr lang="en-US" sz="1550" dirty="0"/>
          </a:p>
          <a:p>
            <a:pPr marL="228600" indent="-228600">
              <a:lnSpc>
                <a:spcPct val="115000"/>
              </a:lnSpc>
              <a:spcAft>
                <a:spcPts val="1100"/>
              </a:spcAft>
              <a:buSzPct val="100000"/>
              <a:buChar char="●"/>
            </a:pPr>
            <a:r>
              <a:rPr lang="en-US" sz="1550" dirty="0">
                <a:solidFill>
                  <a:srgbClr val="171C26"/>
                </a:solidFill>
                <a:latin typeface="Helvetica" pitchFamily="34" charset="0"/>
                <a:ea typeface="Helvetica" pitchFamily="34" charset="-122"/>
                <a:cs typeface="Helvetica" pitchFamily="34" charset="-120"/>
              </a:rPr>
              <a:t>Authentication is implemented end to end: registration, Argon2 password hashing, JWT issuance, and protected-route resolution.</a:t>
            </a:r>
            <a:endParaRPr lang="en-US" sz="1550" dirty="0"/>
          </a:p>
          <a:p>
            <a:pPr marL="228600" indent="-228600">
              <a:lnSpc>
                <a:spcPct val="115000"/>
              </a:lnSpc>
              <a:spcAft>
                <a:spcPts val="1100"/>
              </a:spcAft>
              <a:buSzPct val="100000"/>
              <a:buChar char="●"/>
            </a:pPr>
            <a:r>
              <a:rPr lang="en-US" sz="1550" dirty="0">
                <a:solidFill>
                  <a:srgbClr val="171C26"/>
                </a:solidFill>
                <a:latin typeface="Helvetica" pitchFamily="34" charset="0"/>
                <a:ea typeface="Helvetica" pitchFamily="34" charset="-122"/>
                <a:cs typeface="Helvetica" pitchFamily="34" charset="-120"/>
              </a:rPr>
              <a:t>The backend test suite contains 50 passing tests, covering database/API and authentication behavior.</a:t>
            </a:r>
            <a:endParaRPr lang="en-US" sz="1550" dirty="0"/>
          </a:p>
        </p:txBody>
      </p:sp>
      <p:sp>
        <p:nvSpPr>
          <p:cNvPr id="7" name="Text 5"/>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03</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0B1220"/>
                </a:solidFill>
                <a:latin typeface="Helvetica" pitchFamily="34" charset="0"/>
                <a:ea typeface="Helvetica" pitchFamily="34" charset="-122"/>
                <a:cs typeface="Helvetica" pitchFamily="34" charset="-120"/>
              </a:rPr>
              <a:t>Progress Against the Previous Roadmap</a:t>
            </a:r>
            <a:endParaRPr lang="en-US" sz="2500" dirty="0"/>
          </a:p>
        </p:txBody>
      </p:sp>
      <p:sp>
        <p:nvSpPr>
          <p:cNvPr id="4" name="Shape 2"/>
          <p:cNvSpPr/>
          <p:nvPr/>
        </p:nvSpPr>
        <p:spPr>
          <a:xfrm>
            <a:off x="10088575" y="502920"/>
            <a:ext cx="1554480" cy="310896"/>
          </a:xfrm>
          <a:prstGeom prst="rect">
            <a:avLst/>
          </a:prstGeom>
          <a:solidFill>
            <a:srgbClr val="0F9E8E"/>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roadmap/</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51760"/>
                <a:gridCol w="8442655"/>
              </a:tblGrid>
              <a:tr h="566928">
                <a:tc>
                  <a:txBody>
                    <a:bodyPr/>
                    <a:lstStyle/>
                    <a:p>
                      <a:pPr indent="0" marL="0">
                        <a:buNone/>
                      </a:pPr>
                      <a:r>
                        <a:rPr lang="en-US" sz="1250" b="1" dirty="0">
                          <a:solidFill>
                            <a:srgbClr val="0F9E8E"/>
                          </a:solidFill>
                          <a:latin typeface="Courier New" pitchFamily="34" charset="0"/>
                          <a:ea typeface="Courier New" pitchFamily="34" charset="-122"/>
                          <a:cs typeface="Courier New" pitchFamily="34" charset="-120"/>
                        </a:rPr>
                        <a:t>Foundation</a:t>
                      </a:r>
                      <a:endParaRPr lang="en-US" sz="12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00" dirty="0">
                          <a:solidFill>
                            <a:srgbClr val="171C26"/>
                          </a:solidFill>
                          <a:latin typeface="Helvetica" pitchFamily="34" charset="0"/>
                          <a:ea typeface="Helvetica" pitchFamily="34" charset="-122"/>
                          <a:cs typeface="Helvetica" pitchFamily="34" charset="-120"/>
                        </a:rPr>
                        <a:t>Complete — FastAPI skeleton and health endpoint operational.</a:t>
                      </a:r>
                      <a:endParaRPr lang="en-US" sz="13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66928">
                <a:tc>
                  <a:txBody>
                    <a:bodyPr/>
                    <a:lstStyle/>
                    <a:p>
                      <a:pPr indent="0" marL="0">
                        <a:buNone/>
                      </a:pPr>
                      <a:r>
                        <a:rPr lang="en-US" sz="1250" b="1" dirty="0">
                          <a:solidFill>
                            <a:srgbClr val="0F9E8E"/>
                          </a:solidFill>
                          <a:latin typeface="Courier New" pitchFamily="34" charset="0"/>
                          <a:ea typeface="Courier New" pitchFamily="34" charset="-122"/>
                          <a:cs typeface="Courier New" pitchFamily="34" charset="-120"/>
                        </a:rPr>
                        <a:t>Database</a:t>
                      </a:r>
                      <a:endParaRPr lang="en-US" sz="12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00" dirty="0">
                          <a:solidFill>
                            <a:srgbClr val="171C26"/>
                          </a:solidFill>
                          <a:latin typeface="Helvetica" pitchFamily="34" charset="0"/>
                          <a:ea typeface="Helvetica" pitchFamily="34" charset="-122"/>
                          <a:cs typeface="Helvetica" pitchFamily="34" charset="-120"/>
                        </a:rPr>
                        <a:t>Complete — PostgreSQL, models, Alembic, repositories, services and APIs implemented.</a:t>
                      </a:r>
                      <a:endParaRPr lang="en-US" sz="13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66928">
                <a:tc>
                  <a:txBody>
                    <a:bodyPr/>
                    <a:lstStyle/>
                    <a:p>
                      <a:pPr indent="0" marL="0">
                        <a:buNone/>
                      </a:pPr>
                      <a:r>
                        <a:rPr lang="en-US" sz="1250" b="1" dirty="0">
                          <a:solidFill>
                            <a:srgbClr val="0F9E8E"/>
                          </a:solidFill>
                          <a:latin typeface="Courier New" pitchFamily="34" charset="0"/>
                          <a:ea typeface="Courier New" pitchFamily="34" charset="-122"/>
                          <a:cs typeface="Courier New" pitchFamily="34" charset="-120"/>
                        </a:rPr>
                        <a:t>Authentication &amp; APIs</a:t>
                      </a:r>
                      <a:endParaRPr lang="en-US" sz="12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00" dirty="0">
                          <a:solidFill>
                            <a:srgbClr val="171C26"/>
                          </a:solidFill>
                          <a:latin typeface="Helvetica" pitchFamily="34" charset="0"/>
                          <a:ea typeface="Helvetica" pitchFamily="34" charset="-122"/>
                          <a:cs typeface="Helvetica" pitchFamily="34" charset="-120"/>
                        </a:rPr>
                        <a:t>Foundation complete — registration, Argon2 hashing, login, JWT and protected /users/me.</a:t>
                      </a:r>
                      <a:endParaRPr lang="en-US" sz="13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566928">
                <a:tc>
                  <a:txBody>
                    <a:bodyPr/>
                    <a:lstStyle/>
                    <a:p>
                      <a:pPr indent="0" marL="0">
                        <a:buNone/>
                      </a:pPr>
                      <a:r>
                        <a:rPr lang="en-US" sz="1250" b="1" dirty="0">
                          <a:solidFill>
                            <a:srgbClr val="0F9E8E"/>
                          </a:solidFill>
                          <a:latin typeface="Courier New" pitchFamily="34" charset="0"/>
                          <a:ea typeface="Courier New" pitchFamily="34" charset="-122"/>
                          <a:cs typeface="Courier New" pitchFamily="34" charset="-120"/>
                        </a:rPr>
                        <a:t>First Working Chat</a:t>
                      </a:r>
                      <a:endParaRPr lang="en-US" sz="12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300" dirty="0">
                          <a:solidFill>
                            <a:srgbClr val="171C26"/>
                          </a:solidFill>
                          <a:latin typeface="Helvetica" pitchFamily="34" charset="0"/>
                          <a:ea typeface="Helvetica" pitchFamily="34" charset="-122"/>
                          <a:cs typeface="Helvetica" pitchFamily="34" charset="-120"/>
                        </a:rPr>
                        <a:t>Next — conversation/message flow and controlled LLM integration.</a:t>
                      </a:r>
                      <a:endParaRPr lang="en-US" sz="13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bl>
          </a:graphicData>
        </a:graphic>
      </p:graphicFrame>
      <p:sp>
        <p:nvSpPr>
          <p:cNvPr id="7" name="Text 4"/>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8" name="Text 5"/>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04</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0B1220"/>
                </a:solidFill>
                <a:latin typeface="Helvetica" pitchFamily="34" charset="0"/>
                <a:ea typeface="Helvetica" pitchFamily="34" charset="-122"/>
                <a:cs typeface="Helvetica" pitchFamily="34" charset="-120"/>
              </a:rPr>
              <a:t>Backend Foundation</a:t>
            </a:r>
            <a:endParaRPr lang="en-US" sz="2500" dirty="0"/>
          </a:p>
        </p:txBody>
      </p:sp>
      <p:sp>
        <p:nvSpPr>
          <p:cNvPr id="4" name="Shape 2"/>
          <p:cNvSpPr/>
          <p:nvPr/>
        </p:nvSpPr>
        <p:spPr>
          <a:xfrm>
            <a:off x="10088575" y="502920"/>
            <a:ext cx="1554480" cy="310896"/>
          </a:xfrm>
          <a:prstGeom prst="rect">
            <a:avLst/>
          </a:prstGeom>
          <a:solidFill>
            <a:srgbClr val="0F9E8E"/>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foundation/</a:t>
            </a:r>
            <a:endParaRPr lang="en-US" sz="100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100"/>
              </a:spcAft>
              <a:buSzPct val="100000"/>
              <a:buChar char="●"/>
            </a:pPr>
            <a:r>
              <a:rPr lang="en-US" sz="1550" dirty="0">
                <a:solidFill>
                  <a:srgbClr val="171C26"/>
                </a:solidFill>
                <a:latin typeface="Helvetica" pitchFamily="34" charset="0"/>
                <a:ea typeface="Helvetica" pitchFamily="34" charset="-122"/>
                <a:cs typeface="Helvetica" pitchFamily="34" charset="-120"/>
              </a:rPr>
              <a:t>FastAPI application entry point with a working health-check endpoint.</a:t>
            </a:r>
            <a:endParaRPr lang="en-US" sz="1550" dirty="0"/>
          </a:p>
          <a:p>
            <a:pPr marL="228600" indent="-228600">
              <a:lnSpc>
                <a:spcPct val="115000"/>
              </a:lnSpc>
              <a:spcAft>
                <a:spcPts val="1100"/>
              </a:spcAft>
              <a:buSzPct val="100000"/>
              <a:buChar char="●"/>
            </a:pPr>
            <a:r>
              <a:rPr lang="en-US" sz="1550" dirty="0">
                <a:solidFill>
                  <a:srgbClr val="171C26"/>
                </a:solidFill>
                <a:latin typeface="Helvetica" pitchFamily="34" charset="0"/>
                <a:ea typeface="Helvetica" pitchFamily="34" charset="-122"/>
                <a:cs typeface="Helvetica" pitchFamily="34" charset="-120"/>
              </a:rPr>
              <a:t>PostgreSQL database created and connected successfully from the application.</a:t>
            </a:r>
            <a:endParaRPr lang="en-US" sz="1550" dirty="0"/>
          </a:p>
          <a:p>
            <a:pPr marL="228600" indent="-228600">
              <a:lnSpc>
                <a:spcPct val="115000"/>
              </a:lnSpc>
              <a:spcAft>
                <a:spcPts val="1100"/>
              </a:spcAft>
              <a:buSzPct val="100000"/>
              <a:buChar char="●"/>
            </a:pPr>
            <a:r>
              <a:rPr lang="en-US" sz="1550" dirty="0">
                <a:solidFill>
                  <a:srgbClr val="171C26"/>
                </a:solidFill>
                <a:latin typeface="Helvetica" pitchFamily="34" charset="0"/>
                <a:ea typeface="Helvetica" pitchFamily="34" charset="-122"/>
                <a:cs typeface="Helvetica" pitchFamily="34" charset="-120"/>
              </a:rPr>
              <a:t>SQLAlchemy engine with request-scoped database session management.</a:t>
            </a:r>
            <a:endParaRPr lang="en-US" sz="1550" dirty="0"/>
          </a:p>
          <a:p>
            <a:pPr marL="228600" indent="-228600">
              <a:lnSpc>
                <a:spcPct val="115000"/>
              </a:lnSpc>
              <a:spcAft>
                <a:spcPts val="1100"/>
              </a:spcAft>
              <a:buSzPct val="100000"/>
              <a:buChar char="●"/>
            </a:pPr>
            <a:r>
              <a:rPr lang="en-US" sz="1550" dirty="0">
                <a:solidFill>
                  <a:srgbClr val="171C26"/>
                </a:solidFill>
                <a:latin typeface="Helvetica" pitchFamily="34" charset="0"/>
                <a:ea typeface="Helvetica" pitchFamily="34" charset="-122"/>
                <a:cs typeface="Helvetica" pitchFamily="34" charset="-120"/>
              </a:rPr>
              <a:t>Alembic migration environment configured; the initial database migration has been applied.</a:t>
            </a:r>
            <a:endParaRPr lang="en-US" sz="1550" dirty="0"/>
          </a:p>
          <a:p>
            <a:pPr marL="228600" indent="-228600">
              <a:lnSpc>
                <a:spcPct val="115000"/>
              </a:lnSpc>
              <a:spcAft>
                <a:spcPts val="1100"/>
              </a:spcAft>
              <a:buSzPct val="100000"/>
              <a:buChar char="●"/>
            </a:pPr>
            <a:r>
              <a:rPr lang="en-US" sz="1550" dirty="0">
                <a:solidFill>
                  <a:srgbClr val="171C26"/>
                </a:solidFill>
                <a:latin typeface="Helvetica" pitchFamily="34" charset="0"/>
                <a:ea typeface="Helvetica" pitchFamily="34" charset="-122"/>
                <a:cs typeface="Helvetica" pitchFamily="34" charset="-120"/>
              </a:rPr>
              <a:t>Environment variables used for database and authentication configuration.</a:t>
            </a:r>
            <a:endParaRPr lang="en-US" sz="1550" dirty="0"/>
          </a:p>
          <a:p>
            <a:pPr marL="228600" indent="-228600">
              <a:lnSpc>
                <a:spcPct val="115000"/>
              </a:lnSpc>
              <a:spcAft>
                <a:spcPts val="1100"/>
              </a:spcAft>
              <a:buSzPct val="100000"/>
              <a:buChar char="●"/>
            </a:pPr>
            <a:r>
              <a:rPr lang="en-US" sz="1550" dirty="0">
                <a:solidFill>
                  <a:srgbClr val="171C26"/>
                </a:solidFill>
                <a:latin typeface="Helvetica" pitchFamily="34" charset="0"/>
                <a:ea typeface="Helvetica" pitchFamily="34" charset="-122"/>
                <a:cs typeface="Helvetica" pitchFamily="34" charset="-120"/>
              </a:rPr>
              <a:t>Pytest-based API testing infrastructure established using FastAPI's TestClient.</a:t>
            </a:r>
            <a:endParaRPr lang="en-US" sz="1550" dirty="0"/>
          </a:p>
        </p:txBody>
      </p:sp>
      <p:sp>
        <p:nvSpPr>
          <p:cNvPr id="7" name="Text 5"/>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05</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0B1220"/>
                </a:solidFill>
                <a:latin typeface="Helvetica" pitchFamily="34" charset="0"/>
                <a:ea typeface="Helvetica" pitchFamily="34" charset="-122"/>
                <a:cs typeface="Helvetica" pitchFamily="34" charset="-120"/>
              </a:rPr>
              <a:t>Database &amp; Persistence Layer</a:t>
            </a:r>
            <a:endParaRPr lang="en-US" sz="2500" dirty="0"/>
          </a:p>
        </p:txBody>
      </p:sp>
      <p:sp>
        <p:nvSpPr>
          <p:cNvPr id="4" name="Shape 2"/>
          <p:cNvSpPr/>
          <p:nvPr/>
        </p:nvSpPr>
        <p:spPr>
          <a:xfrm>
            <a:off x="10088575" y="502920"/>
            <a:ext cx="1554480" cy="310896"/>
          </a:xfrm>
          <a:prstGeom prst="rect">
            <a:avLst/>
          </a:prstGeom>
          <a:solidFill>
            <a:srgbClr val="0F9E8E"/>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database/</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8716975"/>
              </a:tblGrid>
              <a:tr h="438912">
                <a:tc>
                  <a:txBody>
                    <a:bodyPr/>
                    <a:lstStyle/>
                    <a:p>
                      <a:pPr indent="0" marL="0">
                        <a:buNone/>
                      </a:pPr>
                      <a:r>
                        <a:rPr lang="en-US" sz="1150" b="1" dirty="0">
                          <a:solidFill>
                            <a:srgbClr val="0F9E8E"/>
                          </a:solidFill>
                          <a:latin typeface="Courier New" pitchFamily="34" charset="0"/>
                          <a:ea typeface="Courier New" pitchFamily="34" charset="-122"/>
                          <a:cs typeface="Courier New" pitchFamily="34" charset="-120"/>
                        </a:rPr>
                        <a:t>Users</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Identity, email, role and account timestamps</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438912">
                <a:tc>
                  <a:txBody>
                    <a:bodyPr/>
                    <a:lstStyle/>
                    <a:p>
                      <a:pPr indent="0" marL="0">
                        <a:buNone/>
                      </a:pPr>
                      <a:r>
                        <a:rPr lang="en-US" sz="1150" b="1" dirty="0">
                          <a:solidFill>
                            <a:srgbClr val="0F9E8E"/>
                          </a:solidFill>
                          <a:latin typeface="Courier New" pitchFamily="34" charset="0"/>
                          <a:ea typeface="Courier New" pitchFamily="34" charset="-122"/>
                          <a:cs typeface="Courier New" pitchFamily="34" charset="-120"/>
                        </a:rPr>
                        <a:t>User Preferences</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Language, response style, theme and timezone preferences</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438912">
                <a:tc>
                  <a:txBody>
                    <a:bodyPr/>
                    <a:lstStyle/>
                    <a:p>
                      <a:pPr indent="0" marL="0">
                        <a:buNone/>
                      </a:pPr>
                      <a:r>
                        <a:rPr lang="en-US" sz="1150" b="1" dirty="0">
                          <a:solidFill>
                            <a:srgbClr val="0F9E8E"/>
                          </a:solidFill>
                          <a:latin typeface="Courier New" pitchFamily="34" charset="0"/>
                          <a:ea typeface="Courier New" pitchFamily="34" charset="-122"/>
                          <a:cs typeface="Courier New" pitchFamily="34" charset="-120"/>
                        </a:rPr>
                        <a:t>Conversations</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Persistent conversation records linked to users</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438912">
                <a:tc>
                  <a:txBody>
                    <a:bodyPr/>
                    <a:lstStyle/>
                    <a:p>
                      <a:pPr indent="0" marL="0">
                        <a:buNone/>
                      </a:pPr>
                      <a:r>
                        <a:rPr lang="en-US" sz="1150" b="1" dirty="0">
                          <a:solidFill>
                            <a:srgbClr val="0F9E8E"/>
                          </a:solidFill>
                          <a:latin typeface="Courier New" pitchFamily="34" charset="0"/>
                          <a:ea typeface="Courier New" pitchFamily="34" charset="-122"/>
                          <a:cs typeface="Courier New" pitchFamily="34" charset="-120"/>
                        </a:rPr>
                        <a:t>Messages</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Conversation messages, sender, model and token metadata</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438912">
                <a:tc>
                  <a:txBody>
                    <a:bodyPr/>
                    <a:lstStyle/>
                    <a:p>
                      <a:pPr indent="0" marL="0">
                        <a:buNone/>
                      </a:pPr>
                      <a:r>
                        <a:rPr lang="en-US" sz="1150" b="1" dirty="0">
                          <a:solidFill>
                            <a:srgbClr val="0F9E8E"/>
                          </a:solidFill>
                          <a:latin typeface="Courier New" pitchFamily="34" charset="0"/>
                          <a:ea typeface="Courier New" pitchFamily="34" charset="-122"/>
                          <a:cs typeface="Courier New" pitchFamily="34" charset="-120"/>
                        </a:rPr>
                        <a:t>Memories</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Persistent user memory metadata; vector storage is planned separately</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438912">
                <a:tc>
                  <a:txBody>
                    <a:bodyPr/>
                    <a:lstStyle/>
                    <a:p>
                      <a:pPr indent="0" marL="0">
                        <a:buNone/>
                      </a:pPr>
                      <a:r>
                        <a:rPr lang="en-US" sz="1150" b="1" dirty="0">
                          <a:solidFill>
                            <a:srgbClr val="0F9E8E"/>
                          </a:solidFill>
                          <a:latin typeface="Courier New" pitchFamily="34" charset="0"/>
                          <a:ea typeface="Courier New" pitchFamily="34" charset="-122"/>
                          <a:cs typeface="Courier New" pitchFamily="34" charset="-120"/>
                        </a:rPr>
                        <a:t>Documents</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Uploaded-document metadata and storage status</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438912">
                <a:tc>
                  <a:txBody>
                    <a:bodyPr/>
                    <a:lstStyle/>
                    <a:p>
                      <a:pPr indent="0" marL="0">
                        <a:buNone/>
                      </a:pPr>
                      <a:r>
                        <a:rPr lang="en-US" sz="1150" b="1" dirty="0">
                          <a:solidFill>
                            <a:srgbClr val="0F9E8E"/>
                          </a:solidFill>
                          <a:latin typeface="Courier New" pitchFamily="34" charset="0"/>
                          <a:ea typeface="Courier New" pitchFamily="34" charset="-122"/>
                          <a:cs typeface="Courier New" pitchFamily="34" charset="-120"/>
                        </a:rPr>
                        <a:t>Planner Tasks</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User planning items, due dates, priority and status</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438912">
                <a:tc>
                  <a:txBody>
                    <a:bodyPr/>
                    <a:lstStyle/>
                    <a:p>
                      <a:pPr indent="0" marL="0">
                        <a:buNone/>
                      </a:pPr>
                      <a:r>
                        <a:rPr lang="en-US" sz="1150" b="1" dirty="0">
                          <a:solidFill>
                            <a:srgbClr val="0F9E8E"/>
                          </a:solidFill>
                          <a:latin typeface="Courier New" pitchFamily="34" charset="0"/>
                          <a:ea typeface="Courier New" pitchFamily="34" charset="-122"/>
                          <a:cs typeface="Courier New" pitchFamily="34" charset="-120"/>
                        </a:rPr>
                        <a:t>Audit Logs</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Traceable application actions and entity metadata</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bl>
          </a:graphicData>
        </a:graphic>
      </p:graphicFrame>
      <p:sp>
        <p:nvSpPr>
          <p:cNvPr id="7" name="Text 4"/>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8" name="Text 5"/>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06</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0B1220"/>
                </a:solidFill>
                <a:latin typeface="Helvetica" pitchFamily="34" charset="0"/>
                <a:ea typeface="Helvetica" pitchFamily="34" charset="-122"/>
                <a:cs typeface="Helvetica" pitchFamily="34" charset="-120"/>
              </a:rPr>
              <a:t>Layered Backend Architecture</a:t>
            </a:r>
            <a:endParaRPr lang="en-US" sz="2500" dirty="0"/>
          </a:p>
        </p:txBody>
      </p:sp>
      <p:sp>
        <p:nvSpPr>
          <p:cNvPr id="4" name="Shape 2"/>
          <p:cNvSpPr/>
          <p:nvPr/>
        </p:nvSpPr>
        <p:spPr>
          <a:xfrm>
            <a:off x="10088575" y="502920"/>
            <a:ext cx="1554480" cy="310896"/>
          </a:xfrm>
          <a:prstGeom prst="rect">
            <a:avLst/>
          </a:prstGeom>
          <a:solidFill>
            <a:srgbClr val="0F9E8E"/>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architecture/</a:t>
            </a:r>
            <a:endParaRPr lang="en-US" sz="1000" dirty="0"/>
          </a:p>
        </p:txBody>
      </p:sp>
      <p:sp>
        <p:nvSpPr>
          <p:cNvPr id="6" name="Text 4"/>
          <p:cNvSpPr/>
          <p:nvPr/>
        </p:nvSpPr>
        <p:spPr>
          <a:xfrm>
            <a:off x="548640" y="1234440"/>
            <a:ext cx="11094415" cy="777240"/>
          </a:xfrm>
          <a:prstGeom prst="rect">
            <a:avLst/>
          </a:prstGeom>
          <a:noFill/>
          <a:ln/>
        </p:spPr>
        <p:txBody>
          <a:bodyPr wrap="square" rtlCol="0" anchor="t"/>
          <a:lstStyle/>
          <a:p>
            <a:pPr indent="0" marL="0">
              <a:buNone/>
            </a:pPr>
            <a:r>
              <a:rPr lang="en-US" sz="1350" dirty="0">
                <a:solidFill>
                  <a:srgbClr val="171C26"/>
                </a:solidFill>
                <a:latin typeface="Helvetica" pitchFamily="34" charset="0"/>
                <a:ea typeface="Helvetica" pitchFamily="34" charset="-122"/>
                <a:cs typeface="Helvetica" pitchFamily="34" charset="-120"/>
              </a:rPr>
              <a:t>A request enters through a router, is processed by a service, and reaches the database through a repository. Pydantic schemas define the external API contract while SQLAlchemy models represent persistent entities.</a:t>
            </a:r>
            <a:endParaRPr lang="en-US" sz="1350" dirty="0"/>
          </a:p>
        </p:txBody>
      </p:sp>
      <p:sp>
        <p:nvSpPr>
          <p:cNvPr id="7" name="Shape 5"/>
          <p:cNvSpPr/>
          <p:nvPr/>
        </p:nvSpPr>
        <p:spPr>
          <a:xfrm>
            <a:off x="548640" y="2148840"/>
            <a:ext cx="11094415" cy="566928"/>
          </a:xfrm>
          <a:prstGeom prst="rect">
            <a:avLst/>
          </a:prstGeom>
          <a:solidFill>
            <a:srgbClr val="F5F7FA"/>
          </a:solidFill>
          <a:ln w="12700">
            <a:solidFill>
              <a:srgbClr val="DCE2EA"/>
            </a:solidFill>
            <a:prstDash val="solid"/>
          </a:ln>
        </p:spPr>
      </p:sp>
      <p:sp>
        <p:nvSpPr>
          <p:cNvPr id="8" name="Text 6"/>
          <p:cNvSpPr/>
          <p:nvPr/>
        </p:nvSpPr>
        <p:spPr>
          <a:xfrm>
            <a:off x="731520" y="2148840"/>
            <a:ext cx="2743200" cy="566928"/>
          </a:xfrm>
          <a:prstGeom prst="rect">
            <a:avLst/>
          </a:prstGeom>
          <a:noFill/>
          <a:ln/>
        </p:spPr>
        <p:txBody>
          <a:bodyPr wrap="square" rtlCol="0" anchor="ctr"/>
          <a:lstStyle/>
          <a:p>
            <a:pPr indent="0" marL="0">
              <a:buNone/>
            </a:pPr>
            <a:r>
              <a:rPr lang="en-US" sz="1350" b="1" dirty="0">
                <a:solidFill>
                  <a:srgbClr val="171C26"/>
                </a:solidFill>
                <a:latin typeface="Helvetica" pitchFamily="34" charset="0"/>
                <a:ea typeface="Helvetica" pitchFamily="34" charset="-122"/>
                <a:cs typeface="Helvetica" pitchFamily="34" charset="-120"/>
              </a:rPr>
              <a:t>Routers</a:t>
            </a:r>
            <a:endParaRPr lang="en-US" sz="1350" dirty="0"/>
          </a:p>
        </p:txBody>
      </p:sp>
      <p:sp>
        <p:nvSpPr>
          <p:cNvPr id="9" name="Text 7"/>
          <p:cNvSpPr/>
          <p:nvPr/>
        </p:nvSpPr>
        <p:spPr>
          <a:xfrm>
            <a:off x="5958688" y="2715768"/>
            <a:ext cx="274320" cy="128016"/>
          </a:xfrm>
          <a:prstGeom prst="rect">
            <a:avLst/>
          </a:prstGeom>
          <a:noFill/>
          <a:ln/>
        </p:spPr>
        <p:txBody>
          <a:bodyPr wrap="square" rtlCol="0" anchor="ctr"/>
          <a:lstStyle/>
          <a:p>
            <a:pPr algn="ctr" indent="0" marL="0">
              <a:buNone/>
            </a:pPr>
            <a:r>
              <a:rPr lang="en-US" sz="1400" b="1" dirty="0">
                <a:solidFill>
                  <a:srgbClr val="0F9E8E"/>
                </a:solidFill>
                <a:latin typeface="Helvetica" pitchFamily="34" charset="0"/>
                <a:ea typeface="Helvetica" pitchFamily="34" charset="-122"/>
                <a:cs typeface="Helvetica" pitchFamily="34" charset="-120"/>
              </a:rPr>
              <a:t>↓</a:t>
            </a:r>
            <a:endParaRPr lang="en-US" sz="1400" dirty="0"/>
          </a:p>
        </p:txBody>
      </p:sp>
      <p:sp>
        <p:nvSpPr>
          <p:cNvPr id="10" name="Shape 8"/>
          <p:cNvSpPr/>
          <p:nvPr/>
        </p:nvSpPr>
        <p:spPr>
          <a:xfrm>
            <a:off x="548640" y="2843784"/>
            <a:ext cx="11094415" cy="566928"/>
          </a:xfrm>
          <a:prstGeom prst="rect">
            <a:avLst/>
          </a:prstGeom>
          <a:solidFill>
            <a:srgbClr val="F5F7FA"/>
          </a:solidFill>
          <a:ln w="12700">
            <a:solidFill>
              <a:srgbClr val="DCE2EA"/>
            </a:solidFill>
            <a:prstDash val="solid"/>
          </a:ln>
        </p:spPr>
      </p:sp>
      <p:sp>
        <p:nvSpPr>
          <p:cNvPr id="11" name="Text 9"/>
          <p:cNvSpPr/>
          <p:nvPr/>
        </p:nvSpPr>
        <p:spPr>
          <a:xfrm>
            <a:off x="731520" y="2843784"/>
            <a:ext cx="2743200" cy="566928"/>
          </a:xfrm>
          <a:prstGeom prst="rect">
            <a:avLst/>
          </a:prstGeom>
          <a:noFill/>
          <a:ln/>
        </p:spPr>
        <p:txBody>
          <a:bodyPr wrap="square" rtlCol="0" anchor="ctr"/>
          <a:lstStyle/>
          <a:p>
            <a:pPr indent="0" marL="0">
              <a:buNone/>
            </a:pPr>
            <a:r>
              <a:rPr lang="en-US" sz="1350" b="1" dirty="0">
                <a:solidFill>
                  <a:srgbClr val="171C26"/>
                </a:solidFill>
                <a:latin typeface="Helvetica" pitchFamily="34" charset="0"/>
                <a:ea typeface="Helvetica" pitchFamily="34" charset="-122"/>
                <a:cs typeface="Helvetica" pitchFamily="34" charset="-120"/>
              </a:rPr>
              <a:t>Services</a:t>
            </a:r>
            <a:endParaRPr lang="en-US" sz="1350" dirty="0"/>
          </a:p>
        </p:txBody>
      </p:sp>
      <p:sp>
        <p:nvSpPr>
          <p:cNvPr id="12" name="Text 10"/>
          <p:cNvSpPr/>
          <p:nvPr/>
        </p:nvSpPr>
        <p:spPr>
          <a:xfrm>
            <a:off x="5958688" y="3410712"/>
            <a:ext cx="274320" cy="128016"/>
          </a:xfrm>
          <a:prstGeom prst="rect">
            <a:avLst/>
          </a:prstGeom>
          <a:noFill/>
          <a:ln/>
        </p:spPr>
        <p:txBody>
          <a:bodyPr wrap="square" rtlCol="0" anchor="ctr"/>
          <a:lstStyle/>
          <a:p>
            <a:pPr algn="ctr" indent="0" marL="0">
              <a:buNone/>
            </a:pPr>
            <a:r>
              <a:rPr lang="en-US" sz="1400" b="1" dirty="0">
                <a:solidFill>
                  <a:srgbClr val="0F9E8E"/>
                </a:solidFill>
                <a:latin typeface="Helvetica" pitchFamily="34" charset="0"/>
                <a:ea typeface="Helvetica" pitchFamily="34" charset="-122"/>
                <a:cs typeface="Helvetica" pitchFamily="34" charset="-120"/>
              </a:rPr>
              <a:t>↓</a:t>
            </a:r>
            <a:endParaRPr lang="en-US" sz="1400" dirty="0"/>
          </a:p>
        </p:txBody>
      </p:sp>
      <p:sp>
        <p:nvSpPr>
          <p:cNvPr id="13" name="Shape 11"/>
          <p:cNvSpPr/>
          <p:nvPr/>
        </p:nvSpPr>
        <p:spPr>
          <a:xfrm>
            <a:off x="548640" y="3538728"/>
            <a:ext cx="11094415" cy="566928"/>
          </a:xfrm>
          <a:prstGeom prst="rect">
            <a:avLst/>
          </a:prstGeom>
          <a:solidFill>
            <a:srgbClr val="F5F7FA"/>
          </a:solidFill>
          <a:ln w="12700">
            <a:solidFill>
              <a:srgbClr val="DCE2EA"/>
            </a:solidFill>
            <a:prstDash val="solid"/>
          </a:ln>
        </p:spPr>
      </p:sp>
      <p:sp>
        <p:nvSpPr>
          <p:cNvPr id="14" name="Text 12"/>
          <p:cNvSpPr/>
          <p:nvPr/>
        </p:nvSpPr>
        <p:spPr>
          <a:xfrm>
            <a:off x="731520" y="3538728"/>
            <a:ext cx="2743200" cy="566928"/>
          </a:xfrm>
          <a:prstGeom prst="rect">
            <a:avLst/>
          </a:prstGeom>
          <a:noFill/>
          <a:ln/>
        </p:spPr>
        <p:txBody>
          <a:bodyPr wrap="square" rtlCol="0" anchor="ctr"/>
          <a:lstStyle/>
          <a:p>
            <a:pPr indent="0" marL="0">
              <a:buNone/>
            </a:pPr>
            <a:r>
              <a:rPr lang="en-US" sz="1350" b="1" dirty="0">
                <a:solidFill>
                  <a:srgbClr val="171C26"/>
                </a:solidFill>
                <a:latin typeface="Helvetica" pitchFamily="34" charset="0"/>
                <a:ea typeface="Helvetica" pitchFamily="34" charset="-122"/>
                <a:cs typeface="Helvetica" pitchFamily="34" charset="-120"/>
              </a:rPr>
              <a:t>Repositories</a:t>
            </a:r>
            <a:endParaRPr lang="en-US" sz="1350" dirty="0"/>
          </a:p>
        </p:txBody>
      </p:sp>
      <p:sp>
        <p:nvSpPr>
          <p:cNvPr id="15" name="Text 13"/>
          <p:cNvSpPr/>
          <p:nvPr/>
        </p:nvSpPr>
        <p:spPr>
          <a:xfrm>
            <a:off x="5958688" y="4105656"/>
            <a:ext cx="274320" cy="128016"/>
          </a:xfrm>
          <a:prstGeom prst="rect">
            <a:avLst/>
          </a:prstGeom>
          <a:noFill/>
          <a:ln/>
        </p:spPr>
        <p:txBody>
          <a:bodyPr wrap="square" rtlCol="0" anchor="ctr"/>
          <a:lstStyle/>
          <a:p>
            <a:pPr algn="ctr" indent="0" marL="0">
              <a:buNone/>
            </a:pPr>
            <a:r>
              <a:rPr lang="en-US" sz="1400" b="1" dirty="0">
                <a:solidFill>
                  <a:srgbClr val="0F9E8E"/>
                </a:solidFill>
                <a:latin typeface="Helvetica" pitchFamily="34" charset="0"/>
                <a:ea typeface="Helvetica" pitchFamily="34" charset="-122"/>
                <a:cs typeface="Helvetica" pitchFamily="34" charset="-120"/>
              </a:rPr>
              <a:t>↓</a:t>
            </a:r>
            <a:endParaRPr lang="en-US" sz="1400" dirty="0"/>
          </a:p>
        </p:txBody>
      </p:sp>
      <p:sp>
        <p:nvSpPr>
          <p:cNvPr id="16" name="Shape 14"/>
          <p:cNvSpPr/>
          <p:nvPr/>
        </p:nvSpPr>
        <p:spPr>
          <a:xfrm>
            <a:off x="548640" y="4233672"/>
            <a:ext cx="11094415" cy="566928"/>
          </a:xfrm>
          <a:prstGeom prst="rect">
            <a:avLst/>
          </a:prstGeom>
          <a:solidFill>
            <a:srgbClr val="F5F7FA"/>
          </a:solidFill>
          <a:ln w="12700">
            <a:solidFill>
              <a:srgbClr val="DCE2EA"/>
            </a:solidFill>
            <a:prstDash val="solid"/>
          </a:ln>
        </p:spPr>
      </p:sp>
      <p:sp>
        <p:nvSpPr>
          <p:cNvPr id="17" name="Text 15"/>
          <p:cNvSpPr/>
          <p:nvPr/>
        </p:nvSpPr>
        <p:spPr>
          <a:xfrm>
            <a:off x="731520" y="4233672"/>
            <a:ext cx="2743200" cy="566928"/>
          </a:xfrm>
          <a:prstGeom prst="rect">
            <a:avLst/>
          </a:prstGeom>
          <a:noFill/>
          <a:ln/>
        </p:spPr>
        <p:txBody>
          <a:bodyPr wrap="square" rtlCol="0" anchor="ctr"/>
          <a:lstStyle/>
          <a:p>
            <a:pPr indent="0" marL="0">
              <a:buNone/>
            </a:pPr>
            <a:r>
              <a:rPr lang="en-US" sz="1350" b="1" dirty="0">
                <a:solidFill>
                  <a:srgbClr val="171C26"/>
                </a:solidFill>
                <a:latin typeface="Helvetica" pitchFamily="34" charset="0"/>
                <a:ea typeface="Helvetica" pitchFamily="34" charset="-122"/>
                <a:cs typeface="Helvetica" pitchFamily="34" charset="-120"/>
              </a:rPr>
              <a:t>SQLAlchemy Models</a:t>
            </a:r>
            <a:endParaRPr lang="en-US" sz="1350" dirty="0"/>
          </a:p>
        </p:txBody>
      </p:sp>
      <p:sp>
        <p:nvSpPr>
          <p:cNvPr id="18" name="Text 16"/>
          <p:cNvSpPr/>
          <p:nvPr/>
        </p:nvSpPr>
        <p:spPr>
          <a:xfrm>
            <a:off x="5958688" y="4800600"/>
            <a:ext cx="274320" cy="128016"/>
          </a:xfrm>
          <a:prstGeom prst="rect">
            <a:avLst/>
          </a:prstGeom>
          <a:noFill/>
          <a:ln/>
        </p:spPr>
        <p:txBody>
          <a:bodyPr wrap="square" rtlCol="0" anchor="ctr"/>
          <a:lstStyle/>
          <a:p>
            <a:pPr algn="ctr" indent="0" marL="0">
              <a:buNone/>
            </a:pPr>
            <a:r>
              <a:rPr lang="en-US" sz="1400" b="1" dirty="0">
                <a:solidFill>
                  <a:srgbClr val="0F9E8E"/>
                </a:solidFill>
                <a:latin typeface="Helvetica" pitchFamily="34" charset="0"/>
                <a:ea typeface="Helvetica" pitchFamily="34" charset="-122"/>
                <a:cs typeface="Helvetica" pitchFamily="34" charset="-120"/>
              </a:rPr>
              <a:t>↓</a:t>
            </a:r>
            <a:endParaRPr lang="en-US" sz="1400" dirty="0"/>
          </a:p>
        </p:txBody>
      </p:sp>
      <p:sp>
        <p:nvSpPr>
          <p:cNvPr id="19" name="Shape 17"/>
          <p:cNvSpPr/>
          <p:nvPr/>
        </p:nvSpPr>
        <p:spPr>
          <a:xfrm>
            <a:off x="548640" y="4928616"/>
            <a:ext cx="11094415" cy="566928"/>
          </a:xfrm>
          <a:prstGeom prst="rect">
            <a:avLst/>
          </a:prstGeom>
          <a:solidFill>
            <a:srgbClr val="0F9E8E"/>
          </a:solidFill>
          <a:ln w="12700">
            <a:solidFill>
              <a:srgbClr val="DCE2EA"/>
            </a:solidFill>
            <a:prstDash val="solid"/>
          </a:ln>
        </p:spPr>
      </p:sp>
      <p:sp>
        <p:nvSpPr>
          <p:cNvPr id="20" name="Text 18"/>
          <p:cNvSpPr/>
          <p:nvPr/>
        </p:nvSpPr>
        <p:spPr>
          <a:xfrm>
            <a:off x="731520" y="4928616"/>
            <a:ext cx="2743200" cy="566928"/>
          </a:xfrm>
          <a:prstGeom prst="rect">
            <a:avLst/>
          </a:prstGeom>
          <a:noFill/>
          <a:ln/>
        </p:spPr>
        <p:txBody>
          <a:bodyPr wrap="square" rtlCol="0" anchor="ctr"/>
          <a:lstStyle/>
          <a:p>
            <a:pPr indent="0" marL="0">
              <a:buNone/>
            </a:pPr>
            <a:r>
              <a:rPr lang="en-US" sz="1350" b="1" dirty="0">
                <a:solidFill>
                  <a:srgbClr val="FFFFFF"/>
                </a:solidFill>
                <a:latin typeface="Helvetica" pitchFamily="34" charset="0"/>
                <a:ea typeface="Helvetica" pitchFamily="34" charset="-122"/>
                <a:cs typeface="Helvetica" pitchFamily="34" charset="-120"/>
              </a:rPr>
              <a:t>PostgreSQL</a:t>
            </a:r>
            <a:endParaRPr lang="en-US" sz="1350" dirty="0"/>
          </a:p>
        </p:txBody>
      </p:sp>
      <p:sp>
        <p:nvSpPr>
          <p:cNvPr id="21" name="Text 19"/>
          <p:cNvSpPr/>
          <p:nvPr/>
        </p:nvSpPr>
        <p:spPr>
          <a:xfrm>
            <a:off x="548640" y="5669280"/>
            <a:ext cx="11094415" cy="457200"/>
          </a:xfrm>
          <a:prstGeom prst="rect">
            <a:avLst/>
          </a:prstGeom>
          <a:noFill/>
          <a:ln/>
        </p:spPr>
        <p:txBody>
          <a:bodyPr wrap="square" rtlCol="0" anchor="t"/>
          <a:lstStyle/>
          <a:p>
            <a:pPr indent="0" marL="0">
              <a:buNone/>
            </a:pPr>
            <a:r>
              <a:rPr lang="en-US" sz="1200" i="1" dirty="0">
                <a:solidFill>
                  <a:srgbClr val="5A6472"/>
                </a:solidFill>
                <a:latin typeface="Helvetica" pitchFamily="34" charset="0"/>
                <a:ea typeface="Helvetica" pitchFamily="34" charset="-122"/>
                <a:cs typeface="Helvetica" pitchFamily="34" charset="-120"/>
              </a:rPr>
              <a:t>Schemas sit alongside the API layer, defining validated request/response contracts independent of persistence details.</a:t>
            </a:r>
            <a:endParaRPr lang="en-US" sz="1200" dirty="0"/>
          </a:p>
        </p:txBody>
      </p:sp>
      <p:sp>
        <p:nvSpPr>
          <p:cNvPr id="22" name="Text 20"/>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23" name="Text 21"/>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07</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0B1220"/>
                </a:solidFill>
                <a:latin typeface="Helvetica" pitchFamily="34" charset="0"/>
                <a:ea typeface="Helvetica" pitchFamily="34" charset="-122"/>
                <a:cs typeface="Helvetica" pitchFamily="34" charset="-120"/>
              </a:rPr>
              <a:t>REST API Implementation</a:t>
            </a:r>
            <a:endParaRPr lang="en-US" sz="2500" dirty="0"/>
          </a:p>
        </p:txBody>
      </p:sp>
      <p:sp>
        <p:nvSpPr>
          <p:cNvPr id="4" name="Shape 2"/>
          <p:cNvSpPr/>
          <p:nvPr/>
        </p:nvSpPr>
        <p:spPr>
          <a:xfrm>
            <a:off x="10088575" y="502920"/>
            <a:ext cx="1554480" cy="310896"/>
          </a:xfrm>
          <a:prstGeom prst="rect">
            <a:avLst/>
          </a:prstGeom>
          <a:solidFill>
            <a:srgbClr val="0F9E8E"/>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api/</a:t>
            </a:r>
            <a:endParaRPr lang="en-US" sz="100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100"/>
              </a:spcAft>
              <a:buSzPct val="100000"/>
              <a:buChar char="●"/>
            </a:pPr>
            <a:r>
              <a:rPr lang="en-US" sz="1400" dirty="0">
                <a:solidFill>
                  <a:srgbClr val="171C26"/>
                </a:solidFill>
                <a:latin typeface="Helvetica" pitchFamily="34" charset="0"/>
                <a:ea typeface="Helvetica" pitchFamily="34" charset="-122"/>
                <a:cs typeface="Helvetica" pitchFamily="34" charset="-120"/>
              </a:rPr>
              <a:t>User APIs: creation and retrieval.</a:t>
            </a:r>
            <a:endParaRPr lang="en-US" sz="1400" dirty="0"/>
          </a:p>
          <a:p>
            <a:pPr marL="228600" indent="-228600">
              <a:lnSpc>
                <a:spcPct val="115000"/>
              </a:lnSpc>
              <a:spcAft>
                <a:spcPts val="1100"/>
              </a:spcAft>
              <a:buSzPct val="100000"/>
              <a:buChar char="●"/>
            </a:pPr>
            <a:r>
              <a:rPr lang="en-US" sz="1400" dirty="0">
                <a:solidFill>
                  <a:srgbClr val="171C26"/>
                </a:solidFill>
                <a:latin typeface="Helvetica" pitchFamily="34" charset="0"/>
                <a:ea typeface="Helvetica" pitchFamily="34" charset="-122"/>
                <a:cs typeface="Helvetica" pitchFamily="34" charset="-120"/>
              </a:rPr>
              <a:t>User Preference APIs: creation, retrieval and update.</a:t>
            </a:r>
            <a:endParaRPr lang="en-US" sz="1400" dirty="0"/>
          </a:p>
          <a:p>
            <a:pPr marL="228600" indent="-228600">
              <a:lnSpc>
                <a:spcPct val="115000"/>
              </a:lnSpc>
              <a:spcAft>
                <a:spcPts val="1100"/>
              </a:spcAft>
              <a:buSzPct val="100000"/>
              <a:buChar char="●"/>
            </a:pPr>
            <a:r>
              <a:rPr lang="en-US" sz="1400" dirty="0">
                <a:solidFill>
                  <a:srgbClr val="171C26"/>
                </a:solidFill>
                <a:latin typeface="Helvetica" pitchFamily="34" charset="0"/>
                <a:ea typeface="Helvetica" pitchFamily="34" charset="-122"/>
                <a:cs typeface="Helvetica" pitchFamily="34" charset="-120"/>
              </a:rPr>
              <a:t>Conversation APIs: creation, retrieval, listing by user and deletion.</a:t>
            </a:r>
            <a:endParaRPr lang="en-US" sz="1400" dirty="0"/>
          </a:p>
          <a:p>
            <a:pPr marL="228600" indent="-228600">
              <a:lnSpc>
                <a:spcPct val="115000"/>
              </a:lnSpc>
              <a:spcAft>
                <a:spcPts val="1100"/>
              </a:spcAft>
              <a:buSzPct val="100000"/>
              <a:buChar char="●"/>
            </a:pPr>
            <a:r>
              <a:rPr lang="en-US" sz="1400" dirty="0">
                <a:solidFill>
                  <a:srgbClr val="171C26"/>
                </a:solidFill>
                <a:latin typeface="Helvetica" pitchFamily="34" charset="0"/>
                <a:ea typeface="Helvetica" pitchFamily="34" charset="-122"/>
                <a:cs typeface="Helvetica" pitchFamily="34" charset="-120"/>
              </a:rPr>
              <a:t>Message APIs: creation, retrieval, conversation-level listing and deletion.</a:t>
            </a:r>
            <a:endParaRPr lang="en-US" sz="1400" dirty="0"/>
          </a:p>
          <a:p>
            <a:pPr marL="228600" indent="-228600">
              <a:lnSpc>
                <a:spcPct val="115000"/>
              </a:lnSpc>
              <a:spcAft>
                <a:spcPts val="1100"/>
              </a:spcAft>
              <a:buSzPct val="100000"/>
              <a:buChar char="●"/>
            </a:pPr>
            <a:r>
              <a:rPr lang="en-US" sz="1400" dirty="0">
                <a:solidFill>
                  <a:srgbClr val="171C26"/>
                </a:solidFill>
                <a:latin typeface="Helvetica" pitchFamily="34" charset="0"/>
                <a:ea typeface="Helvetica" pitchFamily="34" charset="-122"/>
                <a:cs typeface="Helvetica" pitchFamily="34" charset="-120"/>
              </a:rPr>
              <a:t>Memory APIs: creation, retrieval, user-level listing and deletion.</a:t>
            </a:r>
            <a:endParaRPr lang="en-US" sz="1400" dirty="0"/>
          </a:p>
          <a:p>
            <a:pPr marL="228600" indent="-228600">
              <a:lnSpc>
                <a:spcPct val="115000"/>
              </a:lnSpc>
              <a:spcAft>
                <a:spcPts val="1100"/>
              </a:spcAft>
              <a:buSzPct val="100000"/>
              <a:buChar char="●"/>
            </a:pPr>
            <a:r>
              <a:rPr lang="en-US" sz="1400" dirty="0">
                <a:solidFill>
                  <a:srgbClr val="171C26"/>
                </a:solidFill>
                <a:latin typeface="Helvetica" pitchFamily="34" charset="0"/>
                <a:ea typeface="Helvetica" pitchFamily="34" charset="-122"/>
                <a:cs typeface="Helvetica" pitchFamily="34" charset="-120"/>
              </a:rPr>
              <a:t>Document APIs: creation, retrieval, user-level listing and deletion.</a:t>
            </a:r>
            <a:endParaRPr lang="en-US" sz="1400" dirty="0"/>
          </a:p>
          <a:p>
            <a:pPr marL="228600" indent="-228600">
              <a:lnSpc>
                <a:spcPct val="115000"/>
              </a:lnSpc>
              <a:spcAft>
                <a:spcPts val="1100"/>
              </a:spcAft>
              <a:buSzPct val="100000"/>
              <a:buChar char="●"/>
            </a:pPr>
            <a:r>
              <a:rPr lang="en-US" sz="1400" dirty="0">
                <a:solidFill>
                  <a:srgbClr val="171C26"/>
                </a:solidFill>
                <a:latin typeface="Helvetica" pitchFamily="34" charset="0"/>
                <a:ea typeface="Helvetica" pitchFamily="34" charset="-122"/>
                <a:cs typeface="Helvetica" pitchFamily="34" charset="-120"/>
              </a:rPr>
              <a:t>Planner Task APIs: creation, retrieval, user-level listing and deletion.</a:t>
            </a:r>
            <a:endParaRPr lang="en-US" sz="1400" dirty="0"/>
          </a:p>
          <a:p>
            <a:pPr marL="228600" indent="-228600">
              <a:lnSpc>
                <a:spcPct val="115000"/>
              </a:lnSpc>
              <a:spcAft>
                <a:spcPts val="1100"/>
              </a:spcAft>
              <a:buSzPct val="100000"/>
              <a:buChar char="●"/>
            </a:pPr>
            <a:r>
              <a:rPr lang="en-US" sz="1400" dirty="0">
                <a:solidFill>
                  <a:srgbClr val="171C26"/>
                </a:solidFill>
                <a:latin typeface="Helvetica" pitchFamily="34" charset="0"/>
                <a:ea typeface="Helvetica" pitchFamily="34" charset="-122"/>
                <a:cs typeface="Helvetica" pitchFamily="34" charset="-120"/>
              </a:rPr>
              <a:t>Audit Log APIs: creation and retrieval.</a:t>
            </a:r>
            <a:endParaRPr lang="en-US" sz="1400" dirty="0"/>
          </a:p>
          <a:p>
            <a:pPr marL="228600" indent="-228600">
              <a:lnSpc>
                <a:spcPct val="115000"/>
              </a:lnSpc>
              <a:spcAft>
                <a:spcPts val="1100"/>
              </a:spcAft>
              <a:buSzPct val="100000"/>
              <a:buChar char="●"/>
            </a:pPr>
            <a:r>
              <a:rPr lang="en-US" sz="1400" dirty="0">
                <a:solidFill>
                  <a:srgbClr val="171C26"/>
                </a:solidFill>
                <a:latin typeface="Helvetica" pitchFamily="34" charset="0"/>
                <a:ea typeface="Helvetica" pitchFamily="34" charset="-122"/>
                <a:cs typeface="Helvetica" pitchFamily="34" charset="-120"/>
              </a:rPr>
              <a:t>Authentication APIs: registration and login.</a:t>
            </a:r>
            <a:endParaRPr lang="en-US" sz="1400" dirty="0"/>
          </a:p>
        </p:txBody>
      </p:sp>
      <p:sp>
        <p:nvSpPr>
          <p:cNvPr id="7" name="Text 5"/>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08</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0B1220"/>
                </a:solidFill>
                <a:latin typeface="Helvetica" pitchFamily="34" charset="0"/>
                <a:ea typeface="Helvetica" pitchFamily="34" charset="-122"/>
                <a:cs typeface="Helvetica" pitchFamily="34" charset="-120"/>
              </a:rPr>
              <a:t>Authentication Implementation</a:t>
            </a:r>
            <a:endParaRPr lang="en-US" sz="2500" dirty="0"/>
          </a:p>
        </p:txBody>
      </p:sp>
      <p:sp>
        <p:nvSpPr>
          <p:cNvPr id="4" name="Shape 2"/>
          <p:cNvSpPr/>
          <p:nvPr/>
        </p:nvSpPr>
        <p:spPr>
          <a:xfrm>
            <a:off x="10088575" y="502920"/>
            <a:ext cx="1554480" cy="310896"/>
          </a:xfrm>
          <a:prstGeom prst="rect">
            <a:avLst/>
          </a:prstGeom>
          <a:solidFill>
            <a:srgbClr val="0F9E8E"/>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auth/</a:t>
            </a:r>
            <a:endParaRPr lang="en-US" sz="1000" dirty="0"/>
          </a:p>
        </p:txBody>
      </p:sp>
      <p:sp>
        <p:nvSpPr>
          <p:cNvPr id="6" name="Text 4"/>
          <p:cNvSpPr/>
          <p:nvPr/>
        </p:nvSpPr>
        <p:spPr>
          <a:xfrm>
            <a:off x="548640" y="1234440"/>
            <a:ext cx="11094415" cy="1005840"/>
          </a:xfrm>
          <a:prstGeom prst="rect">
            <a:avLst/>
          </a:prstGeom>
          <a:noFill/>
          <a:ln/>
        </p:spPr>
        <p:txBody>
          <a:bodyPr wrap="square" rtlCol="0" anchor="t"/>
          <a:lstStyle/>
          <a:p>
            <a:pPr indent="0" marL="0">
              <a:buNone/>
            </a:pPr>
            <a:r>
              <a:rPr lang="en-US" sz="1300" dirty="0">
                <a:solidFill>
                  <a:srgbClr val="171C26"/>
                </a:solidFill>
                <a:latin typeface="Helvetica" pitchFamily="34" charset="0"/>
                <a:ea typeface="Helvetica" pitchFamily="34" charset="-122"/>
                <a:cs typeface="Helvetica" pitchFamily="34" charset="-120"/>
              </a:rPr>
              <a:t>The registration endpoint accepts a plaintext password only at the API boundary; the authentication service hashes it with Argon2 through pwdlib before persisting the user. On login, the submitted password is verified against the stored hash, and valid credentials produce a signed JWT access token containing the user's identifier, role and expiration.</a:t>
            </a:r>
            <a:endParaRPr lang="en-US" sz="1300" dirty="0"/>
          </a:p>
        </p:txBody>
      </p:sp>
      <p:sp>
        <p:nvSpPr>
          <p:cNvPr id="7" name="Shape 5"/>
          <p:cNvSpPr/>
          <p:nvPr/>
        </p:nvSpPr>
        <p:spPr>
          <a:xfrm>
            <a:off x="548640" y="2606040"/>
            <a:ext cx="1962851" cy="685800"/>
          </a:xfrm>
          <a:prstGeom prst="rect">
            <a:avLst/>
          </a:prstGeom>
          <a:solidFill>
            <a:srgbClr val="F5F7FA"/>
          </a:solidFill>
          <a:ln w="12700">
            <a:solidFill>
              <a:srgbClr val="DCE2EA"/>
            </a:solidFill>
            <a:prstDash val="solid"/>
          </a:ln>
        </p:spPr>
      </p:sp>
      <p:sp>
        <p:nvSpPr>
          <p:cNvPr id="8" name="Text 6"/>
          <p:cNvSpPr/>
          <p:nvPr/>
        </p:nvSpPr>
        <p:spPr>
          <a:xfrm>
            <a:off x="548640" y="2606040"/>
            <a:ext cx="1962851" cy="685800"/>
          </a:xfrm>
          <a:prstGeom prst="rect">
            <a:avLst/>
          </a:prstGeom>
          <a:noFill/>
          <a:ln/>
        </p:spPr>
        <p:txBody>
          <a:bodyPr wrap="square" rtlCol="0" anchor="ctr"/>
          <a:lstStyle/>
          <a:p>
            <a:pPr algn="ctr" indent="0" marL="0">
              <a:buNone/>
            </a:pPr>
            <a:r>
              <a:rPr lang="en-US" sz="1250" b="1" dirty="0">
                <a:solidFill>
                  <a:srgbClr val="171C26"/>
                </a:solidFill>
                <a:latin typeface="Helvetica" pitchFamily="34" charset="0"/>
                <a:ea typeface="Helvetica" pitchFamily="34" charset="-122"/>
                <a:cs typeface="Helvetica" pitchFamily="34" charset="-120"/>
              </a:rPr>
              <a:t>Register</a:t>
            </a:r>
            <a:endParaRPr lang="en-US" sz="1250" dirty="0"/>
          </a:p>
        </p:txBody>
      </p:sp>
      <p:sp>
        <p:nvSpPr>
          <p:cNvPr id="9" name="Text 7"/>
          <p:cNvSpPr/>
          <p:nvPr/>
        </p:nvSpPr>
        <p:spPr>
          <a:xfrm>
            <a:off x="2511491" y="2606040"/>
            <a:ext cx="320040" cy="685800"/>
          </a:xfrm>
          <a:prstGeom prst="rect">
            <a:avLst/>
          </a:prstGeom>
          <a:noFill/>
          <a:ln/>
        </p:spPr>
        <p:txBody>
          <a:bodyPr wrap="square" rtlCol="0" anchor="ctr"/>
          <a:lstStyle/>
          <a:p>
            <a:pPr algn="ctr" indent="0" marL="0">
              <a:buNone/>
            </a:pPr>
            <a:r>
              <a:rPr lang="en-US" sz="1600" b="1" dirty="0">
                <a:solidFill>
                  <a:srgbClr val="0F9E8E"/>
                </a:solidFill>
                <a:latin typeface="Helvetica" pitchFamily="34" charset="0"/>
                <a:ea typeface="Helvetica" pitchFamily="34" charset="-122"/>
                <a:cs typeface="Helvetica" pitchFamily="34" charset="-120"/>
              </a:rPr>
              <a:t>→</a:t>
            </a:r>
            <a:endParaRPr lang="en-US" sz="1600" dirty="0"/>
          </a:p>
        </p:txBody>
      </p:sp>
      <p:sp>
        <p:nvSpPr>
          <p:cNvPr id="10" name="Shape 8"/>
          <p:cNvSpPr/>
          <p:nvPr/>
        </p:nvSpPr>
        <p:spPr>
          <a:xfrm>
            <a:off x="2831531" y="2606040"/>
            <a:ext cx="1962851" cy="685800"/>
          </a:xfrm>
          <a:prstGeom prst="rect">
            <a:avLst/>
          </a:prstGeom>
          <a:solidFill>
            <a:srgbClr val="F5F7FA"/>
          </a:solidFill>
          <a:ln w="12700">
            <a:solidFill>
              <a:srgbClr val="DCE2EA"/>
            </a:solidFill>
            <a:prstDash val="solid"/>
          </a:ln>
        </p:spPr>
      </p:sp>
      <p:sp>
        <p:nvSpPr>
          <p:cNvPr id="11" name="Text 9"/>
          <p:cNvSpPr/>
          <p:nvPr/>
        </p:nvSpPr>
        <p:spPr>
          <a:xfrm>
            <a:off x="2831531" y="2606040"/>
            <a:ext cx="1962851" cy="685800"/>
          </a:xfrm>
          <a:prstGeom prst="rect">
            <a:avLst/>
          </a:prstGeom>
          <a:noFill/>
          <a:ln/>
        </p:spPr>
        <p:txBody>
          <a:bodyPr wrap="square" rtlCol="0" anchor="ctr"/>
          <a:lstStyle/>
          <a:p>
            <a:pPr algn="ctr" indent="0" marL="0">
              <a:buNone/>
            </a:pPr>
            <a:r>
              <a:rPr lang="en-US" sz="1250" b="1" dirty="0">
                <a:solidFill>
                  <a:srgbClr val="171C26"/>
                </a:solidFill>
                <a:latin typeface="Helvetica" pitchFamily="34" charset="0"/>
                <a:ea typeface="Helvetica" pitchFamily="34" charset="-122"/>
                <a:cs typeface="Helvetica" pitchFamily="34" charset="-120"/>
              </a:rPr>
              <a:t>Login</a:t>
            </a:r>
            <a:endParaRPr lang="en-US" sz="1250" dirty="0"/>
          </a:p>
        </p:txBody>
      </p:sp>
      <p:sp>
        <p:nvSpPr>
          <p:cNvPr id="12" name="Text 10"/>
          <p:cNvSpPr/>
          <p:nvPr/>
        </p:nvSpPr>
        <p:spPr>
          <a:xfrm>
            <a:off x="4794382" y="2606040"/>
            <a:ext cx="320040" cy="685800"/>
          </a:xfrm>
          <a:prstGeom prst="rect">
            <a:avLst/>
          </a:prstGeom>
          <a:noFill/>
          <a:ln/>
        </p:spPr>
        <p:txBody>
          <a:bodyPr wrap="square" rtlCol="0" anchor="ctr"/>
          <a:lstStyle/>
          <a:p>
            <a:pPr algn="ctr" indent="0" marL="0">
              <a:buNone/>
            </a:pPr>
            <a:r>
              <a:rPr lang="en-US" sz="1600" b="1" dirty="0">
                <a:solidFill>
                  <a:srgbClr val="0F9E8E"/>
                </a:solidFill>
                <a:latin typeface="Helvetica" pitchFamily="34" charset="0"/>
                <a:ea typeface="Helvetica" pitchFamily="34" charset="-122"/>
                <a:cs typeface="Helvetica" pitchFamily="34" charset="-120"/>
              </a:rPr>
              <a:t>→</a:t>
            </a:r>
            <a:endParaRPr lang="en-US" sz="1600" dirty="0"/>
          </a:p>
        </p:txBody>
      </p:sp>
      <p:sp>
        <p:nvSpPr>
          <p:cNvPr id="13" name="Shape 11"/>
          <p:cNvSpPr/>
          <p:nvPr/>
        </p:nvSpPr>
        <p:spPr>
          <a:xfrm>
            <a:off x="5114422" y="2606040"/>
            <a:ext cx="1962851" cy="685800"/>
          </a:xfrm>
          <a:prstGeom prst="rect">
            <a:avLst/>
          </a:prstGeom>
          <a:solidFill>
            <a:srgbClr val="F5F7FA"/>
          </a:solidFill>
          <a:ln w="12700">
            <a:solidFill>
              <a:srgbClr val="DCE2EA"/>
            </a:solidFill>
            <a:prstDash val="solid"/>
          </a:ln>
        </p:spPr>
      </p:sp>
      <p:sp>
        <p:nvSpPr>
          <p:cNvPr id="14" name="Text 12"/>
          <p:cNvSpPr/>
          <p:nvPr/>
        </p:nvSpPr>
        <p:spPr>
          <a:xfrm>
            <a:off x="5114422" y="2606040"/>
            <a:ext cx="1962851" cy="685800"/>
          </a:xfrm>
          <a:prstGeom prst="rect">
            <a:avLst/>
          </a:prstGeom>
          <a:noFill/>
          <a:ln/>
        </p:spPr>
        <p:txBody>
          <a:bodyPr wrap="square" rtlCol="0" anchor="ctr"/>
          <a:lstStyle/>
          <a:p>
            <a:pPr algn="ctr" indent="0" marL="0">
              <a:buNone/>
            </a:pPr>
            <a:r>
              <a:rPr lang="en-US" sz="1250" b="1" dirty="0">
                <a:solidFill>
                  <a:srgbClr val="171C26"/>
                </a:solidFill>
                <a:latin typeface="Helvetica" pitchFamily="34" charset="0"/>
                <a:ea typeface="Helvetica" pitchFamily="34" charset="-122"/>
                <a:cs typeface="Helvetica" pitchFamily="34" charset="-120"/>
              </a:rPr>
              <a:t>JWT Issued</a:t>
            </a:r>
            <a:endParaRPr lang="en-US" sz="1250" dirty="0"/>
          </a:p>
        </p:txBody>
      </p:sp>
      <p:sp>
        <p:nvSpPr>
          <p:cNvPr id="15" name="Text 13"/>
          <p:cNvSpPr/>
          <p:nvPr/>
        </p:nvSpPr>
        <p:spPr>
          <a:xfrm>
            <a:off x="7077273" y="2606040"/>
            <a:ext cx="320040" cy="685800"/>
          </a:xfrm>
          <a:prstGeom prst="rect">
            <a:avLst/>
          </a:prstGeom>
          <a:noFill/>
          <a:ln/>
        </p:spPr>
        <p:txBody>
          <a:bodyPr wrap="square" rtlCol="0" anchor="ctr"/>
          <a:lstStyle/>
          <a:p>
            <a:pPr algn="ctr" indent="0" marL="0">
              <a:buNone/>
            </a:pPr>
            <a:r>
              <a:rPr lang="en-US" sz="1600" b="1" dirty="0">
                <a:solidFill>
                  <a:srgbClr val="0F9E8E"/>
                </a:solidFill>
                <a:latin typeface="Helvetica" pitchFamily="34" charset="0"/>
                <a:ea typeface="Helvetica" pitchFamily="34" charset="-122"/>
                <a:cs typeface="Helvetica" pitchFamily="34" charset="-120"/>
              </a:rPr>
              <a:t>→</a:t>
            </a:r>
            <a:endParaRPr lang="en-US" sz="1600" dirty="0"/>
          </a:p>
        </p:txBody>
      </p:sp>
      <p:sp>
        <p:nvSpPr>
          <p:cNvPr id="16" name="Shape 14"/>
          <p:cNvSpPr/>
          <p:nvPr/>
        </p:nvSpPr>
        <p:spPr>
          <a:xfrm>
            <a:off x="7397313" y="2606040"/>
            <a:ext cx="1962851" cy="685800"/>
          </a:xfrm>
          <a:prstGeom prst="rect">
            <a:avLst/>
          </a:prstGeom>
          <a:solidFill>
            <a:srgbClr val="F5F7FA"/>
          </a:solidFill>
          <a:ln w="12700">
            <a:solidFill>
              <a:srgbClr val="DCE2EA"/>
            </a:solidFill>
            <a:prstDash val="solid"/>
          </a:ln>
        </p:spPr>
      </p:sp>
      <p:sp>
        <p:nvSpPr>
          <p:cNvPr id="17" name="Text 15"/>
          <p:cNvSpPr/>
          <p:nvPr/>
        </p:nvSpPr>
        <p:spPr>
          <a:xfrm>
            <a:off x="7397313" y="2606040"/>
            <a:ext cx="1962851" cy="685800"/>
          </a:xfrm>
          <a:prstGeom prst="rect">
            <a:avLst/>
          </a:prstGeom>
          <a:noFill/>
          <a:ln/>
        </p:spPr>
        <p:txBody>
          <a:bodyPr wrap="square" rtlCol="0" anchor="ctr"/>
          <a:lstStyle/>
          <a:p>
            <a:pPr algn="ctr" indent="0" marL="0">
              <a:buNone/>
            </a:pPr>
            <a:r>
              <a:rPr lang="en-US" sz="1250" b="1" dirty="0">
                <a:solidFill>
                  <a:srgbClr val="171C26"/>
                </a:solidFill>
                <a:latin typeface="Helvetica" pitchFamily="34" charset="0"/>
                <a:ea typeface="Helvetica" pitchFamily="34" charset="-122"/>
                <a:cs typeface="Helvetica" pitchFamily="34" charset="-120"/>
              </a:rPr>
              <a:t>Validate</a:t>
            </a:r>
            <a:endParaRPr lang="en-US" sz="1250" dirty="0"/>
          </a:p>
        </p:txBody>
      </p:sp>
      <p:sp>
        <p:nvSpPr>
          <p:cNvPr id="18" name="Text 16"/>
          <p:cNvSpPr/>
          <p:nvPr/>
        </p:nvSpPr>
        <p:spPr>
          <a:xfrm>
            <a:off x="9360164" y="2606040"/>
            <a:ext cx="320040" cy="685800"/>
          </a:xfrm>
          <a:prstGeom prst="rect">
            <a:avLst/>
          </a:prstGeom>
          <a:noFill/>
          <a:ln/>
        </p:spPr>
        <p:txBody>
          <a:bodyPr wrap="square" rtlCol="0" anchor="ctr"/>
          <a:lstStyle/>
          <a:p>
            <a:pPr algn="ctr" indent="0" marL="0">
              <a:buNone/>
            </a:pPr>
            <a:r>
              <a:rPr lang="en-US" sz="1600" b="1" dirty="0">
                <a:solidFill>
                  <a:srgbClr val="0F9E8E"/>
                </a:solidFill>
                <a:latin typeface="Helvetica" pitchFamily="34" charset="0"/>
                <a:ea typeface="Helvetica" pitchFamily="34" charset="-122"/>
                <a:cs typeface="Helvetica" pitchFamily="34" charset="-120"/>
              </a:rPr>
              <a:t>→</a:t>
            </a:r>
            <a:endParaRPr lang="en-US" sz="1600" dirty="0"/>
          </a:p>
        </p:txBody>
      </p:sp>
      <p:sp>
        <p:nvSpPr>
          <p:cNvPr id="19" name="Shape 17"/>
          <p:cNvSpPr/>
          <p:nvPr/>
        </p:nvSpPr>
        <p:spPr>
          <a:xfrm>
            <a:off x="9680204" y="2606040"/>
            <a:ext cx="1962851" cy="685800"/>
          </a:xfrm>
          <a:prstGeom prst="rect">
            <a:avLst/>
          </a:prstGeom>
          <a:solidFill>
            <a:srgbClr val="0F9E8E"/>
          </a:solidFill>
          <a:ln w="12700">
            <a:solidFill>
              <a:srgbClr val="DCE2EA"/>
            </a:solidFill>
            <a:prstDash val="solid"/>
          </a:ln>
        </p:spPr>
      </p:sp>
      <p:sp>
        <p:nvSpPr>
          <p:cNvPr id="20" name="Text 18"/>
          <p:cNvSpPr/>
          <p:nvPr/>
        </p:nvSpPr>
        <p:spPr>
          <a:xfrm>
            <a:off x="9680204" y="2606040"/>
            <a:ext cx="1962851" cy="685800"/>
          </a:xfrm>
          <a:prstGeom prst="rect">
            <a:avLst/>
          </a:prstGeom>
          <a:noFill/>
          <a:ln/>
        </p:spPr>
        <p:txBody>
          <a:bodyPr wrap="square" rtlCol="0" anchor="ctr"/>
          <a:lstStyle/>
          <a:p>
            <a:pPr algn="ctr" indent="0" marL="0">
              <a:buNone/>
            </a:pPr>
            <a:r>
              <a:rPr lang="en-US" sz="1250" b="1" dirty="0">
                <a:solidFill>
                  <a:srgbClr val="FFFFFF"/>
                </a:solidFill>
                <a:latin typeface="Helvetica" pitchFamily="34" charset="0"/>
                <a:ea typeface="Helvetica" pitchFamily="34" charset="-122"/>
                <a:cs typeface="Helvetica" pitchFamily="34" charset="-120"/>
              </a:rPr>
              <a:t>/users/me</a:t>
            </a:r>
            <a:endParaRPr lang="en-US" sz="1250" dirty="0"/>
          </a:p>
        </p:txBody>
      </p:sp>
      <p:sp>
        <p:nvSpPr>
          <p:cNvPr id="21" name="Text 19"/>
          <p:cNvSpPr/>
          <p:nvPr/>
        </p:nvSpPr>
        <p:spPr>
          <a:xfrm>
            <a:off x="548640" y="3474720"/>
            <a:ext cx="11094415" cy="365760"/>
          </a:xfrm>
          <a:prstGeom prst="rect">
            <a:avLst/>
          </a:prstGeom>
          <a:noFill/>
          <a:ln/>
        </p:spPr>
        <p:txBody>
          <a:bodyPr wrap="square" rtlCol="0" anchor="ctr"/>
          <a:lstStyle/>
          <a:p>
            <a:pPr indent="0" marL="0">
              <a:buNone/>
            </a:pPr>
            <a:r>
              <a:rPr lang="en-US" sz="1150" i="1" dirty="0">
                <a:solidFill>
                  <a:srgbClr val="5A6472"/>
                </a:solidFill>
                <a:latin typeface="Helvetica" pitchFamily="34" charset="0"/>
                <a:ea typeface="Helvetica" pitchFamily="34" charset="-122"/>
                <a:cs typeface="Helvetica" pitchFamily="34" charset="-120"/>
              </a:rPr>
              <a:t>Current protected authentication sequence implemented in the backend.</a:t>
            </a:r>
            <a:endParaRPr lang="en-US" sz="1150" dirty="0"/>
          </a:p>
        </p:txBody>
      </p:sp>
      <p:sp>
        <p:nvSpPr>
          <p:cNvPr id="22" name="Text 20"/>
          <p:cNvSpPr/>
          <p:nvPr/>
        </p:nvSpPr>
        <p:spPr>
          <a:xfrm>
            <a:off x="548640" y="3931920"/>
            <a:ext cx="11094415" cy="914400"/>
          </a:xfrm>
          <a:prstGeom prst="rect">
            <a:avLst/>
          </a:prstGeom>
          <a:noFill/>
          <a:ln/>
        </p:spPr>
        <p:txBody>
          <a:bodyPr wrap="square" rtlCol="0" anchor="t"/>
          <a:lstStyle/>
          <a:p>
            <a:pPr indent="0" marL="0">
              <a:buNone/>
            </a:pPr>
            <a:r>
              <a:rPr lang="en-US" sz="1300" dirty="0">
                <a:solidFill>
                  <a:srgbClr val="171C26"/>
                </a:solidFill>
                <a:latin typeface="Helvetica" pitchFamily="34" charset="0"/>
                <a:ea typeface="Helvetica" pitchFamily="34" charset="-122"/>
                <a:cs typeface="Helvetica" pitchFamily="34" charset="-120"/>
              </a:rPr>
              <a:t>A reusable get_current_user dependency extracts and validates the bearer token, converts the subject into a UUID, retrieves the corresponding user from PostgreSQL, and makes that authenticated user available to protected endpoints.</a:t>
            </a:r>
            <a:endParaRPr lang="en-US" sz="1300" dirty="0"/>
          </a:p>
        </p:txBody>
      </p:sp>
      <p:sp>
        <p:nvSpPr>
          <p:cNvPr id="23" name="Text 21"/>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24" name="Text 22"/>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09</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0B1220"/>
                </a:solidFill>
                <a:latin typeface="Helvetica" pitchFamily="34" charset="0"/>
                <a:ea typeface="Helvetica" pitchFamily="34" charset="-122"/>
                <a:cs typeface="Helvetica" pitchFamily="34" charset="-120"/>
              </a:rPr>
              <a:t>Security &amp; Configuration Improvements</a:t>
            </a:r>
            <a:endParaRPr lang="en-US" sz="2500" dirty="0"/>
          </a:p>
        </p:txBody>
      </p:sp>
      <p:sp>
        <p:nvSpPr>
          <p:cNvPr id="4" name="Shape 2"/>
          <p:cNvSpPr/>
          <p:nvPr/>
        </p:nvSpPr>
        <p:spPr>
          <a:xfrm>
            <a:off x="10088575" y="502920"/>
            <a:ext cx="1554480" cy="310896"/>
          </a:xfrm>
          <a:prstGeom prst="rect">
            <a:avLst/>
          </a:prstGeom>
          <a:solidFill>
            <a:srgbClr val="0F9E8E"/>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security/</a:t>
            </a:r>
            <a:endParaRPr lang="en-US" sz="100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100"/>
              </a:spcAft>
              <a:buSzPct val="100000"/>
              <a:buChar char="●"/>
            </a:pPr>
            <a:r>
              <a:rPr lang="en-US" sz="1450" dirty="0">
                <a:solidFill>
                  <a:srgbClr val="171C26"/>
                </a:solidFill>
                <a:latin typeface="Helvetica" pitchFamily="34" charset="0"/>
                <a:ea typeface="Helvetica" pitchFamily="34" charset="-122"/>
                <a:cs typeface="Helvetica" pitchFamily="34" charset="-120"/>
              </a:rPr>
              <a:t>Argon2 password hashing through pwdlib.</a:t>
            </a:r>
            <a:endParaRPr lang="en-US" sz="1450" dirty="0"/>
          </a:p>
          <a:p>
            <a:pPr marL="228600" indent="-228600">
              <a:lnSpc>
                <a:spcPct val="115000"/>
              </a:lnSpc>
              <a:spcAft>
                <a:spcPts val="1100"/>
              </a:spcAft>
              <a:buSzPct val="100000"/>
              <a:buChar char="●"/>
            </a:pPr>
            <a:r>
              <a:rPr lang="en-US" sz="1450" dirty="0">
                <a:solidFill>
                  <a:srgbClr val="171C26"/>
                </a:solidFill>
                <a:latin typeface="Helvetica" pitchFamily="34" charset="0"/>
                <a:ea typeface="Helvetica" pitchFamily="34" charset="-122"/>
                <a:cs typeface="Helvetica" pitchFamily="34" charset="-120"/>
              </a:rPr>
              <a:t>JWT expiration validation.</a:t>
            </a:r>
            <a:endParaRPr lang="en-US" sz="1450" dirty="0"/>
          </a:p>
          <a:p>
            <a:pPr marL="228600" indent="-228600">
              <a:lnSpc>
                <a:spcPct val="115000"/>
              </a:lnSpc>
              <a:spcAft>
                <a:spcPts val="1100"/>
              </a:spcAft>
              <a:buSzPct val="100000"/>
              <a:buChar char="●"/>
            </a:pPr>
            <a:r>
              <a:rPr lang="en-US" sz="1450" dirty="0">
                <a:solidFill>
                  <a:srgbClr val="171C26"/>
                </a:solidFill>
                <a:latin typeface="Helvetica" pitchFamily="34" charset="0"/>
                <a:ea typeface="Helvetica" pitchFamily="34" charset="-122"/>
                <a:cs typeface="Helvetica" pitchFamily="34" charset="-120"/>
              </a:rPr>
              <a:t>Bearer-token validation through FastAPI security dependencies.</a:t>
            </a:r>
            <a:endParaRPr lang="en-US" sz="1450" dirty="0"/>
          </a:p>
          <a:p>
            <a:pPr marL="228600" indent="-228600">
              <a:lnSpc>
                <a:spcPct val="115000"/>
              </a:lnSpc>
              <a:spcAft>
                <a:spcPts val="1100"/>
              </a:spcAft>
              <a:buSzPct val="100000"/>
              <a:buChar char="●"/>
            </a:pPr>
            <a:r>
              <a:rPr lang="en-US" sz="1450" dirty="0">
                <a:solidFill>
                  <a:srgbClr val="171C26"/>
                </a:solidFill>
                <a:latin typeface="Helvetica" pitchFamily="34" charset="0"/>
                <a:ea typeface="Helvetica" pitchFamily="34" charset="-122"/>
                <a:cs typeface="Helvetica" pitchFamily="34" charset="-120"/>
              </a:rPr>
              <a:t>HTTP 401 responses for invalid, malformed and expired tokens.</a:t>
            </a:r>
            <a:endParaRPr lang="en-US" sz="1450" dirty="0"/>
          </a:p>
          <a:p>
            <a:pPr marL="228600" indent="-228600">
              <a:lnSpc>
                <a:spcPct val="115000"/>
              </a:lnSpc>
              <a:spcAft>
                <a:spcPts val="1100"/>
              </a:spcAft>
              <a:buSzPct val="100000"/>
              <a:buChar char="●"/>
            </a:pPr>
            <a:r>
              <a:rPr lang="en-US" sz="1450" dirty="0">
                <a:solidFill>
                  <a:srgbClr val="171C26"/>
                </a:solidFill>
                <a:latin typeface="Helvetica" pitchFamily="34" charset="0"/>
                <a:ea typeface="Helvetica" pitchFamily="34" charset="-122"/>
                <a:cs typeface="Helvetica" pitchFamily="34" charset="-120"/>
              </a:rPr>
              <a:t>Authenticated user existence checked against PostgreSQL.</a:t>
            </a:r>
            <a:endParaRPr lang="en-US" sz="1450" dirty="0"/>
          </a:p>
          <a:p>
            <a:pPr marL="228600" indent="-228600">
              <a:lnSpc>
                <a:spcPct val="115000"/>
              </a:lnSpc>
              <a:spcAft>
                <a:spcPts val="1100"/>
              </a:spcAft>
              <a:buSzPct val="100000"/>
              <a:buChar char="●"/>
            </a:pPr>
            <a:r>
              <a:rPr lang="en-US" sz="1450" dirty="0">
                <a:solidFill>
                  <a:srgbClr val="171C26"/>
                </a:solidFill>
                <a:latin typeface="Helvetica" pitchFamily="34" charset="0"/>
                <a:ea typeface="Helvetica" pitchFamily="34" charset="-122"/>
                <a:cs typeface="Helvetica" pitchFamily="34" charset="-120"/>
              </a:rPr>
              <a:t>Password hashes excluded from user API responses.</a:t>
            </a:r>
            <a:endParaRPr lang="en-US" sz="1450" dirty="0"/>
          </a:p>
          <a:p>
            <a:pPr marL="228600" indent="-228600">
              <a:lnSpc>
                <a:spcPct val="115000"/>
              </a:lnSpc>
              <a:spcAft>
                <a:spcPts val="1100"/>
              </a:spcAft>
              <a:buSzPct val="100000"/>
              <a:buChar char="●"/>
            </a:pPr>
            <a:r>
              <a:rPr lang="en-US" sz="1450" dirty="0">
                <a:solidFill>
                  <a:srgbClr val="171C26"/>
                </a:solidFill>
                <a:latin typeface="Helvetica" pitchFamily="34" charset="0"/>
                <a:ea typeface="Helvetica" pitchFamily="34" charset="-122"/>
                <a:cs typeface="Helvetica" pitchFamily="34" charset="-120"/>
              </a:rPr>
              <a:t>JWT secret, signing algorithm and token lifetime moved from source code into environment configuration; .env stays excluded from Git.</a:t>
            </a:r>
            <a:endParaRPr lang="en-US" sz="1450" dirty="0"/>
          </a:p>
        </p:txBody>
      </p:sp>
      <p:sp>
        <p:nvSpPr>
          <p:cNvPr id="7" name="Text 5"/>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10</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0B1220"/>
                </a:solidFill>
                <a:latin typeface="Helvetica" pitchFamily="34" charset="0"/>
                <a:ea typeface="Helvetica" pitchFamily="34" charset="-122"/>
                <a:cs typeface="Helvetica" pitchFamily="34" charset="-120"/>
              </a:rPr>
              <a:t>Testing &amp; Quality Validation</a:t>
            </a:r>
            <a:endParaRPr lang="en-US" sz="2500" dirty="0"/>
          </a:p>
        </p:txBody>
      </p:sp>
      <p:sp>
        <p:nvSpPr>
          <p:cNvPr id="4" name="Shape 2"/>
          <p:cNvSpPr/>
          <p:nvPr/>
        </p:nvSpPr>
        <p:spPr>
          <a:xfrm>
            <a:off x="10088575" y="502920"/>
            <a:ext cx="1554480" cy="310896"/>
          </a:xfrm>
          <a:prstGeom prst="rect">
            <a:avLst/>
          </a:prstGeom>
          <a:solidFill>
            <a:srgbClr val="0F9E8E"/>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testing/</a:t>
            </a:r>
            <a:endParaRPr lang="en-US" sz="1000" dirty="0"/>
          </a:p>
        </p:txBody>
      </p:sp>
      <p:sp>
        <p:nvSpPr>
          <p:cNvPr id="6" name="Shape 4"/>
          <p:cNvSpPr/>
          <p:nvPr/>
        </p:nvSpPr>
        <p:spPr>
          <a:xfrm>
            <a:off x="548640" y="1280160"/>
            <a:ext cx="2743200" cy="1371600"/>
          </a:xfrm>
          <a:prstGeom prst="rect">
            <a:avLst/>
          </a:prstGeom>
          <a:solidFill>
            <a:srgbClr val="E6F7F4"/>
          </a:solidFill>
          <a:ln w="12700">
            <a:solidFill>
              <a:srgbClr val="0F9E8E"/>
            </a:solidFill>
            <a:prstDash val="solid"/>
          </a:ln>
        </p:spPr>
      </p:sp>
      <p:sp>
        <p:nvSpPr>
          <p:cNvPr id="7" name="Text 5"/>
          <p:cNvSpPr/>
          <p:nvPr/>
        </p:nvSpPr>
        <p:spPr>
          <a:xfrm>
            <a:off x="548640" y="1417320"/>
            <a:ext cx="2743200" cy="777240"/>
          </a:xfrm>
          <a:prstGeom prst="rect">
            <a:avLst/>
          </a:prstGeom>
          <a:noFill/>
          <a:ln/>
        </p:spPr>
        <p:txBody>
          <a:bodyPr wrap="square" rtlCol="0" anchor="ctr"/>
          <a:lstStyle/>
          <a:p>
            <a:pPr algn="ctr" indent="0" marL="0">
              <a:buNone/>
            </a:pPr>
            <a:r>
              <a:rPr lang="en-US" sz="4400" b="1" dirty="0">
                <a:solidFill>
                  <a:srgbClr val="0F9E8E"/>
                </a:solidFill>
                <a:latin typeface="Helvetica" pitchFamily="34" charset="0"/>
                <a:ea typeface="Helvetica" pitchFamily="34" charset="-122"/>
                <a:cs typeface="Helvetica" pitchFamily="34" charset="-120"/>
              </a:rPr>
              <a:t>50</a:t>
            </a:r>
            <a:endParaRPr lang="en-US" sz="4400" dirty="0"/>
          </a:p>
        </p:txBody>
      </p:sp>
      <p:sp>
        <p:nvSpPr>
          <p:cNvPr id="8" name="Text 6"/>
          <p:cNvSpPr/>
          <p:nvPr/>
        </p:nvSpPr>
        <p:spPr>
          <a:xfrm>
            <a:off x="548640" y="2240280"/>
            <a:ext cx="2743200" cy="320040"/>
          </a:xfrm>
          <a:prstGeom prst="rect">
            <a:avLst/>
          </a:prstGeom>
          <a:noFill/>
          <a:ln/>
        </p:spPr>
        <p:txBody>
          <a:bodyPr wrap="square" rtlCol="0" anchor="ctr"/>
          <a:lstStyle/>
          <a:p>
            <a:pPr algn="ctr" indent="0" marL="0">
              <a:buNone/>
            </a:pPr>
            <a:r>
              <a:rPr lang="en-US" sz="1200" b="1" dirty="0">
                <a:solidFill>
                  <a:srgbClr val="0B1220"/>
                </a:solidFill>
                <a:latin typeface="Courier New" pitchFamily="34" charset="0"/>
                <a:ea typeface="Courier New" pitchFamily="34" charset="-122"/>
                <a:cs typeface="Courier New" pitchFamily="34" charset="-120"/>
              </a:rPr>
              <a:t>TESTS PASSING</a:t>
            </a:r>
            <a:endParaRPr lang="en-US" sz="1200" dirty="0"/>
          </a:p>
        </p:txBody>
      </p:sp>
      <p:sp>
        <p:nvSpPr>
          <p:cNvPr id="9" name="Text 7"/>
          <p:cNvSpPr/>
          <p:nvPr/>
        </p:nvSpPr>
        <p:spPr>
          <a:xfrm>
            <a:off x="3657600" y="1280160"/>
            <a:ext cx="7985455" cy="2926080"/>
          </a:xfrm>
          <a:prstGeom prst="rect">
            <a:avLst/>
          </a:prstGeom>
          <a:noFill/>
          <a:ln/>
        </p:spPr>
        <p:txBody>
          <a:bodyPr wrap="square" rtlCol="0" anchor="t"/>
          <a:lstStyle/>
          <a:p>
            <a:pPr marL="177800" indent="-177800">
              <a:spcAft>
                <a:spcPts val="500"/>
              </a:spcAft>
              <a:buSzPct val="100000"/>
              <a:buChar char="●"/>
            </a:pPr>
            <a:r>
              <a:rPr lang="en-US" sz="1200" dirty="0">
                <a:solidFill>
                  <a:srgbClr val="171C26"/>
                </a:solidFill>
                <a:latin typeface="Helvetica" pitchFamily="34" charset="0"/>
                <a:ea typeface="Helvetica" pitchFamily="34" charset="-122"/>
                <a:cs typeface="Helvetica" pitchFamily="34" charset="-120"/>
              </a:rPr>
              <a:t>Successful user registration.</a:t>
            </a:r>
            <a:endParaRPr lang="en-US" sz="1200" dirty="0"/>
          </a:p>
          <a:p>
            <a:pPr marL="177800" indent="-177800">
              <a:spcAft>
                <a:spcPts val="500"/>
              </a:spcAft>
              <a:buSzPct val="100000"/>
              <a:buChar char="●"/>
            </a:pPr>
            <a:r>
              <a:rPr lang="en-US" sz="1200" dirty="0">
                <a:solidFill>
                  <a:srgbClr val="171C26"/>
                </a:solidFill>
                <a:latin typeface="Helvetica" pitchFamily="34" charset="0"/>
                <a:ea typeface="Helvetica" pitchFamily="34" charset="-122"/>
                <a:cs typeface="Helvetica" pitchFamily="34" charset="-120"/>
              </a:rPr>
              <a:t>Duplicate-email registration rejection.</a:t>
            </a:r>
            <a:endParaRPr lang="en-US" sz="1200" dirty="0"/>
          </a:p>
          <a:p>
            <a:pPr marL="177800" indent="-177800">
              <a:spcAft>
                <a:spcPts val="500"/>
              </a:spcAft>
              <a:buSzPct val="100000"/>
              <a:buChar char="●"/>
            </a:pPr>
            <a:r>
              <a:rPr lang="en-US" sz="1200" dirty="0">
                <a:solidFill>
                  <a:srgbClr val="171C26"/>
                </a:solidFill>
                <a:latin typeface="Helvetica" pitchFamily="34" charset="0"/>
                <a:ea typeface="Helvetica" pitchFamily="34" charset="-122"/>
                <a:cs typeface="Helvetica" pitchFamily="34" charset="-120"/>
              </a:rPr>
              <a:t>Successful login with valid credentials.</a:t>
            </a:r>
            <a:endParaRPr lang="en-US" sz="1200" dirty="0"/>
          </a:p>
          <a:p>
            <a:pPr marL="177800" indent="-177800">
              <a:spcAft>
                <a:spcPts val="500"/>
              </a:spcAft>
              <a:buSzPct val="100000"/>
              <a:buChar char="●"/>
            </a:pPr>
            <a:r>
              <a:rPr lang="en-US" sz="1200" dirty="0">
                <a:solidFill>
                  <a:srgbClr val="171C26"/>
                </a:solidFill>
                <a:latin typeface="Helvetica" pitchFamily="34" charset="0"/>
                <a:ea typeface="Helvetica" pitchFamily="34" charset="-122"/>
                <a:cs typeface="Helvetica" pitchFamily="34" charset="-120"/>
              </a:rPr>
              <a:t>Wrong-password rejection.</a:t>
            </a:r>
            <a:endParaRPr lang="en-US" sz="1200" dirty="0"/>
          </a:p>
          <a:p>
            <a:pPr marL="177800" indent="-177800">
              <a:spcAft>
                <a:spcPts val="500"/>
              </a:spcAft>
              <a:buSzPct val="100000"/>
              <a:buChar char="●"/>
            </a:pPr>
            <a:r>
              <a:rPr lang="en-US" sz="1200" dirty="0">
                <a:solidFill>
                  <a:srgbClr val="171C26"/>
                </a:solidFill>
                <a:latin typeface="Helvetica" pitchFamily="34" charset="0"/>
                <a:ea typeface="Helvetica" pitchFamily="34" charset="-122"/>
                <a:cs typeface="Helvetica" pitchFamily="34" charset="-120"/>
              </a:rPr>
              <a:t>Non-existent-user rejection.</a:t>
            </a:r>
            <a:endParaRPr lang="en-US" sz="1200" dirty="0"/>
          </a:p>
          <a:p>
            <a:pPr marL="177800" indent="-177800">
              <a:spcAft>
                <a:spcPts val="500"/>
              </a:spcAft>
              <a:buSzPct val="100000"/>
              <a:buChar char="●"/>
            </a:pPr>
            <a:r>
              <a:rPr lang="en-US" sz="1200" dirty="0">
                <a:solidFill>
                  <a:srgbClr val="171C26"/>
                </a:solidFill>
                <a:latin typeface="Helvetica" pitchFamily="34" charset="0"/>
                <a:ea typeface="Helvetica" pitchFamily="34" charset="-122"/>
                <a:cs typeface="Helvetica" pitchFamily="34" charset="-120"/>
              </a:rPr>
              <a:t>Valid JWT access to /users/me.</a:t>
            </a:r>
            <a:endParaRPr lang="en-US" sz="1200" dirty="0"/>
          </a:p>
          <a:p>
            <a:pPr marL="177800" indent="-177800">
              <a:spcAft>
                <a:spcPts val="500"/>
              </a:spcAft>
              <a:buSzPct val="100000"/>
              <a:buChar char="●"/>
            </a:pPr>
            <a:r>
              <a:rPr lang="en-US" sz="1200" dirty="0">
                <a:solidFill>
                  <a:srgbClr val="171C26"/>
                </a:solidFill>
                <a:latin typeface="Helvetica" pitchFamily="34" charset="0"/>
                <a:ea typeface="Helvetica" pitchFamily="34" charset="-122"/>
                <a:cs typeface="Helvetica" pitchFamily="34" charset="-120"/>
              </a:rPr>
              <a:t>Missing-token rejection.</a:t>
            </a:r>
            <a:endParaRPr lang="en-US" sz="1200" dirty="0"/>
          </a:p>
          <a:p>
            <a:pPr marL="177800" indent="-177800">
              <a:spcAft>
                <a:spcPts val="500"/>
              </a:spcAft>
              <a:buSzPct val="100000"/>
              <a:buChar char="●"/>
            </a:pPr>
            <a:r>
              <a:rPr lang="en-US" sz="1200" dirty="0">
                <a:solidFill>
                  <a:srgbClr val="171C26"/>
                </a:solidFill>
                <a:latin typeface="Helvetica" pitchFamily="34" charset="0"/>
                <a:ea typeface="Helvetica" pitchFamily="34" charset="-122"/>
                <a:cs typeface="Helvetica" pitchFamily="34" charset="-120"/>
              </a:rPr>
              <a:t>Invalid-token rejection.</a:t>
            </a:r>
            <a:endParaRPr lang="en-US" sz="1200" dirty="0"/>
          </a:p>
          <a:p>
            <a:pPr marL="177800" indent="-177800">
              <a:spcAft>
                <a:spcPts val="500"/>
              </a:spcAft>
              <a:buSzPct val="100000"/>
              <a:buChar char="●"/>
            </a:pPr>
            <a:r>
              <a:rPr lang="en-US" sz="1200" dirty="0">
                <a:solidFill>
                  <a:srgbClr val="171C26"/>
                </a:solidFill>
                <a:latin typeface="Helvetica" pitchFamily="34" charset="0"/>
                <a:ea typeface="Helvetica" pitchFamily="34" charset="-122"/>
                <a:cs typeface="Helvetica" pitchFamily="34" charset="-120"/>
              </a:rPr>
              <a:t>Malformed-token rejection.</a:t>
            </a:r>
            <a:endParaRPr lang="en-US" sz="1200" dirty="0"/>
          </a:p>
          <a:p>
            <a:pPr marL="177800" indent="-177800">
              <a:spcAft>
                <a:spcPts val="500"/>
              </a:spcAft>
              <a:buSzPct val="100000"/>
              <a:buChar char="●"/>
            </a:pPr>
            <a:r>
              <a:rPr lang="en-US" sz="1200" dirty="0">
                <a:solidFill>
                  <a:srgbClr val="171C26"/>
                </a:solidFill>
                <a:latin typeface="Helvetica" pitchFamily="34" charset="0"/>
                <a:ea typeface="Helvetica" pitchFamily="34" charset="-122"/>
                <a:cs typeface="Helvetica" pitchFamily="34" charset="-120"/>
              </a:rPr>
              <a:t>Expired-token rejection.</a:t>
            </a:r>
            <a:endParaRPr lang="en-US" sz="1200" dirty="0"/>
          </a:p>
        </p:txBody>
      </p:sp>
      <p:sp>
        <p:nvSpPr>
          <p:cNvPr id="10" name="Text 8"/>
          <p:cNvSpPr/>
          <p:nvPr/>
        </p:nvSpPr>
        <p:spPr>
          <a:xfrm>
            <a:off x="548640" y="4572000"/>
            <a:ext cx="11094415" cy="548640"/>
          </a:xfrm>
          <a:prstGeom prst="rect">
            <a:avLst/>
          </a:prstGeom>
          <a:noFill/>
          <a:ln/>
        </p:spPr>
        <p:txBody>
          <a:bodyPr wrap="square" rtlCol="0" anchor="t"/>
          <a:lstStyle/>
          <a:p>
            <a:pPr indent="0" marL="0">
              <a:buNone/>
            </a:pPr>
            <a:r>
              <a:rPr lang="en-US" sz="1150" i="1" dirty="0">
                <a:solidFill>
                  <a:srgbClr val="5A6472"/>
                </a:solidFill>
                <a:latin typeface="Helvetica" pitchFamily="34" charset="0"/>
                <a:ea typeface="Helvetica" pitchFamily="34" charset="-122"/>
                <a:cs typeface="Helvetica" pitchFamily="34" charset="-120"/>
              </a:rPr>
              <a:t>Non-blocking dependency deprecation warnings are reported but do not currently cause failures; cleanup is scheduled as a maintenance task after the core implementation milestone.</a:t>
            </a:r>
            <a:endParaRPr lang="en-US" sz="1150" dirty="0"/>
          </a:p>
        </p:txBody>
      </p:sp>
      <p:sp>
        <p:nvSpPr>
          <p:cNvPr id="11" name="Text 9"/>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12" name="Text 10"/>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0F9E8E"/>
                </a:solidFill>
                <a:latin typeface="Helvetica" pitchFamily="34" charset="0"/>
                <a:ea typeface="Helvetica" pitchFamily="34" charset="-122"/>
                <a:cs typeface="Helvetica" pitchFamily="34" charset="-120"/>
              </a:rPr>
              <a:t>11</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0B1220"/>
                </a:solidFill>
                <a:latin typeface="Helvetica" pitchFamily="34" charset="0"/>
                <a:ea typeface="Helvetica" pitchFamily="34" charset="-122"/>
                <a:cs typeface="Helvetica" pitchFamily="34" charset="-120"/>
              </a:rPr>
              <a:t>Current Backend Structure</a:t>
            </a:r>
            <a:endParaRPr lang="en-US" sz="2500" dirty="0"/>
          </a:p>
        </p:txBody>
      </p:sp>
      <p:sp>
        <p:nvSpPr>
          <p:cNvPr id="4" name="Shape 2"/>
          <p:cNvSpPr/>
          <p:nvPr/>
        </p:nvSpPr>
        <p:spPr>
          <a:xfrm>
            <a:off x="10088575" y="502920"/>
            <a:ext cx="1554480" cy="310896"/>
          </a:xfrm>
          <a:prstGeom prst="rect">
            <a:avLst/>
          </a:prstGeom>
          <a:solidFill>
            <a:srgbClr val="0F9E8E"/>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structure/</a:t>
            </a:r>
            <a:endParaRPr lang="en-US" sz="1000" dirty="0"/>
          </a:p>
        </p:txBody>
      </p:sp>
      <p:sp>
        <p:nvSpPr>
          <p:cNvPr id="6" name="Text 4"/>
          <p:cNvSpPr/>
          <p:nvPr/>
        </p:nvSpPr>
        <p:spPr>
          <a:xfrm>
            <a:off x="548640" y="1234440"/>
            <a:ext cx="11094415" cy="548640"/>
          </a:xfrm>
          <a:prstGeom prst="rect">
            <a:avLst/>
          </a:prstGeom>
          <a:noFill/>
          <a:ln/>
        </p:spPr>
        <p:txBody>
          <a:bodyPr wrap="square" rtlCol="0" anchor="t"/>
          <a:lstStyle/>
          <a:p>
            <a:pPr indent="0" marL="0">
              <a:buNone/>
            </a:pPr>
            <a:r>
              <a:rPr lang="en-US" sz="1300" dirty="0">
                <a:solidFill>
                  <a:srgbClr val="171C26"/>
                </a:solidFill>
                <a:latin typeface="Helvetica" pitchFamily="34" charset="0"/>
                <a:ea typeface="Helvetica" pitchFamily="34" charset="-122"/>
                <a:cs typeface="Helvetica" pitchFamily="34" charset="-120"/>
              </a:rPr>
              <a:t>Clear boundaries between infrastructure, persistence, application logic and HTTP interfaces — consistent with the incremental implementation approach established in the previous roadmap.</a:t>
            </a:r>
            <a:endParaRPr lang="en-US" sz="1300" dirty="0"/>
          </a:p>
        </p:txBody>
      </p:sp>
      <p:sp>
        <p:nvSpPr>
          <p:cNvPr id="7" name="Shape 5"/>
          <p:cNvSpPr/>
          <p:nvPr/>
        </p:nvSpPr>
        <p:spPr>
          <a:xfrm>
            <a:off x="548640" y="1920240"/>
            <a:ext cx="11094415" cy="4023360"/>
          </a:xfrm>
          <a:prstGeom prst="rect">
            <a:avLst/>
          </a:prstGeom>
          <a:solidFill>
            <a:srgbClr val="F5F7FA"/>
          </a:solidFill>
          <a:ln w="12700">
            <a:solidFill>
              <a:srgbClr val="DCE2EA"/>
            </a:solidFill>
            <a:prstDash val="solid"/>
          </a:ln>
        </p:spPr>
      </p:sp>
      <p:sp>
        <p:nvSpPr>
          <p:cNvPr id="8" name="Text 6"/>
          <p:cNvSpPr/>
          <p:nvPr/>
        </p:nvSpPr>
        <p:spPr>
          <a:xfrm>
            <a:off x="777240" y="2057400"/>
            <a:ext cx="10637215" cy="3749040"/>
          </a:xfrm>
          <a:prstGeom prst="rect">
            <a:avLst/>
          </a:prstGeom>
          <a:noFill/>
          <a:ln/>
        </p:spPr>
        <p:txBody>
          <a:bodyPr wrap="square" rtlCol="0" anchor="t"/>
          <a:lstStyle/>
          <a:p>
            <a:pPr indent="0" marL="0">
              <a:lnSpc>
                <a:spcPct val="125000"/>
              </a:lnSpc>
              <a:buNone/>
            </a:pPr>
            <a:r>
              <a:rPr lang="en-US" sz="1300" dirty="0">
                <a:solidFill>
                  <a:srgbClr val="171C26"/>
                </a:solidFill>
                <a:latin typeface="Courier New" pitchFamily="34" charset="0"/>
                <a:ea typeface="Courier New" pitchFamily="34" charset="-122"/>
                <a:cs typeface="Courier New" pitchFamily="34" charset="-120"/>
              </a:rPr>
              <a:t>backend/</a:t>
            </a:r>
            <a:endParaRPr lang="en-US" sz="1300" dirty="0"/>
          </a:p>
          <a:p>
            <a:pPr indent="0" marL="0">
              <a:lnSpc>
                <a:spcPct val="125000"/>
              </a:lnSpc>
              <a:buNone/>
            </a:pPr>
            <a:r>
              <a:rPr lang="en-US" sz="1300" dirty="0">
                <a:solidFill>
                  <a:srgbClr val="171C26"/>
                </a:solidFill>
                <a:latin typeface="Courier New" pitchFamily="34" charset="0"/>
                <a:ea typeface="Courier New" pitchFamily="34" charset="-122"/>
                <a:cs typeface="Courier New" pitchFamily="34" charset="-120"/>
              </a:rPr>
              <a:t>  app/</a:t>
            </a:r>
            <a:endParaRPr lang="en-US" sz="1300" dirty="0"/>
          </a:p>
          <a:p>
            <a:pPr indent="0" marL="0">
              <a:lnSpc>
                <a:spcPct val="125000"/>
              </a:lnSpc>
              <a:buNone/>
            </a:pPr>
            <a:r>
              <a:rPr lang="en-US" sz="1300" dirty="0">
                <a:solidFill>
                  <a:srgbClr val="171C26"/>
                </a:solidFill>
                <a:latin typeface="Courier New" pitchFamily="34" charset="0"/>
                <a:ea typeface="Courier New" pitchFamily="34" charset="-122"/>
                <a:cs typeface="Courier New" pitchFamily="34" charset="-120"/>
              </a:rPr>
              <a:t>    main.py</a:t>
            </a:r>
            <a:endParaRPr lang="en-US" sz="1300" dirty="0"/>
          </a:p>
          <a:p>
            <a:pPr indent="0" marL="0">
              <a:lnSpc>
                <a:spcPct val="125000"/>
              </a:lnSpc>
              <a:buNone/>
            </a:pPr>
            <a:r>
              <a:rPr lang="en-US" sz="1300" dirty="0">
                <a:solidFill>
                  <a:srgbClr val="171C26"/>
                </a:solidFill>
                <a:latin typeface="Courier New" pitchFamily="34" charset="0"/>
                <a:ea typeface="Courier New" pitchFamily="34" charset="-122"/>
                <a:cs typeface="Courier New" pitchFamily="34" charset="-120"/>
              </a:rPr>
              <a:t>    core/            database.py, security.py, dependencies.py</a:t>
            </a:r>
            <a:endParaRPr lang="en-US" sz="1300" dirty="0"/>
          </a:p>
          <a:p>
            <a:pPr indent="0" marL="0">
              <a:lnSpc>
                <a:spcPct val="125000"/>
              </a:lnSpc>
              <a:buNone/>
            </a:pPr>
            <a:r>
              <a:rPr lang="en-US" sz="1300" dirty="0">
                <a:solidFill>
                  <a:srgbClr val="171C26"/>
                </a:solidFill>
                <a:latin typeface="Courier New" pitchFamily="34" charset="0"/>
                <a:ea typeface="Courier New" pitchFamily="34" charset="-122"/>
                <a:cs typeface="Courier New" pitchFamily="34" charset="-120"/>
              </a:rPr>
              <a:t>    models/          8 SQLAlchemy models</a:t>
            </a:r>
            <a:endParaRPr lang="en-US" sz="1300" dirty="0"/>
          </a:p>
          <a:p>
            <a:pPr indent="0" marL="0">
              <a:lnSpc>
                <a:spcPct val="125000"/>
              </a:lnSpc>
              <a:buNone/>
            </a:pPr>
            <a:r>
              <a:rPr lang="en-US" sz="1300" dirty="0">
                <a:solidFill>
                  <a:srgbClr val="171C26"/>
                </a:solidFill>
                <a:latin typeface="Courier New" pitchFamily="34" charset="0"/>
                <a:ea typeface="Courier New" pitchFamily="34" charset="-122"/>
                <a:cs typeface="Courier New" pitchFamily="34" charset="-120"/>
              </a:rPr>
              <a:t>    repositories/     database access layer</a:t>
            </a:r>
            <a:endParaRPr lang="en-US" sz="1300" dirty="0"/>
          </a:p>
          <a:p>
            <a:pPr indent="0" marL="0">
              <a:lnSpc>
                <a:spcPct val="125000"/>
              </a:lnSpc>
              <a:buNone/>
            </a:pPr>
            <a:r>
              <a:rPr lang="en-US" sz="1300" dirty="0">
                <a:solidFill>
                  <a:srgbClr val="171C26"/>
                </a:solidFill>
                <a:latin typeface="Courier New" pitchFamily="34" charset="0"/>
                <a:ea typeface="Courier New" pitchFamily="34" charset="-122"/>
                <a:cs typeface="Courier New" pitchFamily="34" charset="-120"/>
              </a:rPr>
              <a:t>    schemas/          Pydantic API contracts</a:t>
            </a:r>
            <a:endParaRPr lang="en-US" sz="1300" dirty="0"/>
          </a:p>
          <a:p>
            <a:pPr indent="0" marL="0">
              <a:lnSpc>
                <a:spcPct val="125000"/>
              </a:lnSpc>
              <a:buNone/>
            </a:pPr>
            <a:r>
              <a:rPr lang="en-US" sz="1300" dirty="0">
                <a:solidFill>
                  <a:srgbClr val="171C26"/>
                </a:solidFill>
                <a:latin typeface="Courier New" pitchFamily="34" charset="0"/>
                <a:ea typeface="Courier New" pitchFamily="34" charset="-122"/>
                <a:cs typeface="Courier New" pitchFamily="34" charset="-120"/>
              </a:rPr>
              <a:t>    services/         application/business logic</a:t>
            </a:r>
            <a:endParaRPr lang="en-US" sz="1300" dirty="0"/>
          </a:p>
          <a:p>
            <a:pPr indent="0" marL="0">
              <a:lnSpc>
                <a:spcPct val="125000"/>
              </a:lnSpc>
              <a:buNone/>
            </a:pPr>
            <a:r>
              <a:rPr lang="en-US" sz="1300" dirty="0">
                <a:solidFill>
                  <a:srgbClr val="171C26"/>
                </a:solidFill>
                <a:latin typeface="Courier New" pitchFamily="34" charset="0"/>
                <a:ea typeface="Courier New" pitchFamily="34" charset="-122"/>
                <a:cs typeface="Courier New" pitchFamily="34" charset="-120"/>
              </a:rPr>
              <a:t>    routers/          REST endpoints</a:t>
            </a:r>
            <a:endParaRPr lang="en-US" sz="1300" dirty="0"/>
          </a:p>
          <a:p>
            <a:pPr indent="0" marL="0">
              <a:lnSpc>
                <a:spcPct val="125000"/>
              </a:lnSpc>
              <a:buNone/>
            </a:pPr>
            <a:r>
              <a:rPr lang="en-US" sz="1300" dirty="0">
                <a:solidFill>
                  <a:srgbClr val="171C26"/>
                </a:solidFill>
                <a:latin typeface="Courier New" pitchFamily="34" charset="0"/>
                <a:ea typeface="Courier New" pitchFamily="34" charset="-122"/>
                <a:cs typeface="Courier New" pitchFamily="34" charset="-120"/>
              </a:rPr>
              <a:t>  alembic/            database migrations</a:t>
            </a:r>
            <a:endParaRPr lang="en-US" sz="1300" dirty="0"/>
          </a:p>
          <a:p>
            <a:pPr indent="0" marL="0">
              <a:lnSpc>
                <a:spcPct val="125000"/>
              </a:lnSpc>
              <a:buNone/>
            </a:pPr>
            <a:r>
              <a:rPr lang="en-US" sz="1300" dirty="0">
                <a:solidFill>
                  <a:srgbClr val="171C26"/>
                </a:solidFill>
                <a:latin typeface="Courier New" pitchFamily="34" charset="0"/>
                <a:ea typeface="Courier New" pitchFamily="34" charset="-122"/>
                <a:cs typeface="Courier New" pitchFamily="34" charset="-120"/>
              </a:rPr>
              <a:t>  alembic.ini</a:t>
            </a:r>
            <a:endParaRPr lang="en-US" sz="1300" dirty="0"/>
          </a:p>
          <a:p>
            <a:pPr indent="0" marL="0">
              <a:lnSpc>
                <a:spcPct val="125000"/>
              </a:lnSpc>
              <a:buNone/>
            </a:pPr>
            <a:r>
              <a:rPr lang="en-US" sz="1300" dirty="0">
                <a:solidFill>
                  <a:srgbClr val="171C26"/>
                </a:solidFill>
                <a:latin typeface="Courier New" pitchFamily="34" charset="0"/>
                <a:ea typeface="Courier New" pitchFamily="34" charset="-122"/>
                <a:cs typeface="Courier New" pitchFamily="34" charset="-120"/>
              </a:rPr>
              <a:t>  requirements.txt</a:t>
            </a:r>
            <a:endParaRPr lang="en-US" sz="1300" dirty="0"/>
          </a:p>
          <a:p>
            <a:pPr indent="0" marL="0">
              <a:lnSpc>
                <a:spcPct val="125000"/>
              </a:lnSpc>
              <a:buNone/>
            </a:pPr>
            <a:r>
              <a:rPr lang="en-US" sz="1300" dirty="0">
                <a:solidFill>
                  <a:srgbClr val="171C26"/>
                </a:solidFill>
                <a:latin typeface="Courier New" pitchFamily="34" charset="0"/>
                <a:ea typeface="Courier New" pitchFamily="34" charset="-122"/>
                <a:cs typeface="Courier New" pitchFamily="34" charset="-120"/>
              </a:rPr>
              <a:t>  tests/               API + authentication tests</a:t>
            </a:r>
            <a:endParaRPr lang="en-US" sz="1300" dirty="0"/>
          </a:p>
        </p:txBody>
      </p:sp>
      <p:sp>
        <p:nvSpPr>
          <p:cNvPr id="9" name="Text 7"/>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10" name="Text 8"/>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12</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0B1220"/>
                </a:solidFill>
                <a:latin typeface="Helvetica" pitchFamily="34" charset="0"/>
                <a:ea typeface="Helvetica" pitchFamily="34" charset="-122"/>
                <a:cs typeface="Helvetica" pitchFamily="34" charset="-120"/>
              </a:rPr>
              <a:t>Next Implementation Milestone</a:t>
            </a:r>
            <a:endParaRPr lang="en-US" sz="2500" dirty="0"/>
          </a:p>
        </p:txBody>
      </p:sp>
      <p:sp>
        <p:nvSpPr>
          <p:cNvPr id="4" name="Shape 2"/>
          <p:cNvSpPr/>
          <p:nvPr/>
        </p:nvSpPr>
        <p:spPr>
          <a:xfrm>
            <a:off x="10088575" y="502920"/>
            <a:ext cx="1554480" cy="310896"/>
          </a:xfrm>
          <a:prstGeom prst="rect">
            <a:avLst/>
          </a:prstGeom>
          <a:solidFill>
            <a:srgbClr val="B9760C"/>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next/</a:t>
            </a:r>
            <a:endParaRPr lang="en-US" sz="1000" dirty="0"/>
          </a:p>
        </p:txBody>
      </p:sp>
      <p:sp>
        <p:nvSpPr>
          <p:cNvPr id="6" name="Shape 4"/>
          <p:cNvSpPr/>
          <p:nvPr/>
        </p:nvSpPr>
        <p:spPr>
          <a:xfrm>
            <a:off x="548640" y="1280160"/>
            <a:ext cx="292608" cy="292608"/>
          </a:xfrm>
          <a:prstGeom prst="ellipse">
            <a:avLst/>
          </a:prstGeom>
          <a:solidFill>
            <a:srgbClr val="B9760C"/>
          </a:solidFill>
          <a:ln/>
        </p:spPr>
      </p:sp>
      <p:sp>
        <p:nvSpPr>
          <p:cNvPr id="7" name="Text 5"/>
          <p:cNvSpPr/>
          <p:nvPr/>
        </p:nvSpPr>
        <p:spPr>
          <a:xfrm>
            <a:off x="548640" y="1280160"/>
            <a:ext cx="292608" cy="292608"/>
          </a:xfrm>
          <a:prstGeom prst="rect">
            <a:avLst/>
          </a:prstGeom>
          <a:noFill/>
          <a:ln/>
        </p:spPr>
        <p:txBody>
          <a:bodyPr wrap="square"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a:t>
            </a:r>
            <a:endParaRPr lang="en-US" sz="1100" dirty="0"/>
          </a:p>
        </p:txBody>
      </p:sp>
      <p:sp>
        <p:nvSpPr>
          <p:cNvPr id="8" name="Text 6"/>
          <p:cNvSpPr/>
          <p:nvPr/>
        </p:nvSpPr>
        <p:spPr>
          <a:xfrm>
            <a:off x="987552" y="1225296"/>
            <a:ext cx="10655503" cy="475488"/>
          </a:xfrm>
          <a:prstGeom prst="rect">
            <a:avLst/>
          </a:prstGeom>
          <a:noFill/>
          <a:ln/>
        </p:spPr>
        <p:txBody>
          <a:bodyPr wrap="square" rtlCol="0" anchor="ctr"/>
          <a:lstStyle/>
          <a:p>
            <a:pPr indent="0" marL="0">
              <a:buNone/>
            </a:pPr>
            <a:r>
              <a:rPr lang="en-US" sz="1250" dirty="0">
                <a:solidFill>
                  <a:srgbClr val="171C26"/>
                </a:solidFill>
                <a:latin typeface="Helvetica" pitchFamily="34" charset="0"/>
                <a:ea typeface="Helvetica" pitchFamily="34" charset="-122"/>
                <a:cs typeface="Helvetica" pitchFamily="34" charset="-120"/>
              </a:rPr>
              <a:t>Complete authorization and ownership checks so authenticated users can access only resources they are permitted to.</a:t>
            </a:r>
            <a:endParaRPr lang="en-US" sz="1250" dirty="0"/>
          </a:p>
        </p:txBody>
      </p:sp>
      <p:sp>
        <p:nvSpPr>
          <p:cNvPr id="9" name="Shape 7"/>
          <p:cNvSpPr/>
          <p:nvPr/>
        </p:nvSpPr>
        <p:spPr>
          <a:xfrm>
            <a:off x="548640" y="1792224"/>
            <a:ext cx="292608" cy="292608"/>
          </a:xfrm>
          <a:prstGeom prst="ellipse">
            <a:avLst/>
          </a:prstGeom>
          <a:solidFill>
            <a:srgbClr val="B9760C"/>
          </a:solidFill>
          <a:ln/>
        </p:spPr>
      </p:sp>
      <p:sp>
        <p:nvSpPr>
          <p:cNvPr id="10" name="Text 8"/>
          <p:cNvSpPr/>
          <p:nvPr/>
        </p:nvSpPr>
        <p:spPr>
          <a:xfrm>
            <a:off x="548640" y="1792224"/>
            <a:ext cx="292608" cy="292608"/>
          </a:xfrm>
          <a:prstGeom prst="rect">
            <a:avLst/>
          </a:prstGeom>
          <a:noFill/>
          <a:ln/>
        </p:spPr>
        <p:txBody>
          <a:bodyPr wrap="square"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a:t>
            </a:r>
            <a:endParaRPr lang="en-US" sz="1100" dirty="0"/>
          </a:p>
        </p:txBody>
      </p:sp>
      <p:sp>
        <p:nvSpPr>
          <p:cNvPr id="11" name="Text 9"/>
          <p:cNvSpPr/>
          <p:nvPr/>
        </p:nvSpPr>
        <p:spPr>
          <a:xfrm>
            <a:off x="987552" y="1737360"/>
            <a:ext cx="10655503" cy="475488"/>
          </a:xfrm>
          <a:prstGeom prst="rect">
            <a:avLst/>
          </a:prstGeom>
          <a:noFill/>
          <a:ln/>
        </p:spPr>
        <p:txBody>
          <a:bodyPr wrap="square" rtlCol="0" anchor="ctr"/>
          <a:lstStyle/>
          <a:p>
            <a:pPr indent="0" marL="0">
              <a:buNone/>
            </a:pPr>
            <a:r>
              <a:rPr lang="en-US" sz="1250" dirty="0">
                <a:solidFill>
                  <a:srgbClr val="171C26"/>
                </a:solidFill>
                <a:latin typeface="Helvetica" pitchFamily="34" charset="0"/>
                <a:ea typeface="Helvetica" pitchFamily="34" charset="-122"/>
                <a:cs typeface="Helvetica" pitchFamily="34" charset="-120"/>
              </a:rPr>
              <a:t>Refine user-creation boundaries so public APIs do not accept precomputed password hashes directly.</a:t>
            </a:r>
            <a:endParaRPr lang="en-US" sz="1250" dirty="0"/>
          </a:p>
        </p:txBody>
      </p:sp>
      <p:sp>
        <p:nvSpPr>
          <p:cNvPr id="12" name="Shape 10"/>
          <p:cNvSpPr/>
          <p:nvPr/>
        </p:nvSpPr>
        <p:spPr>
          <a:xfrm>
            <a:off x="548640" y="2304288"/>
            <a:ext cx="292608" cy="292608"/>
          </a:xfrm>
          <a:prstGeom prst="ellipse">
            <a:avLst/>
          </a:prstGeom>
          <a:solidFill>
            <a:srgbClr val="B9760C"/>
          </a:solidFill>
          <a:ln/>
        </p:spPr>
      </p:sp>
      <p:sp>
        <p:nvSpPr>
          <p:cNvPr id="13" name="Text 11"/>
          <p:cNvSpPr/>
          <p:nvPr/>
        </p:nvSpPr>
        <p:spPr>
          <a:xfrm>
            <a:off x="548640" y="2304288"/>
            <a:ext cx="292608" cy="292608"/>
          </a:xfrm>
          <a:prstGeom prst="rect">
            <a:avLst/>
          </a:prstGeom>
          <a:noFill/>
          <a:ln/>
        </p:spPr>
        <p:txBody>
          <a:bodyPr wrap="square"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3</a:t>
            </a:r>
            <a:endParaRPr lang="en-US" sz="1100" dirty="0"/>
          </a:p>
        </p:txBody>
      </p:sp>
      <p:sp>
        <p:nvSpPr>
          <p:cNvPr id="14" name="Text 12"/>
          <p:cNvSpPr/>
          <p:nvPr/>
        </p:nvSpPr>
        <p:spPr>
          <a:xfrm>
            <a:off x="987552" y="2249424"/>
            <a:ext cx="10655503" cy="475488"/>
          </a:xfrm>
          <a:prstGeom prst="rect">
            <a:avLst/>
          </a:prstGeom>
          <a:noFill/>
          <a:ln/>
        </p:spPr>
        <p:txBody>
          <a:bodyPr wrap="square" rtlCol="0" anchor="ctr"/>
          <a:lstStyle/>
          <a:p>
            <a:pPr indent="0" marL="0">
              <a:buNone/>
            </a:pPr>
            <a:r>
              <a:rPr lang="en-US" sz="1250" dirty="0">
                <a:solidFill>
                  <a:srgbClr val="171C26"/>
                </a:solidFill>
                <a:latin typeface="Helvetica" pitchFamily="34" charset="0"/>
                <a:ea typeface="Helvetica" pitchFamily="34" charset="-122"/>
                <a:cs typeface="Helvetica" pitchFamily="34" charset="-120"/>
              </a:rPr>
              <a:t>Strengthen authentication and configuration handling before broader feature integration.</a:t>
            </a:r>
            <a:endParaRPr lang="en-US" sz="1250" dirty="0"/>
          </a:p>
        </p:txBody>
      </p:sp>
      <p:sp>
        <p:nvSpPr>
          <p:cNvPr id="15" name="Shape 13"/>
          <p:cNvSpPr/>
          <p:nvPr/>
        </p:nvSpPr>
        <p:spPr>
          <a:xfrm>
            <a:off x="548640" y="2816352"/>
            <a:ext cx="292608" cy="292608"/>
          </a:xfrm>
          <a:prstGeom prst="ellipse">
            <a:avLst/>
          </a:prstGeom>
          <a:solidFill>
            <a:srgbClr val="B9760C"/>
          </a:solidFill>
          <a:ln/>
        </p:spPr>
      </p:sp>
      <p:sp>
        <p:nvSpPr>
          <p:cNvPr id="16" name="Text 14"/>
          <p:cNvSpPr/>
          <p:nvPr/>
        </p:nvSpPr>
        <p:spPr>
          <a:xfrm>
            <a:off x="548640" y="2816352"/>
            <a:ext cx="292608" cy="292608"/>
          </a:xfrm>
          <a:prstGeom prst="rect">
            <a:avLst/>
          </a:prstGeom>
          <a:noFill/>
          <a:ln/>
        </p:spPr>
        <p:txBody>
          <a:bodyPr wrap="square"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4</a:t>
            </a:r>
            <a:endParaRPr lang="en-US" sz="1100" dirty="0"/>
          </a:p>
        </p:txBody>
      </p:sp>
      <p:sp>
        <p:nvSpPr>
          <p:cNvPr id="17" name="Text 15"/>
          <p:cNvSpPr/>
          <p:nvPr/>
        </p:nvSpPr>
        <p:spPr>
          <a:xfrm>
            <a:off x="987552" y="2761488"/>
            <a:ext cx="10655503" cy="475488"/>
          </a:xfrm>
          <a:prstGeom prst="rect">
            <a:avLst/>
          </a:prstGeom>
          <a:noFill/>
          <a:ln/>
        </p:spPr>
        <p:txBody>
          <a:bodyPr wrap="square" rtlCol="0" anchor="ctr"/>
          <a:lstStyle/>
          <a:p>
            <a:pPr indent="0" marL="0">
              <a:buNone/>
            </a:pPr>
            <a:r>
              <a:rPr lang="en-US" sz="1250" dirty="0">
                <a:solidFill>
                  <a:srgbClr val="171C26"/>
                </a:solidFill>
                <a:latin typeface="Helvetica" pitchFamily="34" charset="0"/>
                <a:ea typeface="Helvetica" pitchFamily="34" charset="-122"/>
                <a:cs typeface="Helvetica" pitchFamily="34" charset="-120"/>
              </a:rPr>
              <a:t>Implement conversation and message flow as the persistence foundation for chat.</a:t>
            </a:r>
            <a:endParaRPr lang="en-US" sz="1250" dirty="0"/>
          </a:p>
        </p:txBody>
      </p:sp>
      <p:sp>
        <p:nvSpPr>
          <p:cNvPr id="18" name="Shape 16"/>
          <p:cNvSpPr/>
          <p:nvPr/>
        </p:nvSpPr>
        <p:spPr>
          <a:xfrm>
            <a:off x="548640" y="3328416"/>
            <a:ext cx="292608" cy="292608"/>
          </a:xfrm>
          <a:prstGeom prst="ellipse">
            <a:avLst/>
          </a:prstGeom>
          <a:solidFill>
            <a:srgbClr val="B9760C"/>
          </a:solidFill>
          <a:ln/>
        </p:spPr>
      </p:sp>
      <p:sp>
        <p:nvSpPr>
          <p:cNvPr id="19" name="Text 17"/>
          <p:cNvSpPr/>
          <p:nvPr/>
        </p:nvSpPr>
        <p:spPr>
          <a:xfrm>
            <a:off x="548640" y="3328416"/>
            <a:ext cx="292608" cy="292608"/>
          </a:xfrm>
          <a:prstGeom prst="rect">
            <a:avLst/>
          </a:prstGeom>
          <a:noFill/>
          <a:ln/>
        </p:spPr>
        <p:txBody>
          <a:bodyPr wrap="square"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5</a:t>
            </a:r>
            <a:endParaRPr lang="en-US" sz="1100" dirty="0"/>
          </a:p>
        </p:txBody>
      </p:sp>
      <p:sp>
        <p:nvSpPr>
          <p:cNvPr id="20" name="Text 18"/>
          <p:cNvSpPr/>
          <p:nvPr/>
        </p:nvSpPr>
        <p:spPr>
          <a:xfrm>
            <a:off x="987552" y="3273552"/>
            <a:ext cx="10655503" cy="475488"/>
          </a:xfrm>
          <a:prstGeom prst="rect">
            <a:avLst/>
          </a:prstGeom>
          <a:noFill/>
          <a:ln/>
        </p:spPr>
        <p:txBody>
          <a:bodyPr wrap="square" rtlCol="0" anchor="ctr"/>
          <a:lstStyle/>
          <a:p>
            <a:pPr indent="0" marL="0">
              <a:buNone/>
            </a:pPr>
            <a:r>
              <a:rPr lang="en-US" sz="1250" dirty="0">
                <a:solidFill>
                  <a:srgbClr val="171C26"/>
                </a:solidFill>
                <a:latin typeface="Helvetica" pitchFamily="34" charset="0"/>
                <a:ea typeface="Helvetica" pitchFamily="34" charset="-122"/>
                <a:cs typeface="Helvetica" pitchFamily="34" charset="-120"/>
              </a:rPr>
              <a:t>Introduce a controlled LLM service interface so provider-specific code is isolated.</a:t>
            </a:r>
            <a:endParaRPr lang="en-US" sz="1250" dirty="0"/>
          </a:p>
        </p:txBody>
      </p:sp>
      <p:sp>
        <p:nvSpPr>
          <p:cNvPr id="21" name="Shape 19"/>
          <p:cNvSpPr/>
          <p:nvPr/>
        </p:nvSpPr>
        <p:spPr>
          <a:xfrm>
            <a:off x="548640" y="3840480"/>
            <a:ext cx="292608" cy="292608"/>
          </a:xfrm>
          <a:prstGeom prst="ellipse">
            <a:avLst/>
          </a:prstGeom>
          <a:solidFill>
            <a:srgbClr val="B9760C"/>
          </a:solidFill>
          <a:ln/>
        </p:spPr>
      </p:sp>
      <p:sp>
        <p:nvSpPr>
          <p:cNvPr id="22" name="Text 20"/>
          <p:cNvSpPr/>
          <p:nvPr/>
        </p:nvSpPr>
        <p:spPr>
          <a:xfrm>
            <a:off x="548640" y="3840480"/>
            <a:ext cx="292608" cy="292608"/>
          </a:xfrm>
          <a:prstGeom prst="rect">
            <a:avLst/>
          </a:prstGeom>
          <a:noFill/>
          <a:ln/>
        </p:spPr>
        <p:txBody>
          <a:bodyPr wrap="square"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6</a:t>
            </a:r>
            <a:endParaRPr lang="en-US" sz="1100" dirty="0"/>
          </a:p>
        </p:txBody>
      </p:sp>
      <p:sp>
        <p:nvSpPr>
          <p:cNvPr id="23" name="Text 21"/>
          <p:cNvSpPr/>
          <p:nvPr/>
        </p:nvSpPr>
        <p:spPr>
          <a:xfrm>
            <a:off x="987552" y="3785616"/>
            <a:ext cx="10655503" cy="475488"/>
          </a:xfrm>
          <a:prstGeom prst="rect">
            <a:avLst/>
          </a:prstGeom>
          <a:noFill/>
          <a:ln/>
        </p:spPr>
        <p:txBody>
          <a:bodyPr wrap="square" rtlCol="0" anchor="ctr"/>
          <a:lstStyle/>
          <a:p>
            <a:pPr indent="0" marL="0">
              <a:buNone/>
            </a:pPr>
            <a:r>
              <a:rPr lang="en-US" sz="1250" dirty="0">
                <a:solidFill>
                  <a:srgbClr val="171C26"/>
                </a:solidFill>
                <a:latin typeface="Helvetica" pitchFamily="34" charset="0"/>
                <a:ea typeface="Helvetica" pitchFamily="34" charset="-122"/>
                <a:cs typeface="Helvetica" pitchFamily="34" charset="-120"/>
              </a:rPr>
              <a:t>Implement the first end-to-end authenticated chat interaction and persist the resulting conversation.</a:t>
            </a:r>
            <a:endParaRPr lang="en-US" sz="1250" dirty="0"/>
          </a:p>
        </p:txBody>
      </p:sp>
      <p:sp>
        <p:nvSpPr>
          <p:cNvPr id="24" name="Shape 22"/>
          <p:cNvSpPr/>
          <p:nvPr/>
        </p:nvSpPr>
        <p:spPr>
          <a:xfrm>
            <a:off x="548640" y="4352544"/>
            <a:ext cx="292608" cy="292608"/>
          </a:xfrm>
          <a:prstGeom prst="ellipse">
            <a:avLst/>
          </a:prstGeom>
          <a:solidFill>
            <a:srgbClr val="B9760C"/>
          </a:solidFill>
          <a:ln/>
        </p:spPr>
      </p:sp>
      <p:sp>
        <p:nvSpPr>
          <p:cNvPr id="25" name="Text 23"/>
          <p:cNvSpPr/>
          <p:nvPr/>
        </p:nvSpPr>
        <p:spPr>
          <a:xfrm>
            <a:off x="548640" y="4352544"/>
            <a:ext cx="292608" cy="292608"/>
          </a:xfrm>
          <a:prstGeom prst="rect">
            <a:avLst/>
          </a:prstGeom>
          <a:noFill/>
          <a:ln/>
        </p:spPr>
        <p:txBody>
          <a:bodyPr wrap="square"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7</a:t>
            </a:r>
            <a:endParaRPr lang="en-US" sz="1100" dirty="0"/>
          </a:p>
        </p:txBody>
      </p:sp>
      <p:sp>
        <p:nvSpPr>
          <p:cNvPr id="26" name="Text 24"/>
          <p:cNvSpPr/>
          <p:nvPr/>
        </p:nvSpPr>
        <p:spPr>
          <a:xfrm>
            <a:off x="987552" y="4297680"/>
            <a:ext cx="10655503" cy="475488"/>
          </a:xfrm>
          <a:prstGeom prst="rect">
            <a:avLst/>
          </a:prstGeom>
          <a:noFill/>
          <a:ln/>
        </p:spPr>
        <p:txBody>
          <a:bodyPr wrap="square" rtlCol="0" anchor="ctr"/>
          <a:lstStyle/>
          <a:p>
            <a:pPr indent="0" marL="0">
              <a:buNone/>
            </a:pPr>
            <a:r>
              <a:rPr lang="en-US" sz="1250" dirty="0">
                <a:solidFill>
                  <a:srgbClr val="171C26"/>
                </a:solidFill>
                <a:latin typeface="Helvetica" pitchFamily="34" charset="0"/>
                <a:ea typeface="Helvetica" pitchFamily="34" charset="-122"/>
                <a:cs typeface="Helvetica" pitchFamily="34" charset="-120"/>
              </a:rPr>
              <a:t>Add tests for the complete user → conversation → message → LLM response flow.</a:t>
            </a:r>
            <a:endParaRPr lang="en-US" sz="1250" dirty="0"/>
          </a:p>
        </p:txBody>
      </p:sp>
      <p:sp>
        <p:nvSpPr>
          <p:cNvPr id="27" name="Shape 25"/>
          <p:cNvSpPr/>
          <p:nvPr/>
        </p:nvSpPr>
        <p:spPr>
          <a:xfrm>
            <a:off x="548640" y="4864608"/>
            <a:ext cx="292608" cy="292608"/>
          </a:xfrm>
          <a:prstGeom prst="ellipse">
            <a:avLst/>
          </a:prstGeom>
          <a:solidFill>
            <a:srgbClr val="B9760C"/>
          </a:solidFill>
          <a:ln/>
        </p:spPr>
      </p:sp>
      <p:sp>
        <p:nvSpPr>
          <p:cNvPr id="28" name="Text 26"/>
          <p:cNvSpPr/>
          <p:nvPr/>
        </p:nvSpPr>
        <p:spPr>
          <a:xfrm>
            <a:off x="548640" y="4864608"/>
            <a:ext cx="292608" cy="292608"/>
          </a:xfrm>
          <a:prstGeom prst="rect">
            <a:avLst/>
          </a:prstGeom>
          <a:noFill/>
          <a:ln/>
        </p:spPr>
        <p:txBody>
          <a:bodyPr wrap="square"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8</a:t>
            </a:r>
            <a:endParaRPr lang="en-US" sz="1100" dirty="0"/>
          </a:p>
        </p:txBody>
      </p:sp>
      <p:sp>
        <p:nvSpPr>
          <p:cNvPr id="29" name="Text 27"/>
          <p:cNvSpPr/>
          <p:nvPr/>
        </p:nvSpPr>
        <p:spPr>
          <a:xfrm>
            <a:off x="987552" y="4809744"/>
            <a:ext cx="10655503" cy="475488"/>
          </a:xfrm>
          <a:prstGeom prst="rect">
            <a:avLst/>
          </a:prstGeom>
          <a:noFill/>
          <a:ln/>
        </p:spPr>
        <p:txBody>
          <a:bodyPr wrap="square" rtlCol="0" anchor="ctr"/>
          <a:lstStyle/>
          <a:p>
            <a:pPr indent="0" marL="0">
              <a:buNone/>
            </a:pPr>
            <a:r>
              <a:rPr lang="en-US" sz="1250" dirty="0">
                <a:solidFill>
                  <a:srgbClr val="171C26"/>
                </a:solidFill>
                <a:latin typeface="Helvetica" pitchFamily="34" charset="0"/>
                <a:ea typeface="Helvetica" pitchFamily="34" charset="-122"/>
                <a:cs typeface="Helvetica" pitchFamily="34" charset="-120"/>
              </a:rPr>
              <a:t>After chat stabilization, begin persistent memory, followed by RAG and agent/tool orchestration.</a:t>
            </a:r>
            <a:endParaRPr lang="en-US" sz="1250" dirty="0"/>
          </a:p>
        </p:txBody>
      </p:sp>
      <p:sp>
        <p:nvSpPr>
          <p:cNvPr id="30" name="Text 28"/>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31" name="Text 29"/>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13</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0B1220"/>
                </a:solidFill>
                <a:latin typeface="Helvetica" pitchFamily="34" charset="0"/>
                <a:ea typeface="Helvetica" pitchFamily="34" charset="-122"/>
                <a:cs typeface="Helvetica" pitchFamily="34" charset="-120"/>
              </a:rPr>
              <a:t>Alignment With the Six-Month Roadmap</a:t>
            </a:r>
            <a:endParaRPr lang="en-US" sz="2500" dirty="0"/>
          </a:p>
        </p:txBody>
      </p:sp>
      <p:sp>
        <p:nvSpPr>
          <p:cNvPr id="4" name="Shape 2"/>
          <p:cNvSpPr/>
          <p:nvPr/>
        </p:nvSpPr>
        <p:spPr>
          <a:xfrm>
            <a:off x="10088575" y="502920"/>
            <a:ext cx="1554480" cy="310896"/>
          </a:xfrm>
          <a:prstGeom prst="rect">
            <a:avLst/>
          </a:prstGeom>
          <a:solidFill>
            <a:srgbClr val="B9760C"/>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timeline/</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63040"/>
                <a:gridCol w="9631375"/>
              </a:tblGrid>
              <a:tr h="621792">
                <a:tc>
                  <a:txBody>
                    <a:bodyPr/>
                    <a:lstStyle/>
                    <a:p>
                      <a:pPr indent="0" marL="0">
                        <a:buNone/>
                      </a:pPr>
                      <a:r>
                        <a:rPr lang="en-US" sz="1250" b="1" dirty="0">
                          <a:solidFill>
                            <a:srgbClr val="B9760C"/>
                          </a:solidFill>
                          <a:latin typeface="Courier New" pitchFamily="34" charset="0"/>
                          <a:ea typeface="Courier New" pitchFamily="34" charset="-122"/>
                          <a:cs typeface="Courier New" pitchFamily="34" charset="-120"/>
                        </a:rPr>
                        <a:t>Weeks 1–4</a:t>
                      </a:r>
                      <a:endParaRPr lang="en-US" sz="12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Backend/auth foundation implemented; chat is next.</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621792">
                <a:tc>
                  <a:txBody>
                    <a:bodyPr/>
                    <a:lstStyle/>
                    <a:p>
                      <a:pPr indent="0" marL="0">
                        <a:buNone/>
                      </a:pPr>
                      <a:r>
                        <a:rPr lang="en-US" sz="1250" b="1" dirty="0">
                          <a:solidFill>
                            <a:srgbClr val="B9760C"/>
                          </a:solidFill>
                          <a:latin typeface="Courier New" pitchFamily="34" charset="0"/>
                          <a:ea typeface="Courier New" pitchFamily="34" charset="-122"/>
                          <a:cs typeface="Courier New" pitchFamily="34" charset="-120"/>
                        </a:rPr>
                        <a:t>Weeks 5–8</a:t>
                      </a:r>
                      <a:endParaRPr lang="en-US" sz="12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Memory system — next major AI capability after chat.</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621792">
                <a:tc>
                  <a:txBody>
                    <a:bodyPr/>
                    <a:lstStyle/>
                    <a:p>
                      <a:pPr indent="0" marL="0">
                        <a:buNone/>
                      </a:pPr>
                      <a:r>
                        <a:rPr lang="en-US" sz="1250" b="1" dirty="0">
                          <a:solidFill>
                            <a:srgbClr val="B9760C"/>
                          </a:solidFill>
                          <a:latin typeface="Courier New" pitchFamily="34" charset="0"/>
                          <a:ea typeface="Courier New" pitchFamily="34" charset="-122"/>
                          <a:cs typeface="Courier New" pitchFamily="34" charset="-120"/>
                        </a:rPr>
                        <a:t>Weeks 9–12</a:t>
                      </a:r>
                      <a:endParaRPr lang="en-US" sz="12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RAG pipeline — document parsing, embeddings, Qdrant retrieval and grounded responses.</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621792">
                <a:tc>
                  <a:txBody>
                    <a:bodyPr/>
                    <a:lstStyle/>
                    <a:p>
                      <a:pPr indent="0" marL="0">
                        <a:buNone/>
                      </a:pPr>
                      <a:r>
                        <a:rPr lang="en-US" sz="1250" b="1" dirty="0">
                          <a:solidFill>
                            <a:srgbClr val="B9760C"/>
                          </a:solidFill>
                          <a:latin typeface="Courier New" pitchFamily="34" charset="0"/>
                          <a:ea typeface="Courier New" pitchFamily="34" charset="-122"/>
                          <a:cs typeface="Courier New" pitchFamily="34" charset="-120"/>
                        </a:rPr>
                        <a:t>Weeks 13–16</a:t>
                      </a:r>
                      <a:endParaRPr lang="en-US" sz="12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Agent framework — controlled tools and multi-step orchestration.</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621792">
                <a:tc>
                  <a:txBody>
                    <a:bodyPr/>
                    <a:lstStyle/>
                    <a:p>
                      <a:pPr indent="0" marL="0">
                        <a:buNone/>
                      </a:pPr>
                      <a:r>
                        <a:rPr lang="en-US" sz="1250" b="1" dirty="0">
                          <a:solidFill>
                            <a:srgbClr val="B9760C"/>
                          </a:solidFill>
                          <a:latin typeface="Courier New" pitchFamily="34" charset="0"/>
                          <a:ea typeface="Courier New" pitchFamily="34" charset="-122"/>
                          <a:cs typeface="Courier New" pitchFamily="34" charset="-120"/>
                        </a:rPr>
                        <a:t>Weeks 17–20</a:t>
                      </a:r>
                      <a:endParaRPr lang="en-US" sz="12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Personalization layer — deeper personalization and recommendation behavior.</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r h="621792">
                <a:tc>
                  <a:txBody>
                    <a:bodyPr/>
                    <a:lstStyle/>
                    <a:p>
                      <a:pPr indent="0" marL="0">
                        <a:buNone/>
                      </a:pPr>
                      <a:r>
                        <a:rPr lang="en-US" sz="1250" b="1" dirty="0">
                          <a:solidFill>
                            <a:srgbClr val="B9760C"/>
                          </a:solidFill>
                          <a:latin typeface="Courier New" pitchFamily="34" charset="0"/>
                          <a:ea typeface="Courier New" pitchFamily="34" charset="-122"/>
                          <a:cs typeface="Courier New" pitchFamily="34" charset="-120"/>
                        </a:rPr>
                        <a:t>Weeks 21–24</a:t>
                      </a:r>
                      <a:endParaRPr lang="en-US" sz="1250" dirty="0">
                        <a:latin typeface="Courier New" charset="0"/>
                        <a:ea typeface="Courier New" charset="0"/>
                        <a:cs typeface="Courier New"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solidFill>
                      <a:srgbClr val="F5F7FA"/>
                    </a:solidFill>
                  </a:tcPr>
                </a:tc>
                <a:tc>
                  <a:txBody>
                    <a:bodyPr/>
                    <a:lstStyle/>
                    <a:p>
                      <a:pPr indent="0" marL="0">
                        <a:buNone/>
                      </a:pPr>
                      <a:r>
                        <a:rPr lang="en-US" sz="1200" dirty="0">
                          <a:solidFill>
                            <a:srgbClr val="171C26"/>
                          </a:solidFill>
                          <a:latin typeface="Helvetica" pitchFamily="34" charset="0"/>
                          <a:ea typeface="Helvetica" pitchFamily="34" charset="-122"/>
                          <a:cs typeface="Helvetica" pitchFamily="34" charset="-120"/>
                        </a:rPr>
                        <a:t>Docker, CI/CD, monitoring and deployment — productionization and observability.</a:t>
                      </a:r>
                      <a:endParaRPr lang="en-US" sz="1200" dirty="0">
                        <a:latin typeface="Helvetica" charset="0"/>
                        <a:ea typeface="Helvetica" charset="0"/>
                        <a:cs typeface="Helvetica" charset="0"/>
                      </a:endParaRPr>
                    </a:p>
                  </a:txBody>
                  <a:tcPr marL="91440" marR="91440" marT="45720" marB="45720" anchor="ctr">
                    <a:lnL w="9525" cap="flat" cmpd="sng" algn="ctr">
                      <a:solidFill>
                        <a:srgbClr val="DCE2EA"/>
                      </a:solidFill>
                      <a:prstDash val="solid"/>
                      <a:round/>
                      <a:headEnd type="none" w="med" len="med"/>
                      <a:tailEnd type="none" w="med" len="med"/>
                    </a:lnL>
                    <a:lnR w="9525" cap="flat" cmpd="sng" algn="ctr">
                      <a:solidFill>
                        <a:srgbClr val="DCE2EA"/>
                      </a:solidFill>
                      <a:prstDash val="solid"/>
                      <a:round/>
                      <a:headEnd type="none" w="med" len="med"/>
                      <a:tailEnd type="none" w="med" len="med"/>
                    </a:lnR>
                    <a:lnT w="9525" cap="flat" cmpd="sng" algn="ctr">
                      <a:solidFill>
                        <a:srgbClr val="DCE2EA"/>
                      </a:solidFill>
                      <a:prstDash val="solid"/>
                      <a:round/>
                      <a:headEnd type="none" w="med" len="med"/>
                      <a:tailEnd type="none" w="med" len="med"/>
                    </a:lnT>
                    <a:lnB w="9525" cap="flat" cmpd="sng" algn="ctr">
                      <a:solidFill>
                        <a:srgbClr val="DCE2EA"/>
                      </a:solidFill>
                      <a:prstDash val="solid"/>
                      <a:round/>
                      <a:headEnd type="none" w="med" len="med"/>
                      <a:tailEnd type="none" w="med" len="med"/>
                    </a:lnB>
                  </a:tcPr>
                </a:tc>
              </a:tr>
            </a:tbl>
          </a:graphicData>
        </a:graphic>
      </p:graphicFrame>
      <p:sp>
        <p:nvSpPr>
          <p:cNvPr id="7" name="Text 4"/>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8" name="Text 5"/>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14</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0B1220"/>
                </a:solidFill>
                <a:latin typeface="Helvetica" pitchFamily="34" charset="0"/>
                <a:ea typeface="Helvetica" pitchFamily="34" charset="-122"/>
                <a:cs typeface="Helvetica" pitchFamily="34" charset="-120"/>
              </a:rPr>
              <a:t>Mentor Discussion Points</a:t>
            </a:r>
            <a:endParaRPr lang="en-US" sz="2500" dirty="0"/>
          </a:p>
        </p:txBody>
      </p:sp>
      <p:sp>
        <p:nvSpPr>
          <p:cNvPr id="4" name="Shape 2"/>
          <p:cNvSpPr/>
          <p:nvPr/>
        </p:nvSpPr>
        <p:spPr>
          <a:xfrm>
            <a:off x="10088575" y="502920"/>
            <a:ext cx="1554480" cy="310896"/>
          </a:xfrm>
          <a:prstGeom prst="rect">
            <a:avLst/>
          </a:prstGeom>
          <a:solidFill>
            <a:srgbClr val="B9760C"/>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review/</a:t>
            </a:r>
            <a:endParaRPr lang="en-US" sz="1000" dirty="0"/>
          </a:p>
        </p:txBody>
      </p:sp>
      <p:sp>
        <p:nvSpPr>
          <p:cNvPr id="6" name="Text 4"/>
          <p:cNvSpPr/>
          <p:nvPr/>
        </p:nvSpPr>
        <p:spPr>
          <a:xfrm>
            <a:off x="548640" y="1371600"/>
            <a:ext cx="11094415" cy="4572000"/>
          </a:xfrm>
          <a:prstGeom prst="rect">
            <a:avLst/>
          </a:prstGeom>
          <a:noFill/>
          <a:ln/>
        </p:spPr>
        <p:txBody>
          <a:bodyPr wrap="square" rtlCol="0" anchor="t"/>
          <a:lstStyle/>
          <a:p>
            <a:pPr marL="228600" indent="-228600">
              <a:lnSpc>
                <a:spcPct val="115000"/>
              </a:lnSpc>
              <a:spcAft>
                <a:spcPts val="1100"/>
              </a:spcAft>
              <a:buSzPct val="100000"/>
              <a:buChar char="●"/>
            </a:pPr>
            <a:r>
              <a:rPr lang="en-US" sz="1500" dirty="0">
                <a:solidFill>
                  <a:srgbClr val="171C26"/>
                </a:solidFill>
                <a:latin typeface="Helvetica" pitchFamily="34" charset="0"/>
                <a:ea typeface="Helvetica" pitchFamily="34" charset="-122"/>
                <a:cs typeface="Helvetica" pitchFamily="34" charset="-120"/>
              </a:rPr>
              <a:t>Validate the authorization and resource-ownership approach.</a:t>
            </a:r>
            <a:endParaRPr lang="en-US" sz="1500" dirty="0"/>
          </a:p>
          <a:p>
            <a:pPr marL="228600" indent="-228600">
              <a:lnSpc>
                <a:spcPct val="115000"/>
              </a:lnSpc>
              <a:spcAft>
                <a:spcPts val="1100"/>
              </a:spcAft>
              <a:buSzPct val="100000"/>
              <a:buChar char="●"/>
            </a:pPr>
            <a:r>
              <a:rPr lang="en-US" sz="1500" dirty="0">
                <a:solidFill>
                  <a:srgbClr val="171C26"/>
                </a:solidFill>
                <a:latin typeface="Helvetica" pitchFamily="34" charset="0"/>
                <a:ea typeface="Helvetica" pitchFamily="34" charset="-122"/>
                <a:cs typeface="Helvetica" pitchFamily="34" charset="-120"/>
              </a:rPr>
              <a:t>Review the boundary between backend services and the future LLM/agent layer.</a:t>
            </a:r>
            <a:endParaRPr lang="en-US" sz="1500" dirty="0"/>
          </a:p>
          <a:p>
            <a:pPr marL="228600" indent="-228600">
              <a:lnSpc>
                <a:spcPct val="115000"/>
              </a:lnSpc>
              <a:spcAft>
                <a:spcPts val="1100"/>
              </a:spcAft>
              <a:buSzPct val="100000"/>
              <a:buChar char="●"/>
            </a:pPr>
            <a:r>
              <a:rPr lang="en-US" sz="1500" dirty="0">
                <a:solidFill>
                  <a:srgbClr val="171C26"/>
                </a:solidFill>
                <a:latin typeface="Helvetica" pitchFamily="34" charset="0"/>
                <a:ea typeface="Helvetica" pitchFamily="34" charset="-122"/>
                <a:cs typeface="Helvetica" pitchFamily="34" charset="-120"/>
              </a:rPr>
              <a:t>Confirm the first chat MVP acceptance criteria.</a:t>
            </a:r>
            <a:endParaRPr lang="en-US" sz="1500" dirty="0"/>
          </a:p>
          <a:p>
            <a:pPr marL="228600" indent="-228600">
              <a:lnSpc>
                <a:spcPct val="115000"/>
              </a:lnSpc>
              <a:spcAft>
                <a:spcPts val="1100"/>
              </a:spcAft>
              <a:buSzPct val="100000"/>
              <a:buChar char="●"/>
            </a:pPr>
            <a:r>
              <a:rPr lang="en-US" sz="1500" dirty="0">
                <a:solidFill>
                  <a:srgbClr val="171C26"/>
                </a:solidFill>
                <a:latin typeface="Helvetica" pitchFamily="34" charset="0"/>
                <a:ea typeface="Helvetica" pitchFamily="34" charset="-122"/>
                <a:cs typeface="Helvetica" pitchFamily="34" charset="-120"/>
              </a:rPr>
              <a:t>Review the choice and abstraction of the LLM provider interface.</a:t>
            </a:r>
            <a:endParaRPr lang="en-US" sz="1500" dirty="0"/>
          </a:p>
          <a:p>
            <a:pPr marL="228600" indent="-228600">
              <a:lnSpc>
                <a:spcPct val="115000"/>
              </a:lnSpc>
              <a:spcAft>
                <a:spcPts val="1100"/>
              </a:spcAft>
              <a:buSzPct val="100000"/>
              <a:buChar char="●"/>
            </a:pPr>
            <a:r>
              <a:rPr lang="en-US" sz="1500" dirty="0">
                <a:solidFill>
                  <a:srgbClr val="171C26"/>
                </a:solidFill>
                <a:latin typeface="Helvetica" pitchFamily="34" charset="0"/>
                <a:ea typeface="Helvetica" pitchFamily="34" charset="-122"/>
                <a:cs typeface="Helvetica" pitchFamily="34" charset="-120"/>
              </a:rPr>
              <a:t>Confirm the order of chat → memory → RAG → agents.</a:t>
            </a:r>
            <a:endParaRPr lang="en-US" sz="1500" dirty="0"/>
          </a:p>
          <a:p>
            <a:pPr marL="228600" indent="-228600">
              <a:lnSpc>
                <a:spcPct val="115000"/>
              </a:lnSpc>
              <a:spcAft>
                <a:spcPts val="1100"/>
              </a:spcAft>
              <a:buSzPct val="100000"/>
              <a:buChar char="●"/>
            </a:pPr>
            <a:r>
              <a:rPr lang="en-US" sz="1500" dirty="0">
                <a:solidFill>
                  <a:srgbClr val="171C26"/>
                </a:solidFill>
                <a:latin typeface="Helvetica" pitchFamily="34" charset="0"/>
                <a:ea typeface="Helvetica" pitchFamily="34" charset="-122"/>
                <a:cs typeface="Helvetica" pitchFamily="34" charset="-120"/>
              </a:rPr>
              <a:t>Identify measurable quality criteria for the first end-to-end flow.</a:t>
            </a:r>
            <a:endParaRPr lang="en-US" sz="1500" dirty="0"/>
          </a:p>
          <a:p>
            <a:pPr marL="228600" indent="-228600">
              <a:lnSpc>
                <a:spcPct val="115000"/>
              </a:lnSpc>
              <a:spcAft>
                <a:spcPts val="1100"/>
              </a:spcAft>
              <a:buSzPct val="100000"/>
              <a:buChar char="●"/>
            </a:pPr>
            <a:r>
              <a:rPr lang="en-US" sz="1500" dirty="0">
                <a:solidFill>
                  <a:srgbClr val="171C26"/>
                </a:solidFill>
                <a:latin typeface="Helvetica" pitchFamily="34" charset="0"/>
                <a:ea typeface="Helvetica" pitchFamily="34" charset="-122"/>
                <a:cs typeface="Helvetica" pitchFamily="34" charset="-120"/>
              </a:rPr>
              <a:t>Decide which maintenance warnings should be cleaned up before the next milestone.</a:t>
            </a:r>
            <a:endParaRPr lang="en-US" sz="1500" dirty="0"/>
          </a:p>
        </p:txBody>
      </p:sp>
      <p:sp>
        <p:nvSpPr>
          <p:cNvPr id="7" name="Text 5"/>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8" name="Text 6"/>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457200"/>
            <a:ext cx="640080" cy="457200"/>
          </a:xfrm>
          <a:prstGeom prst="rect">
            <a:avLst/>
          </a:prstGeom>
          <a:noFill/>
          <a:ln/>
        </p:spPr>
        <p:txBody>
          <a:bodyPr wrap="square" rtlCol="0" anchor="ctr"/>
          <a:lstStyle/>
          <a:p>
            <a:pPr indent="0" marL="0">
              <a:buNone/>
            </a:pPr>
            <a:r>
              <a:rPr lang="en-US" sz="2000" b="1" dirty="0">
                <a:solidFill>
                  <a:srgbClr val="B9760C"/>
                </a:solidFill>
                <a:latin typeface="Helvetica" pitchFamily="34" charset="0"/>
                <a:ea typeface="Helvetica" pitchFamily="34" charset="-122"/>
                <a:cs typeface="Helvetica" pitchFamily="34" charset="-120"/>
              </a:rPr>
              <a:t>15</a:t>
            </a:r>
            <a:endParaRPr lang="en-US" sz="2000" dirty="0"/>
          </a:p>
        </p:txBody>
      </p:sp>
      <p:sp>
        <p:nvSpPr>
          <p:cNvPr id="3" name="Text 1"/>
          <p:cNvSpPr/>
          <p:nvPr/>
        </p:nvSpPr>
        <p:spPr>
          <a:xfrm>
            <a:off x="1143000" y="384048"/>
            <a:ext cx="7680960" cy="594360"/>
          </a:xfrm>
          <a:prstGeom prst="rect">
            <a:avLst/>
          </a:prstGeom>
          <a:noFill/>
          <a:ln/>
        </p:spPr>
        <p:txBody>
          <a:bodyPr wrap="square" rtlCol="0" anchor="ctr"/>
          <a:lstStyle/>
          <a:p>
            <a:pPr indent="0" marL="0">
              <a:buNone/>
            </a:pPr>
            <a:r>
              <a:rPr lang="en-US" sz="2500" b="1" dirty="0">
                <a:solidFill>
                  <a:srgbClr val="FFFFFF"/>
                </a:solidFill>
                <a:latin typeface="Helvetica" pitchFamily="34" charset="0"/>
                <a:ea typeface="Helvetica" pitchFamily="34" charset="-122"/>
                <a:cs typeface="Helvetica" pitchFamily="34" charset="-120"/>
              </a:rPr>
              <a:t>Conclusion</a:t>
            </a:r>
            <a:endParaRPr lang="en-US" sz="2500" dirty="0"/>
          </a:p>
        </p:txBody>
      </p:sp>
      <p:sp>
        <p:nvSpPr>
          <p:cNvPr id="4" name="Shape 2"/>
          <p:cNvSpPr/>
          <p:nvPr/>
        </p:nvSpPr>
        <p:spPr>
          <a:xfrm>
            <a:off x="10088575" y="502920"/>
            <a:ext cx="1554480" cy="310896"/>
          </a:xfrm>
          <a:prstGeom prst="rect">
            <a:avLst/>
          </a:prstGeom>
          <a:solidFill>
            <a:srgbClr val="B9760C"/>
          </a:solidFill>
          <a:ln/>
        </p:spPr>
      </p:sp>
      <p:sp>
        <p:nvSpPr>
          <p:cNvPr id="5" name="Text 3"/>
          <p:cNvSpPr/>
          <p:nvPr/>
        </p:nvSpPr>
        <p:spPr>
          <a:xfrm>
            <a:off x="10088575" y="502920"/>
            <a:ext cx="1554480" cy="310896"/>
          </a:xfrm>
          <a:prstGeom prst="rect">
            <a:avLst/>
          </a:prstGeom>
          <a:noFill/>
          <a:ln/>
        </p:spPr>
        <p:txBody>
          <a:bodyPr wrap="square"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closing</a:t>
            </a:r>
            <a:endParaRPr lang="en-US" sz="1000" dirty="0"/>
          </a:p>
        </p:txBody>
      </p:sp>
      <p:sp>
        <p:nvSpPr>
          <p:cNvPr id="6" name="Text 4"/>
          <p:cNvSpPr/>
          <p:nvPr/>
        </p:nvSpPr>
        <p:spPr>
          <a:xfrm>
            <a:off x="548640" y="1280160"/>
            <a:ext cx="11094415" cy="1005840"/>
          </a:xfrm>
          <a:prstGeom prst="rect">
            <a:avLst/>
          </a:prstGeom>
          <a:noFill/>
          <a:ln/>
        </p:spPr>
        <p:txBody>
          <a:bodyPr wrap="square" rtlCol="0" anchor="t"/>
          <a:lstStyle/>
          <a:p>
            <a:pPr indent="0" marL="0">
              <a:buNone/>
            </a:pPr>
            <a:r>
              <a:rPr lang="en-US" sz="1400" dirty="0">
                <a:solidFill>
                  <a:srgbClr val="C7D0DE"/>
                </a:solidFill>
                <a:latin typeface="Helvetica" pitchFamily="34" charset="0"/>
                <a:ea typeface="Helvetica" pitchFamily="34" charset="-122"/>
                <a:cs typeface="Helvetica" pitchFamily="34" charset="-120"/>
              </a:rPr>
              <a:t>The project has successfully transitioned from architecture and documentation readiness into implementation: a working FastAPI foundation, PostgreSQL persistence, migration management, a layered service/repository architecture, resource APIs, and a functioning JWT authentication flow.</a:t>
            </a:r>
            <a:endParaRPr lang="en-US" sz="1400" dirty="0"/>
          </a:p>
        </p:txBody>
      </p:sp>
      <p:sp>
        <p:nvSpPr>
          <p:cNvPr id="7" name="Text 5"/>
          <p:cNvSpPr/>
          <p:nvPr/>
        </p:nvSpPr>
        <p:spPr>
          <a:xfrm>
            <a:off x="548640" y="2331720"/>
            <a:ext cx="11094415" cy="1005840"/>
          </a:xfrm>
          <a:prstGeom prst="rect">
            <a:avLst/>
          </a:prstGeom>
          <a:noFill/>
          <a:ln/>
        </p:spPr>
        <p:txBody>
          <a:bodyPr wrap="square" rtlCol="0" anchor="t"/>
          <a:lstStyle/>
          <a:p>
            <a:pPr indent="0" marL="0">
              <a:buNone/>
            </a:pPr>
            <a:r>
              <a:rPr lang="en-US" sz="1400" dirty="0">
                <a:solidFill>
                  <a:srgbClr val="C7D0DE"/>
                </a:solidFill>
                <a:latin typeface="Helvetica" pitchFamily="34" charset="0"/>
                <a:ea typeface="Helvetica" pitchFamily="34" charset="-122"/>
                <a:cs typeface="Helvetica" pitchFamily="34" charset="-120"/>
              </a:rPr>
              <a:t>The strongest current validation point is the automated test suite: 50 tests pass after the database, API and authentication layers were integrated. The next step is not to expand the system indiscriminately, but to use this stable foundation to implement a small, authenticated end-to-end chat flow.</a:t>
            </a:r>
            <a:endParaRPr lang="en-US" sz="1400" dirty="0"/>
          </a:p>
        </p:txBody>
      </p:sp>
      <p:sp>
        <p:nvSpPr>
          <p:cNvPr id="8" name="Shape 6"/>
          <p:cNvSpPr/>
          <p:nvPr/>
        </p:nvSpPr>
        <p:spPr>
          <a:xfrm>
            <a:off x="548640" y="3657600"/>
            <a:ext cx="11094415" cy="1188720"/>
          </a:xfrm>
          <a:prstGeom prst="rect">
            <a:avLst/>
          </a:prstGeom>
          <a:solidFill>
            <a:srgbClr val="B9760C"/>
          </a:solidFill>
          <a:ln/>
        </p:spPr>
      </p:sp>
      <p:sp>
        <p:nvSpPr>
          <p:cNvPr id="9" name="Text 7"/>
          <p:cNvSpPr/>
          <p:nvPr/>
        </p:nvSpPr>
        <p:spPr>
          <a:xfrm>
            <a:off x="822960" y="3794760"/>
            <a:ext cx="10545775" cy="320040"/>
          </a:xfrm>
          <a:prstGeom prst="rect">
            <a:avLst/>
          </a:prstGeom>
          <a:noFill/>
          <a:ln/>
        </p:spPr>
        <p:txBody>
          <a:bodyPr wrap="square" rtlCol="0" anchor="ctr"/>
          <a:lstStyle/>
          <a:p>
            <a:pPr indent="0" marL="0">
              <a:buNone/>
            </a:pPr>
            <a:r>
              <a:rPr lang="en-US" sz="1200" b="1" dirty="0">
                <a:solidFill>
                  <a:srgbClr val="0B1220"/>
                </a:solidFill>
                <a:latin typeface="Courier New" pitchFamily="34" charset="0"/>
                <a:ea typeface="Courier New" pitchFamily="34" charset="-122"/>
                <a:cs typeface="Courier New" pitchFamily="34" charset="-120"/>
              </a:rPr>
              <a:t>NEXT MILESTONE</a:t>
            </a:r>
            <a:endParaRPr lang="en-US" sz="1200" dirty="0"/>
          </a:p>
        </p:txBody>
      </p:sp>
      <p:sp>
        <p:nvSpPr>
          <p:cNvPr id="10" name="Text 8"/>
          <p:cNvSpPr/>
          <p:nvPr/>
        </p:nvSpPr>
        <p:spPr>
          <a:xfrm>
            <a:off x="822960" y="4114800"/>
            <a:ext cx="10545775" cy="594360"/>
          </a:xfrm>
          <a:prstGeom prst="rect">
            <a:avLst/>
          </a:prstGeom>
          <a:noFill/>
          <a:ln/>
        </p:spPr>
        <p:txBody>
          <a:bodyPr wrap="square" rtlCol="0" anchor="ctr"/>
          <a:lstStyle/>
          <a:p>
            <a:pPr indent="0" marL="0">
              <a:buNone/>
            </a:pPr>
            <a:r>
              <a:rPr lang="en-US" sz="1550" b="1" dirty="0">
                <a:solidFill>
                  <a:srgbClr val="FFFFFF"/>
                </a:solidFill>
                <a:latin typeface="Helvetica" pitchFamily="34" charset="0"/>
                <a:ea typeface="Helvetica" pitchFamily="34" charset="-122"/>
                <a:cs typeface="Helvetica" pitchFamily="34" charset="-120"/>
              </a:rPr>
              <a:t>Authenticated User → Conversation → Message → Controlled LLM Service → Response → Persisted Conversation</a:t>
            </a:r>
            <a:endParaRPr lang="en-US" sz="1550" dirty="0"/>
          </a:p>
        </p:txBody>
      </p:sp>
      <p:sp>
        <p:nvSpPr>
          <p:cNvPr id="11" name="Text 9"/>
          <p:cNvSpPr/>
          <p:nvPr/>
        </p:nvSpPr>
        <p:spPr>
          <a:xfrm>
            <a:off x="548640" y="5074920"/>
            <a:ext cx="11094415" cy="548640"/>
          </a:xfrm>
          <a:prstGeom prst="rect">
            <a:avLst/>
          </a:prstGeom>
          <a:noFill/>
          <a:ln/>
        </p:spPr>
        <p:txBody>
          <a:bodyPr wrap="square" rtlCol="0" anchor="t"/>
          <a:lstStyle/>
          <a:p>
            <a:pPr indent="0" marL="0">
              <a:buNone/>
            </a:pPr>
            <a:r>
              <a:rPr lang="en-US" sz="1250" i="1" dirty="0">
                <a:solidFill>
                  <a:srgbClr val="C7D0DE"/>
                </a:solidFill>
                <a:latin typeface="Helvetica" pitchFamily="34" charset="0"/>
                <a:ea typeface="Helvetica" pitchFamily="34" charset="-122"/>
                <a:cs typeface="Helvetica" pitchFamily="34" charset="-120"/>
              </a:rPr>
              <a:t>This preserves the incremental strategy established in the previous mentor report and creates a reliable base for memory, RAG, agents and eventual production deployment.</a:t>
            </a:r>
            <a:endParaRPr lang="en-US" sz="1250" dirty="0"/>
          </a:p>
        </p:txBody>
      </p:sp>
      <p:sp>
        <p:nvSpPr>
          <p:cNvPr id="12" name="Text 10"/>
          <p:cNvSpPr/>
          <p:nvPr/>
        </p:nvSpPr>
        <p:spPr>
          <a:xfrm>
            <a:off x="548640" y="6492240"/>
            <a:ext cx="6400800" cy="274320"/>
          </a:xfrm>
          <a:prstGeom prst="rect">
            <a:avLst/>
          </a:prstGeom>
          <a:noFill/>
          <a:ln/>
        </p:spPr>
        <p:txBody>
          <a:bodyPr wrap="square" rtlCol="0" anchor="ctr"/>
          <a:lstStyle/>
          <a:p>
            <a:pPr indent="0" marL="0">
              <a:buNone/>
            </a:pPr>
            <a:r>
              <a:rPr lang="en-US" sz="900" dirty="0">
                <a:solidFill>
                  <a:srgbClr val="5A6472"/>
                </a:solidFill>
                <a:latin typeface="Courier New" pitchFamily="34" charset="0"/>
                <a:ea typeface="Courier New" pitchFamily="34" charset="-122"/>
                <a:cs typeface="Courier New" pitchFamily="34" charset="-120"/>
              </a:rPr>
              <a:t>ai-concierge / BACKEND_AUTH_TESTING_PROGRESS.md</a:t>
            </a:r>
            <a:endParaRPr lang="en-US" sz="900" dirty="0"/>
          </a:p>
        </p:txBody>
      </p:sp>
      <p:sp>
        <p:nvSpPr>
          <p:cNvPr id="13" name="Text 11"/>
          <p:cNvSpPr/>
          <p:nvPr/>
        </p:nvSpPr>
        <p:spPr>
          <a:xfrm>
            <a:off x="10728655" y="6492240"/>
            <a:ext cx="914400" cy="274320"/>
          </a:xfrm>
          <a:prstGeom prst="rect">
            <a:avLst/>
          </a:prstGeom>
          <a:noFill/>
          <a:ln/>
        </p:spPr>
        <p:txBody>
          <a:bodyPr wrap="square" rtlCol="0" anchor="ctr"/>
          <a:lstStyle/>
          <a:p>
            <a:pPr algn="r" indent="0" marL="0">
              <a:buNone/>
            </a:pPr>
            <a:r>
              <a:rPr lang="en-US" sz="900" dirty="0">
                <a:solidFill>
                  <a:srgbClr val="5A6472"/>
                </a:solidFill>
                <a:latin typeface="Courier New" pitchFamily="34" charset="0"/>
                <a:ea typeface="Courier New" pitchFamily="34" charset="-122"/>
                <a:cs typeface="Courier New"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2026-09-02T10:31:14Z</dcterms:created>
  <dcterms:modified xsi:type="dcterms:W3CDTF">2026-09-02T10:31:14Z</dcterms:modified>
</cp:coreProperties>
</file>